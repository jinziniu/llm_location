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f5f8b8e38c4d24" /><Relationship Type="http://schemas.openxmlformats.org/officeDocument/2006/relationships/extended-properties" Target="/docProps/app.xml" Id="R3bee022fed4646f9" /><Relationship Type="http://schemas.openxmlformats.org/officeDocument/2006/relationships/officeDocument" Target="/ppt/presentation.xml" Id="R7fa6b1c28abe41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32dd6177c74f87"/>
  </p:sldMasterIdLst>
  <p:notesMasterIdLst>
    <p:notesMasterId xmlns:r="http://schemas.openxmlformats.org/officeDocument/2006/relationships" r:id="Ra0fae3014ea24d73"/>
  </p:notesMasterIdLst>
  <p:sldIdLst>
    <p:sldId xmlns:r="http://schemas.openxmlformats.org/officeDocument/2006/relationships" id="256" r:id="Rdfbca674f9d543ce"/>
    <p:sldId xmlns:r="http://schemas.openxmlformats.org/officeDocument/2006/relationships" id="257" r:id="R93da5f738b914da4"/>
    <p:sldId xmlns:r="http://schemas.openxmlformats.org/officeDocument/2006/relationships" id="258" r:id="R01d4e32c1ba24072"/>
    <p:sldId xmlns:r="http://schemas.openxmlformats.org/officeDocument/2006/relationships" id="259" r:id="Rcdb8fd24e979481c"/>
    <p:sldId xmlns:r="http://schemas.openxmlformats.org/officeDocument/2006/relationships" id="260" r:id="R9bd8566c511d45e8"/>
    <p:sldId xmlns:r="http://schemas.openxmlformats.org/officeDocument/2006/relationships" id="261" r:id="Rd0784e8a15014128"/>
    <p:sldId xmlns:r="http://schemas.openxmlformats.org/officeDocument/2006/relationships" id="262" r:id="R6951d2980e5947f6"/>
    <p:sldId xmlns:r="http://schemas.openxmlformats.org/officeDocument/2006/relationships" id="263" r:id="R6f0cc2bb36d74e94"/>
    <p:sldId xmlns:r="http://schemas.openxmlformats.org/officeDocument/2006/relationships" id="264" r:id="R271cb7319a6149c4"/>
    <p:sldId xmlns:r="http://schemas.openxmlformats.org/officeDocument/2006/relationships" id="265" r:id="Rc91a96f9c113490d"/>
    <p:sldId xmlns:r="http://schemas.openxmlformats.org/officeDocument/2006/relationships" id="266" r:id="R2722655c50a74d03"/>
    <p:sldId xmlns:r="http://schemas.openxmlformats.org/officeDocument/2006/relationships" id="267" r:id="R9ae1b97a48b74ccd"/>
    <p:sldId xmlns:r="http://schemas.openxmlformats.org/officeDocument/2006/relationships" id="268" r:id="R479fc1a4a3704657"/>
    <p:sldId xmlns:r="http://schemas.openxmlformats.org/officeDocument/2006/relationships" id="269" r:id="R1b4e680904504e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2dd6177c74f87" /><Relationship Type="http://schemas.openxmlformats.org/officeDocument/2006/relationships/theme" Target="/ppt/theme/theme1.xml" Id="R57a176a081444e40" /><Relationship Type="http://schemas.openxmlformats.org/officeDocument/2006/relationships/notesMaster" Target="/ppt/notesMasters/notesMaster1.xml" Id="Ra0fae3014ea24d73" /><Relationship Type="http://schemas.openxmlformats.org/officeDocument/2006/relationships/presProps" Target="/ppt/presProps.xml" Id="R951a88a7e00846ff" /><Relationship Type="http://schemas.openxmlformats.org/officeDocument/2006/relationships/viewProps" Target="/ppt/viewProps.xml" Id="Rde12fa836c0c40d6" /><Relationship Type="http://schemas.openxmlformats.org/officeDocument/2006/relationships/tableStyles" Target="/ppt/tableStyles.xml" Id="R4058aa09cb824d76" /><Relationship Type="http://schemas.openxmlformats.org/officeDocument/2006/relationships/slide" Target="/ppt/slides/slide1.xml" Id="Rdfbca674f9d543ce" /><Relationship Type="http://schemas.openxmlformats.org/officeDocument/2006/relationships/slide" Target="/ppt/slides/slide2.xml" Id="R93da5f738b914da4" /><Relationship Type="http://schemas.openxmlformats.org/officeDocument/2006/relationships/slide" Target="/ppt/slides/slide3.xml" Id="R01d4e32c1ba24072" /><Relationship Type="http://schemas.openxmlformats.org/officeDocument/2006/relationships/slide" Target="/ppt/slides/slide4.xml" Id="Rcdb8fd24e979481c" /><Relationship Type="http://schemas.openxmlformats.org/officeDocument/2006/relationships/slide" Target="/ppt/slides/slide5.xml" Id="R9bd8566c511d45e8" /><Relationship Type="http://schemas.openxmlformats.org/officeDocument/2006/relationships/slide" Target="/ppt/slides/slide6.xml" Id="Rd0784e8a15014128" /><Relationship Type="http://schemas.openxmlformats.org/officeDocument/2006/relationships/slide" Target="/ppt/slides/slide7.xml" Id="R6951d2980e5947f6" /><Relationship Type="http://schemas.openxmlformats.org/officeDocument/2006/relationships/slide" Target="/ppt/slides/slide8.xml" Id="R6f0cc2bb36d74e94" /><Relationship Type="http://schemas.openxmlformats.org/officeDocument/2006/relationships/slide" Target="/ppt/slides/slide9.xml" Id="R271cb7319a6149c4" /><Relationship Type="http://schemas.openxmlformats.org/officeDocument/2006/relationships/slide" Target="/ppt/slides/slide10.xml" Id="Rc91a96f9c113490d" /><Relationship Type="http://schemas.openxmlformats.org/officeDocument/2006/relationships/slide" Target="/ppt/slides/slide11.xml" Id="R2722655c50a74d03" /><Relationship Type="http://schemas.openxmlformats.org/officeDocument/2006/relationships/slide" Target="/ppt/slides/slide12.xml" Id="R9ae1b97a48b74ccd" /><Relationship Type="http://schemas.openxmlformats.org/officeDocument/2006/relationships/slide" Target="/ppt/slides/slide13.xml" Id="R479fc1a4a3704657" /><Relationship Type="http://schemas.openxmlformats.org/officeDocument/2006/relationships/slide" Target="/ppt/slides/slide14.xml" Id="R1b4e680904504e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883c86aa6fd44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e843bc6d564be8" /><Relationship Type="http://schemas.openxmlformats.org/officeDocument/2006/relationships/notesMaster" Target="/ppt/notesMasters/notesMaster1.xml" Id="Rc353c06b67564e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052fe072bf4071" /><Relationship Type="http://schemas.openxmlformats.org/officeDocument/2006/relationships/notesMaster" Target="/ppt/notesMasters/notesMaster1.xml" Id="Rd7cef1aeff474d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bfb65a1ca046b5" /><Relationship Type="http://schemas.openxmlformats.org/officeDocument/2006/relationships/notesMaster" Target="/ppt/notesMasters/notesMaster1.xml" Id="R8260d67887a54d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e6c6aa1ed74c5c" /><Relationship Type="http://schemas.openxmlformats.org/officeDocument/2006/relationships/notesMaster" Target="/ppt/notesMasters/notesMaster1.xml" Id="R007e627d87d546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de8bfc07544134" /><Relationship Type="http://schemas.openxmlformats.org/officeDocument/2006/relationships/notesMaster" Target="/ppt/notesMasters/notesMaster1.xml" Id="R4a136b04ba8f48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a526ab8b5b4ca2" /><Relationship Type="http://schemas.openxmlformats.org/officeDocument/2006/relationships/notesMaster" Target="/ppt/notesMasters/notesMaster1.xml" Id="R2080a3a66f5c47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50ee0d80e04228" /><Relationship Type="http://schemas.openxmlformats.org/officeDocument/2006/relationships/notesMaster" Target="/ppt/notesMasters/notesMaster1.xml" Id="Ref984d8644f044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ad2baec9ca4182" /><Relationship Type="http://schemas.openxmlformats.org/officeDocument/2006/relationships/notesMaster" Target="/ppt/notesMasters/notesMaster1.xml" Id="R3d6399bce55143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ad0f3a80270436b" /><Relationship Type="http://schemas.openxmlformats.org/officeDocument/2006/relationships/notesMaster" Target="/ppt/notesMasters/notesMaster1.xml" Id="Rce7cd8b775774f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8dbc57b7d54c43" /><Relationship Type="http://schemas.openxmlformats.org/officeDocument/2006/relationships/notesMaster" Target="/ppt/notesMasters/notesMaster1.xml" Id="R80618e17158545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45b20cff4e4e41" /><Relationship Type="http://schemas.openxmlformats.org/officeDocument/2006/relationships/notesMaster" Target="/ppt/notesMasters/notesMaster1.xml" Id="Rb6f90395802c44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2f1e83afe54c00" /><Relationship Type="http://schemas.openxmlformats.org/officeDocument/2006/relationships/notesMaster" Target="/ppt/notesMasters/notesMaster1.xml" Id="R14ba2dba6e6645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ad60dec4e24d77" /><Relationship Type="http://schemas.openxmlformats.org/officeDocument/2006/relationships/notesMaster" Target="/ppt/notesMasters/notesMaster1.xml" Id="R1314e5fa570b4a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5de235c82bd4b58" /><Relationship Type="http://schemas.openxmlformats.org/officeDocument/2006/relationships/notesMaster" Target="/ppt/notesMasters/notesMaster1.xml" Id="R7b31dbd4860645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d8fc2b48f4e3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a6febec958941bc" /><Relationship Type="http://schemas.openxmlformats.org/officeDocument/2006/relationships/slideLayout" Target="/ppt/slideLayouts/slideLayout2.xml" Id="R5f574a4c291b4b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574a4c291b4b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8acf447f774725" /><Relationship Type="http://schemas.openxmlformats.org/officeDocument/2006/relationships/notesSlide" Target="/ppt/notesSlides/notesSlide1.xml" Id="R7a39666e339c48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f7ceb2bf364241" /><Relationship Type="http://schemas.openxmlformats.org/officeDocument/2006/relationships/notesSlide" Target="/ppt/notesSlides/notesSlide2.xml" Id="R10379b43f6f740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cac8b811e64cad" /><Relationship Type="http://schemas.openxmlformats.org/officeDocument/2006/relationships/notesSlide" Target="/ppt/notesSlides/notesSlide3.xml" Id="Rf63881b71e774a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676f1cb6c9499a" /><Relationship Type="http://schemas.openxmlformats.org/officeDocument/2006/relationships/notesSlide" Target="/ppt/notesSlides/notesSlide4.xml" Id="R776b580f313040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c4aeed7aca42b2" /><Relationship Type="http://schemas.openxmlformats.org/officeDocument/2006/relationships/notesSlide" Target="/ppt/notesSlides/notesSlide5.xml" Id="R84cad020ebbf42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1bca31bac74290" /><Relationship Type="http://schemas.openxmlformats.org/officeDocument/2006/relationships/notesSlide" Target="/ppt/notesSlides/notesSlide6.xml" Id="Rba284c64d6eb4e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7b6916b3414b9c" /><Relationship Type="http://schemas.openxmlformats.org/officeDocument/2006/relationships/notesSlide" Target="/ppt/notesSlides/notesSlide7.xml" Id="Rc124e61eecf94b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ad010602534d3d" /><Relationship Type="http://schemas.openxmlformats.org/officeDocument/2006/relationships/notesSlide" Target="/ppt/notesSlides/notesSlide8.xml" Id="R796a247ad0fb4a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dff12f07d349f1" /><Relationship Type="http://schemas.openxmlformats.org/officeDocument/2006/relationships/notesSlide" Target="/ppt/notesSlides/notesSlide9.xml" Id="R8bee65f9518a4d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c4a2cde8d945aa" /><Relationship Type="http://schemas.openxmlformats.org/officeDocument/2006/relationships/notesSlide" Target="/ppt/notesSlides/notesSlide10.xml" Id="R9329971c5a884f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a2a881b1084628" /><Relationship Type="http://schemas.openxmlformats.org/officeDocument/2006/relationships/notesSlide" Target="/ppt/notesSlides/notesSlide11.xml" Id="R5e1544d3eb0f47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f1ddbdc05e4448" /><Relationship Type="http://schemas.openxmlformats.org/officeDocument/2006/relationships/notesSlide" Target="/ppt/notesSlides/notesSlide12.xml" Id="R478e3948395747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ebb427351a4398" /><Relationship Type="http://schemas.openxmlformats.org/officeDocument/2006/relationships/notesSlide" Target="/ppt/notesSlides/notesSlide13.xml" Id="R1152ff4c48124b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42853f1b384a8c" /><Relationship Type="http://schemas.openxmlformats.org/officeDocument/2006/relationships/notesSlide" Target="/ppt/notesSlides/notesSlide14.xml" Id="Rf53d5c69f51148a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566D31-2B95-4C9B-B899-FAC11FAB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9572E1D4-EA74-4A1C-B26C-B4630D5E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4A22091A-2CEE-4C2E-B97E-B57FCE98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E2DD"/>
                </a:solidFill>
                <a:latin typeface="Aptos"/>
                <a:ea typeface="Aptos"/>
                <a:cs typeface="Aptos"/>
              </a:rPr>
              <a:t>15-MINUTE DEFENSE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B5CB8-1689-4326-A3E4-CB70D446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71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DE5E0"/>
                </a:solidFill>
                <a:latin typeface="Aptos"/>
                <a:ea typeface="Aptos"/>
                <a:cs typeface="Aptos"/>
              </a:rPr>
              <a:t>A Literature Study on Large Language Models for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ECD2D-02CE-433A-8C92-A5141491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Software Testing and Fault Localization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45A7D-670F-48CA-972A-FF34600E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Ziniu Jin | VU-UvA MSc Computer Science | Literature 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2853D8-F063-45DB-A17A-C244AEB1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2F701-C22D-4953-89EF-8F3D432A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7EC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E7ECE8"/>
                </a:solidFill>
                <a:latin typeface="Aptos"/>
                <a:ea typeface="Aptos"/>
                <a:cs typeface="Aptos"/>
              </a:rPr>
              <a:t>Main focus today: not only what the papers say, but how the literature was searched, screened, and synthesized.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5C495-C441-4132-85AB-BAEA1C8C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2850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204115-9197-406C-8D63-5C4E69B1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5E0"/>
                </a:solidFill>
                <a:latin typeface="Aptos"/>
                <a:ea typeface="Aptos"/>
                <a:cs typeface="Aptos"/>
              </a:rPr>
              <a:t>primary studies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E1088-562D-4EE1-9258-1A6A8A47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AA"/>
                </a:solidFill>
                <a:latin typeface="Aptos"/>
                <a:ea typeface="Aptos"/>
                <a:cs typeface="Aptos"/>
              </a:rPr>
              <a:t>Selected through search, criteria, and snowballing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68C97-48EA-4CE8-BF4A-E213EBED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10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2850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DB910-2717-4623-8AC3-BC7015A2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314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5E0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063BB-DBAD-4B04-A3F2-FC35B618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97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AA"/>
                </a:solidFill>
                <a:latin typeface="Aptos"/>
                <a:ea typeface="Aptos"/>
                <a:cs typeface="Aptos"/>
              </a:rPr>
              <a:t>Used to structure extraction and synthesis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55559-F4A2-4F17-993D-B7CEC7AF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10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2850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F5434-2EB6-4263-926F-A554723A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3149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DE5E0"/>
                </a:solidFill>
                <a:latin typeface="Aptos"/>
                <a:ea typeface="Aptos"/>
                <a:cs typeface="Aptos"/>
              </a:rPr>
              <a:t>research gaps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54E38E-A0A4-4FF5-A15F-ECDA5D18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6197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FB0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FB0AA"/>
                </a:solidFill>
                <a:latin typeface="Aptos"/>
                <a:ea typeface="Aptos"/>
                <a:cs typeface="Aptos"/>
              </a:rPr>
              <a:t>Leading to a real-repository thesis direction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09BC5-EF0D-4D58-860B-90E42622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943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May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1A8AC-C995-406F-96BB-07311035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Source: literature study PDF, /Users/jin/llm_location/ls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6DEB4-AE63-44C7-AA09-882D1909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9893216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DD54C4-9D0C-437F-96F0-9E18D891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409E293F-0F4A-46BC-90A6-DCE13989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528DCF47-98AE-4AFD-9BC9-3DD4265A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0FF45-AA11-475C-8820-2C892BFE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Modern testing failures are context-dependent, so the review needs a systematic scope.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69108-D601-4B51-B2F9-E1750A07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literature is spread across flaky tests, UI repair, fault localization, vulnerability detection, and testing agents.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148E1-4EF8-44E1-849E-A7CF566F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C5855-4A19-41B3-91B1-84DBBE03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2F5A4A-023B-4264-8B53-EFC72262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Flaky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24086-E9A3-4314-BEDF-02F2684A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async, concurrency, shared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A26A8-495B-4ED2-AA4B-F8CE30AC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1D2A2-3BC1-464B-86DF-71D54409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EBEF3-B32B-466F-95EA-1AE4540A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72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UI fragility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624D2-B6AD-431A-948E-2D8DBF35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76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DOM, locators, timing, sessions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7F9E8-FB62-47F3-97A3-F61D997C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71CEB-4B15-4557-93E0-A42C5971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345ED-65EB-4F66-A659-928D47B6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LLM methods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7E6A2-08A1-4E78-9D41-EC830C99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71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fine-tuning, prompting, agents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61A3C-B6B1-44E0-8C2F-A4E73503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624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E5DB3-47C2-46B1-AE68-C9527B7C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624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4E3E43-0D4E-4808-B622-EB2DD168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72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Real systems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66423-8FC4-4494-AEB3-849DE689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76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CI/CD, IoT, microservices, repos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D7BD5A-7DD3-4557-9287-0E0ABBA1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004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666584-884E-48B4-BB2D-4B4C8D4E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0045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A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681043-C2F7-49F6-A0D3-9F277888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10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Fault localization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CF1D39-6769-4B93-BE82-C321B5F4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from coverage ranking to context reasoning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927037-AF46-49CB-8653-A7E541DB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57850"/>
            <a:ext cx="647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The search process had to cover both testing problems and LLM-based solutions.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326A40-FAAB-49A5-93AE-213CC8E3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4B7B14-1A19-4B5B-9862-E5AE7C94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43188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70F30B-6ED9-469C-AC19-D15A4B9C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071BC7E5-240D-497F-A77D-F47D5A22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BCB3CC51-035D-4CDB-BCBB-95F32CA3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SEARCH 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E990B-E92D-4527-ABC0-959B6422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38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The search was built from databases, keyword families, and Boolean combinations.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7BFA4-F7C7-46C5-850C-3D94787B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This is the part to emphasize: the corpus was not chosen randomly; it followed an explicit search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3D453-AC98-4563-BAF4-1B8FDC40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1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6E6EB-CAF7-42CF-A146-F39BF4B2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24789-B1E9-4AB5-BF50-28ABAF51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D953C-F85C-488C-A1E5-AAC101BD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2076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IEEE Xplore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ACM Digital Library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Google Scholar as supplement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3FC3F-1D4F-458F-A930-DC2D0045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26479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2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38018B-AB5C-4239-8E29-617FFD17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52750"/>
            <a:ext cx="2647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AF90F-0DAA-4FF9-BC94-1298CAFA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2343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Keyword families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0B1E5-8F55-43A8-9FDF-F6BD4AAC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86150"/>
            <a:ext cx="2343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software testing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flaky test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fault localization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vulnerability detection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UI testing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large language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0542B-0D3F-4628-BBD7-115F1414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2895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C8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033E3-713A-417D-8BAB-588DE142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2895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F47C05-529C-4C34-A0A4-B487194B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432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Boolean logic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72070-4DC4-4DEC-88A6-E6FD8CC9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486150"/>
            <a:ext cx="2590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(testing OR automation) AND LLM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flaky test AND LLM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fault localization AND LLM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security testing AND LLM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1BCE5-4CD4-4956-874B-CC0D6BF1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E9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DE356-A82E-4175-972A-8AE52579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527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7E1464-0F79-43F5-924C-336D8198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4325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Scope restriction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8EC0D-446E-4884-966F-EAC6C7CB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486150"/>
            <a:ext cx="1504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peer-reviewed papers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journal, conference, workshop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English publications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software testing relevance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6AD9DF-4A38-494A-84C6-3C5170A4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7FF4C4-4ADA-43FA-B938-D2B4F560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911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Speaking 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1059AB-410F-477D-BAC1-8F240881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53050"/>
            <a:ext cx="685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 used broad search terms first, then refined the corpus using relevance, method detail, and evaluation evidence.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0E54F4-692B-4543-A345-75C44F41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9DBA7-1842-4988-80C2-C8C6452D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761654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FFDBF8-3DB0-4755-85A5-06BCF638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EED7295D-C6D2-4C58-8FAA-FFCDB41B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17241F5C-F31C-4D9D-BB41-B71164D5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SCREENING CRITERIA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8C59A-C8FC-48B3-B30B-7CDE9D25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Selection criteria made the review reproducible and defensible.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FE7AA-8258-489F-8947-D80EFFF6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paper uses explicit inclusion and exclusion rules before synthesizing the final 25 studies.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378CF-BC49-4BAD-AAF7-38E3276A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857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179BB-41DF-4E72-BF27-4C2F91AF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85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56EE9-1C27-4C9E-B6B0-0F89B921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Included when the study...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EDF32-8AFA-403C-BE45-E3F0B22F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4095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1. is peer-reviewed</a:t>
            </a:r>
          </a:p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2. studies testing, defect analysis, FL, vulnerability detection, UI testing, or automation</a:t>
            </a:r>
          </a:p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3. proposes detection, analysis, localization, or repair method</a:t>
            </a:r>
          </a:p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4. describes LLM usage and evaluation when LLM-based</a:t>
            </a:r>
          </a:p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5. has enough method detail for comparison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76A0A-34F4-47F4-8401-F09289F2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14650"/>
            <a:ext cx="4857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65AFE-0D0E-4EC0-831A-CF110D4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14650"/>
            <a:ext cx="4857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A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96BADC-2CC0-4905-99C0-C3EF17F6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004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Excluded when the study...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2E7FE-8E05-4791-86D0-129102CE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95700"/>
            <a:ext cx="4095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1. is non-peer-reviewed</a:t>
            </a:r>
          </a:p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2. is only indirectly related to testing</a:t>
            </a:r>
          </a:p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3. is purely conceptual without empirical validation</a:t>
            </a:r>
          </a:p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4. duplicates a more complete or recent study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E03EC-83D6-43A3-BBB2-32314BDA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72150"/>
            <a:ext cx="868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Important nuance: Glasswing/Mythos is discussed later as grey literature, not counted as one of the 25 primary studies.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45E625-AC13-4CB3-B511-1395B3A1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FB86D-E3C6-408C-97DE-BF42DBCA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47958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66C10A-0B70-444C-8A34-3C14C832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4017E4E1-56F3-4B23-9696-2B185244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36B0DA04-AA1F-453D-A2A7-BDBF5978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SNOWBALLING AND SELECTION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6F024-AEC1-410C-BC1E-9A57A8B3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Snowballing expanded the search beyond the initial seed papers.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E57B1-648B-470F-AC5F-15921A16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Backward snowballing checks references; forward snowballing checks newer papers that cite the seed studies.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8AF36-8097-4997-982C-63A3892F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809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7E4F3-8FE0-4668-A7BE-FCB67171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26B34-73AF-4ADB-BDBD-A37F5AA1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Initial 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55EE9-B187-477D-8CFE-3D08B297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9 included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F12A1-23EA-4A5B-980A-4B2A8700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candidate count missing in draft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EAEAF-B965-4C4A-AC9D-4FFD33D7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004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A2B8B-83DE-44BF-9271-72DFC080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67050"/>
            <a:ext cx="1809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F1922F-13F0-4AA4-8890-B0BDFC27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670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337BC-9675-425A-ADA1-ADCCB2F7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27660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Backward snowballing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11238E-D486-4F2D-BA7D-7BAB19BE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7338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18 candidates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3CE32-F177-4786-8A15-A7F8AE32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1148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8 included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D92AF-E38C-4FAB-9CE2-A25FC963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6004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C2B02-CD0E-4A09-A833-4FBDA643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67050"/>
            <a:ext cx="1809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1202E0-FF3F-48E9-A429-D78FC46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670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BD338-C6A7-4FCB-812F-3E741D80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7660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Forward snowballing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55FB9-2664-485D-B0B9-11363959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338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7 candidates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276BBE-026E-4505-9E49-9787FAA7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1148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3 included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20A710-256A-44D2-AA56-70E94345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004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31AE7-6C93-4E3D-8E58-DBBBBCC5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67050"/>
            <a:ext cx="1809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CEF4F4-534D-460D-AF2E-D6770F5A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670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F09268-30F1-4E7A-A142-F93C63C7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27660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Extended venue search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5B1963-8919-4305-B768-008FCB5F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7338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C5B7B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6C5B7B"/>
                </a:solidFill>
                <a:latin typeface="Aptos Mono"/>
                <a:ea typeface="Aptos Mono"/>
                <a:cs typeface="Aptos Mono"/>
              </a:rPr>
              <a:t>5 candidates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568903-82B8-462D-BF4B-05BD60BB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1148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5 included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D3E8CD-ECCE-49FA-9C60-3A1C26B5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004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90B170-10D9-4A22-9032-85FAE2DF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1809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D9080F-2D4C-4801-A0CA-445D8FF0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670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A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ED0F90-9997-4D41-A697-6E1010AF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76600"/>
            <a:ext cx="1504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Final corpus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F0364F-C2B0-4A8D-895D-C31D1AF6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338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44A3F"/>
                </a:solidFill>
                <a:latin typeface="Aptos Mono"/>
                <a:ea typeface="Aptos Mono"/>
                <a:cs typeface="Aptos Mono"/>
              </a:defRPr>
            </a:pPr>
            <a:r>
              <a:rPr sz="1875" b="1">
                <a:solidFill>
                  <a:srgbClr val="A44A3F"/>
                </a:solidFill>
                <a:latin typeface="Aptos Mono"/>
                <a:ea typeface="Aptos Mono"/>
                <a:cs typeface="Aptos Mono"/>
              </a:rPr>
              <a:t>25 studies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F5E2F2-B2CE-4C00-A76E-7B557BD9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148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used for RQ synthesis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75B5A3-240D-43D4-A6DB-80DB28FD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971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93A8D1-23F8-47F1-ACBC-CF91DEB2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149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Methodology improvement to mention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277C38-2172-488F-A1E4-5723C1C5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27685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In the final written version, I should report the initial candidate count to improve reproducibility.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8F583D-F904-4AB7-9505-265E7BFB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DF814D-664E-43C9-B1F1-F4CE503E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3153619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0D3513-360B-42D5-A577-2864F778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D6830388-8C3A-468D-9137-BAE34EAE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EAF99F5C-89BE-43A5-B519-89AAC882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DATA EXTRACTION AND SYNTHESIS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3B46B-5492-410F-9F3C-7C3999EE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The five research questions guided what was extracted from each study.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A44CC-D4F9-4EF9-AF81-E4B67A31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This turns the paper list into a structured comparison, instead of a paper-by-paper summary.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651B2-167C-4E76-B84A-994E10A2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1885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BD2CC-67D1-47EF-89DA-E194EF53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RQ1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CF382-380B-4195-81AC-25DED595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Challenges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E9644-AC04-4368-8B15-89644914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76AE7-B1F9-4E28-B093-29001C55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root causes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system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42DB7-07E0-4FAA-9500-D5C4F3E8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71800"/>
            <a:ext cx="1885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7A249-F4FB-422A-B699-F1ECE341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813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RQ2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061CE-535F-4873-87F2-47EE6920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004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Approaches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7539AA-450B-4245-A7A9-CFAB284F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24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E1E0CE-9CFD-4ABD-8312-637E3AC9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719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detection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localization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32380-42FA-4FE6-BEC4-E2E81D8F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71800"/>
            <a:ext cx="1885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0F732-57F8-4917-9B2A-FBC538B3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813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RQ3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C39E8-E2B9-4DC1-8A20-2B3070DE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004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LLM 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DCDD41-FAA8-4DA3-8BEF-F21EDC80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624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76B797-013E-4B72-A803-5E1FE258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719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fine-tuning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few-shot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prompting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FE41EF-5DCD-4723-B824-93AD67BE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71800"/>
            <a:ext cx="1885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5A64C-FBD0-46C3-AA8D-2700E164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6C5B7B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6C5B7B"/>
                </a:solidFill>
                <a:latin typeface="Aptos Mono"/>
                <a:ea typeface="Aptos Mono"/>
                <a:cs typeface="Aptos Mono"/>
              </a:rPr>
              <a:t>RQ4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E79A9B-1463-4634-8919-A9BBFAFB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004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BB22F9-AAA4-4D6F-8799-A33DBCDC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A3E88D-DC44-49C2-AFF1-58E4FFD6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datasets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metrics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baselines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CE691-FEE5-44F9-9F0F-E8A9C9E9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71800"/>
            <a:ext cx="18859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AEF3DD-B4AE-4EB3-9F7D-2AE1FE6A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81350"/>
            <a:ext cx="59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44A3F"/>
                </a:solidFill>
                <a:latin typeface="Aptos Mono"/>
                <a:ea typeface="Aptos Mono"/>
                <a:cs typeface="Aptos Mono"/>
              </a:defRPr>
            </a:pPr>
            <a:r>
              <a:rPr sz="1950" b="1">
                <a:solidFill>
                  <a:srgbClr val="A44A3F"/>
                </a:solidFill>
                <a:latin typeface="Aptos Mono"/>
                <a:ea typeface="Aptos Mono"/>
                <a:cs typeface="Aptos Mono"/>
              </a:rPr>
              <a:t>RQ5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6A3703-C1A7-41D1-B75F-C649276F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004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Practice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31A6D9-1CB6-40BB-ACCC-74405636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6240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A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F64F71-0A16-42A0-A13B-F067B83A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719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CI/CD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IoT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microservices</a:t>
            </a:r>
          </a:p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real repos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38FD8B-0135-4B3B-A105-3310CEE6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895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This is the bridge from search method to findings: every paper is coded against the same questions.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C358D9-0FFB-4451-A3CA-7BBAC9A1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868178-13C9-4333-8E40-EC800880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778011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DE39F9-6F38-4D8A-95EE-216C2EDB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7F411B9D-B51F-4E7E-8E66-02FC328A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900065B3-C096-4FEB-970A-0E51050F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RQ1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1084C6-5AFA-4A7B-AB5B-9A842D64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Testing challenges are ecosystem-specific rather than universal.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8D06A8-1CCF-4DDA-89D7-379FA9D9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same testing term can hide different root causes across JavaScript, UI, microservice, and IoT settings.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90BA3-1A07-49C3-85EF-3212240A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2400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3282E-8ABB-4EAF-A74C-860CBFC7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BB762-3E3A-4DCB-B442-5CDFC3F7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Flaky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78635-3E5D-4282-801C-EE6629E6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2700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55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BD7E7-0624-45FE-94B1-1DF1E1F4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order-dependent JS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E888FA-CC2A-4BE6-AEFC-76B20DEE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42 caused by shared mocking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97235-F38D-4591-ACB2-7A485695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2400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ED756-FD80-4434-8210-122A85D0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B2D2A-6ACC-4655-82EE-DFBAEEE2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432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UI fragility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82E43-F07A-4CF2-B47B-B0ECEFE4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623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2700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1,065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A8F117-5EA5-4A79-B63C-7A7288A0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38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breakages across 8 web systems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57397-053E-4656-A523-17C9FFBE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00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DOM locators and timing dominate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6A8F2-98CF-4B8A-ACAF-6DC4138C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2400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9EFDA-AC84-4064-A919-A0E4286A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BAE6E-9AE3-4F4C-AE5A-E29AD23D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IoT platforms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92EBD6-9F08-4BF5-BE47-FEA882AF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623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C5B7B"/>
                </a:solidFill>
                <a:latin typeface="Aptos Mono"/>
                <a:ea typeface="Aptos Mono"/>
                <a:cs typeface="Aptos Mono"/>
              </a:defRPr>
            </a:pPr>
            <a:r>
              <a:rPr sz="2700" b="1">
                <a:solidFill>
                  <a:srgbClr val="6C5B7B"/>
                </a:solidFill>
                <a:latin typeface="Aptos Mono"/>
                <a:ea typeface="Aptos Mono"/>
                <a:cs typeface="Aptos Mono"/>
              </a:rPr>
              <a:t>65%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445C8A-A8BB-4D79-94D0-0883BD8A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38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HomeAssistant add-ons below 0.5 test ratio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4CCD0-62E5-43E1-8152-25B57DAA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00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device and firmware constraints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7D20F-21BC-40B2-B848-92FAD69B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14650"/>
            <a:ext cx="24003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49978-CEA8-4620-9707-CA8CE436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14650"/>
            <a:ext cx="2400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4F69B6-3428-433C-831A-CB58F35B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432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Microservices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071505-5135-4095-9874-5737006A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623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2700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2-sided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C5D181-EF28-4C00-81B1-DDA71B56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386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technical and organizational causes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4D8417-1E23-49DC-91AC-A24C926D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00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contracts, messages, ownership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EE2CDF-A92F-45DB-B592-EA9C656D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435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Implication: fault localization needs repository context, not only code snippets.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109118-AB9F-484B-80B1-C0849400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0791DC-B19B-4B58-9DC9-C1344575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277566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A20C2E-8FB5-47E0-810B-F6513545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4E8AC907-6617-4B4C-812C-02691D6A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E7CDA976-EAD3-407B-B09F-C05CE819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RQ2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ABDE7-5DFF-49E7-A52E-50538A45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Detection approaches move from coverage ranking toward code and context reasoning.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2B925-6987-4175-A190-3035E1AB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Traditional methods are interpretable but test-dependent; LLM methods reduce that dependency but need stronger validation.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6AA1B-F803-4A63-B55F-F9A33776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05225"/>
            <a:ext cx="998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8081B-2084-4922-9DCC-04DD3953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09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28575">
            <a:solidFill>
              <a:srgbClr val="F8F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0D13A-0EB3-4FDA-9C72-179C314D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Tarantula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D5417-9162-424F-B482-5CDD75AA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pass/fail coverage</a:t>
            </a:r>
          </a:p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visual suspiciousness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D2334-70E2-4AFE-A7D4-CB207779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352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33F5A-C090-4950-A6C1-75C1A7EF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15C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15C8B"/>
                </a:solidFill>
                <a:latin typeface="Aptos"/>
                <a:ea typeface="Aptos"/>
                <a:cs typeface="Aptos"/>
              </a:rPr>
              <a:t>Execution-based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02273-5C22-4EF4-9DD2-C8EFADD5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09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28575">
            <a:solidFill>
              <a:srgbClr val="F8F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8A1C7-6C27-480D-A1A8-A97E81BA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956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Ochiai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6323F-8B81-4262-819F-0105B3B0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813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&gt;80% code exonerated</a:t>
            </a:r>
          </a:p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on average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8185B-A583-4A7F-A106-4E04A529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48125"/>
            <a:ext cx="1352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CAA881-3204-42C7-9211-6CA02E9F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48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F6F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5B"/>
                </a:solidFill>
                <a:latin typeface="Aptos"/>
                <a:ea typeface="Aptos"/>
                <a:cs typeface="Aptos"/>
              </a:rPr>
              <a:t>Execution-based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5326F-A467-482F-A414-58FED17E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09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28575">
            <a:solidFill>
              <a:srgbClr val="F8F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8FD14-C279-4885-A998-A826B5A6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956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Compiler filters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DF7AE-C172-4832-A15C-5B5941A3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813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TOP50 +67.4%</a:t>
            </a:r>
          </a:p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for DStar2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1CCC92-7F59-4626-B4BC-9C3441C6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48125"/>
            <a:ext cx="1352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C47D0-57DF-468A-AC35-3230C17C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48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07A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07A2D"/>
                </a:solidFill>
                <a:latin typeface="Aptos"/>
                <a:ea typeface="Aptos"/>
                <a:cs typeface="Aptos"/>
              </a:rPr>
              <a:t>Execution-based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998E1-F23B-41A9-B33C-453B2C5E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09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28575">
            <a:solidFill>
              <a:srgbClr val="F8F4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9BD6EA-77B2-4867-8FED-5D1EAE3C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LLM FL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113AC1-B32C-4E31-8E04-3A370ADD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813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UniXcoder Top-1</a:t>
            </a:r>
          </a:p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50.6%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18489E-37E9-4C4C-81AB-275AFD73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48125"/>
            <a:ext cx="1352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17DF41-6DFC-42B9-AD2A-56010798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48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C5B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5B7B"/>
                </a:solidFill>
                <a:latin typeface="Aptos"/>
                <a:ea typeface="Aptos"/>
                <a:cs typeface="Aptos"/>
              </a:rPr>
              <a:t>Model-based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C68CE8-D4E8-419E-8DF9-E278D639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609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44A3F"/>
          </a:solidFill>
          <a:ln xmlns:a="http://schemas.openxmlformats.org/drawingml/2006/main" w="28575">
            <a:solidFill>
              <a:srgbClr val="F8F4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96F3B4-87C9-4C23-AB13-D1BB4627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95600"/>
            <a:ext cx="1733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Test-free FL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975402-32C2-4AC3-9B08-D465714F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81350"/>
            <a:ext cx="1733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source-only</a:t>
            </a:r>
          </a:p>
          <a:p xmlns:a="http://schemas.openxmlformats.org/drawingml/2006/main">
            <a:pPr algn="ct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suspiciousness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F0B124-68AF-42C3-8853-BACCDBD0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48125"/>
            <a:ext cx="1352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8DDFB0-FD2C-4ACB-A061-0E8E8C54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481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44A3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44A3F"/>
                </a:solidFill>
                <a:latin typeface="Aptos"/>
                <a:ea typeface="Aptos"/>
                <a:cs typeface="Aptos"/>
              </a:rPr>
              <a:t>Model-based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FF8EDC-D2CF-40F4-A127-B061D006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102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Methodological takeaway: less execution evidence means context design becomes more important.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CF8391-E34F-47A1-88B8-996FA68C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981DA7-006E-4F7E-BCA3-07D1C2C2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393950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B5B3F5-4643-4200-AD9F-F43B64DD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726CFF1F-9195-4232-83A3-96248D2A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08247C8C-B959-4C9A-A36F-71B2C57E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RQ3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D4B45-1B6C-494E-932C-502B527D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81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LLM design choices trade data cost against workflow autonomy.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3E593-5C19-4391-A04E-066C2CBC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corpus uses fine-tuning, few-shot learning, prompt engineering, and agents; each has a different practical burden.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68FBF-FF89-4484-9899-5373FB5D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05250"/>
            <a:ext cx="781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77875-2E27-439F-A982-46069AE9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190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BC160-5715-4F88-A7C7-E6D71A69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00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Lower data 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3F87D-619C-4BF4-B45E-43F0B785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00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Higher data cost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AA91D4-937B-4EB0-A979-1813B04C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Higher workflow</a:t>
            </a:r>
          </a:p>
          <a:p xmlns:a="http://schemas.openxmlformats.org/drawingml/2006/main"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autonomy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D4A57-D804-4813-881B-D8EBCC20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238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Lower workflow</a:t>
            </a:r>
          </a:p>
          <a:p xmlns:a="http://schemas.openxmlformats.org/drawingml/2006/main">
            <a:pPr algn="r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autonomy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38967-7E9A-40AE-B703-14C4D532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85104-AE69-4D71-B007-386098DB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EFCE7-8D2E-4BC1-87C4-82237B17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813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Testing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26120-C344-4439-AE2E-5615CD5F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4805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plan, run, observe, revise</a:t>
            </a:r>
          </a:p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needs tool integration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1AE7A-8258-4291-A785-A84C6B2E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2F877-7F16-446C-A2A3-3C2C1691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1FB61-3D75-4D8A-B1E8-F162F14D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813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Fine-tuning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A201D-AF7F-4219-85F3-F339D81C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4805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best when task data exists</a:t>
            </a:r>
          </a:p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benchmark-heavy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6F5BA-7CB2-4DD6-B941-728CF68D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910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3ADC1-54EE-4DFB-8D3D-A1616658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910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9C2A02-1CDE-4C7B-AC0E-2C7F90D8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243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Prompt engineering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F39A80-3408-4AE1-B6C7-F5F4A11B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9105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fast adaptation</a:t>
            </a:r>
          </a:p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sensitive to prompt/context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326683-9120-48EB-8549-75EC5171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2571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2C69F2-207F-435C-A7D7-3BDAC2DE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D4C639-AC1C-4557-AD0D-9D0BE558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24350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Few-shot learning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9E8067-9DC9-4C61-9C2D-F36CA723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9105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useful when labels are scarce</a:t>
            </a:r>
          </a:p>
          <a:p xmlns:a="http://schemas.openxmlformats.org/drawingml/2006/main">
            <a:pPr algn="l">
              <a:defRPr sz="90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competitive at lower cost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747CA3-C92B-4787-9111-0E8EB57B8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721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For thesis work, model choice is less important than controlling context, repository state, and validation mode.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81427B-CA3D-420A-A888-298E8A0D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9087AE-8058-47C4-8CB8-19F00426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718308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4BDFF0-5F40-4C53-9B94-81693032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0C37507C-81A1-4515-89C6-0801DFFF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09AACDD1-082C-4BC3-8530-09E1C25D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RQ4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BD216-25F3-4EE0-B652-51C2E72B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Evaluation remains concentrated in benchmarks and isolated tasks.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33215-4F46-448B-A925-DD5CEBCD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Benchmarks are useful for comparison, but they do not fully capture real repository workflows.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17D8D-BB64-48F8-B5BC-04129F02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Fault localization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B7A88-63BE-4D5C-9CB4-4D5F08B8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956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Defects4J, Space, Siemens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A7898-67DA-47E6-BCDB-911D090D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24175"/>
            <a:ext cx="3067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20B27-FD08-468F-B911-34EF3B57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24175"/>
            <a:ext cx="2576322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37F42-11F7-4EB7-92FA-47017BD0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95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Top-k, diagnostic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F5134-491C-406B-9967-E99CE1EF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Flaky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4AA49-017D-4567-85D6-6FFFC18D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433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IDoFT, FlakyCat, GitHub projects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1E929-7FE2-465B-A211-FE6CBDE3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71875"/>
            <a:ext cx="3067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E4DBA-EC9C-4B3F-829F-E3BF4ABE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71875"/>
            <a:ext cx="208559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32EEB-0FF5-4645-83B8-B4547FA6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433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F1, repair quality, detected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B7967-9479-421C-B09E-432B5B0D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Vulnerability detection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9FC98-A5A1-44FB-805A-09D554FF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910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OWASP, Juliet, CVEFixes, PrimeVul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A533D-4696-4A7E-AABE-B331FBCD5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19575"/>
            <a:ext cx="3067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16049-2219-4708-8DDB-4FC3E00B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219575"/>
            <a:ext cx="220827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A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3864B-2B05-4EF8-B137-66EE5B27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910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Accuracy, F1, class-wise results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DC1F8F-4EA2-4F16-816E-912073D0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UI test repair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20B7BC-C353-41CF-9C9F-4A2489E3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38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139 broken Selenium statements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73464C-7D8F-4A5B-8F7B-32CEC538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67275"/>
            <a:ext cx="3067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85FBE3-5588-415A-A3E9-9FEA29F5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67275"/>
            <a:ext cx="1656207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28DF4C-E27E-4799-B2FE-833B8E52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8387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matching accuracy, repair success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D182E-CFEF-45CE-9FF8-641DB37F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19700"/>
            <a:ext cx="4057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AB283B-441E-4738-BCC9-44A2063D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391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Missing evidence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13BF29-F6BD-4645-9647-D96A524F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6578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DE5E0"/>
                </a:solidFill>
                <a:latin typeface="Aptos"/>
                <a:ea typeface="Aptos"/>
                <a:cs typeface="Aptos"/>
              </a:rPr>
              <a:t>real bug reports + source context + repo history + verified fixing commits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015224-F78B-46FA-B5DA-85BAE48F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E06555-5F14-4381-BF02-D6D488AD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441708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27036A-FC05-44BF-B9DE-87408D55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C929EC72-8C53-477C-8F9E-D988E536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72FCBC28-7C0D-46D0-9F45-C33A84B8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RQ5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77C96-D195-42FE-A586-0476DE02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382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Practical deployment depends on repository workflow, not just model reasoning.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16337-232D-456F-8415-A78E616C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In real projects, the method must collect context, run or understand tests, and validate the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B2D00-BEA1-4076-9EEE-E34CD8D1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805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A2D53-3C90-4524-BA89-F97953BB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450"/>
            <a:ext cx="805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01EB3-C6B6-4040-814B-5BBF93DF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337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Bug report / failure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67C56-F567-4D5E-836E-D6B796A2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3370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natural language, logs, failing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4A629-2B13-400B-A7CA-ED570B3B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90900"/>
            <a:ext cx="7410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F7965-E761-46C8-890D-2105FDB1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90900"/>
            <a:ext cx="7410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D0C07-0379-4D90-B6A3-C0A9A450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4861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Repository checkout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CD89B-A204-4525-84F2-69660FF5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correct commit, dependencies, local config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8836E-3DFD-45B8-86A5-0EFBCC87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676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02EE3D-E5D1-4F13-BB31-3333D8D1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43350"/>
            <a:ext cx="676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0EF43-EFB2-49D4-88E2-CEC8F8C4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386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Build and test execution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20C56E-D65E-4000-8B37-FD578965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03860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install, compile, run, observe failures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8D6BB-6AC5-4BB5-B903-59D05462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95800"/>
            <a:ext cx="611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3CCCDE-6870-4871-85FE-5E0187B3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495800"/>
            <a:ext cx="6115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7D782-60BF-40E3-85F5-0B307345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910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Context selection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F4B0F-ED44-48BA-9B1D-A78527BE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910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files, stack traces, issue history, prior fixes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45A119-A42D-4D3F-8E13-F899110D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48250"/>
            <a:ext cx="546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6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598C14-FF0E-41B0-942E-88550F46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048250"/>
            <a:ext cx="5467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A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1F9CE8-48E2-46A9-8AFC-22AD0F2C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435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Localization and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C30036-61B1-4D3B-BA3C-A9A5F56E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4350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rank suspicious files/methods, verify by fix commit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133AFB-B1F0-478D-889B-BC3B6E05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76550"/>
            <a:ext cx="16573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D0B42-9EA6-4CD1-81D2-2861D63E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861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Key shift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1798C7-17DC-4F1D-B619-A51254F0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29000"/>
            <a:ext cx="1219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5E0"/>
                </a:solidFill>
                <a:latin typeface="Aptos"/>
                <a:ea typeface="Aptos"/>
                <a:cs typeface="Aptos"/>
              </a:rPr>
              <a:t>from code-only prediction to repository-level workflow evaluation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0AD31A-5E33-4C3C-97E4-8698B33C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148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This makes the thesis contribution testable.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9D96B-430A-447B-AC6F-E1076824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F23E90-D3D0-4F08-B56B-CB775213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8980508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BC97C9-14AB-4EE1-9C9A-A6C4EE67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B52C914E-A624-41E5-88C2-A41690CC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6F575F39-2650-444F-B0E3-518608CC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E2D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E2DD"/>
                </a:solidFill>
                <a:latin typeface="Aptos"/>
                <a:ea typeface="Aptos"/>
                <a:cs typeface="Aptos"/>
              </a:rPr>
              <a:t>PRACTICAL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42C1B-B0B1-463A-A17B-16A09123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Glasswing suggests an agent-plus-verifier pattern, but not yet for ordinary bugs.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F5FFA-D7DA-40E2-9C04-4DBDADD1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I treat Glasswing/Mythos as grey literature: useful for practical framing, but not counted as a peer-reviewed primary study.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E967E-FA10-4833-9DE6-F7AC529B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2419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A"/>
          </a:solidFill>
          <a:ln xmlns:a="http://schemas.openxmlformats.org/drawingml/2006/main" w="9525">
            <a:solidFill>
              <a:srgbClr val="5664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2DBE8-A522-46D2-80AE-8983657C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43300"/>
            <a:ext cx="196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 repository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A1598-6266-43D7-8685-B91D5B39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source code + runtime container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EDEB7-69C6-4E3F-97AB-F7FDB7DE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0997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CE6BE2-6322-4D09-9D04-9D5E47C6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76600"/>
            <a:ext cx="2514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A"/>
          </a:solidFill>
          <a:ln xmlns:a="http://schemas.openxmlformats.org/drawingml/2006/main" w="9525">
            <a:solidFill>
              <a:srgbClr val="566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86F30-E130-40F2-A5D4-2746A44E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433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Discovery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81AB8-0FD9-4FB3-8718-6115DD7D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8481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read, hypothesize, run,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27926-CFE7-49AE-B5D4-B5619137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997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7477A-8C3E-4701-A450-82612F92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76600"/>
            <a:ext cx="2514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A"/>
          </a:solidFill>
          <a:ln xmlns:a="http://schemas.openxmlformats.org/drawingml/2006/main" w="9525">
            <a:solidFill>
              <a:srgbClr val="5664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9D0F3B-4EBE-471E-96CF-26297333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43300"/>
            <a:ext cx="205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Independent verifier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10D66-DBAD-4157-8962-F12083FB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48100"/>
            <a:ext cx="2057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7C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7C2"/>
                </a:solidFill>
                <a:latin typeface="Aptos"/>
                <a:ea typeface="Aptos"/>
                <a:cs typeface="Aptos"/>
              </a:rPr>
              <a:t>check impact and reproducibility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664D9D-AF3D-41B4-A0BC-8F816E40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09975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1800" b="0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EAA8F-F537-437B-ACF2-BA260FC1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76600"/>
            <a:ext cx="11239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F25"/>
          </a:solidFill>
          <a:ln xmlns:a="http://schemas.openxmlformats.org/drawingml/2006/main" w="9525">
            <a:solidFill>
              <a:srgbClr val="C07A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00F11-5711-4E96-B636-5006C585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54330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D6F737-C122-4DFD-96F9-F49EA847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848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EBD8B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EBD8B8"/>
                </a:solidFill>
                <a:latin typeface="Aptos"/>
                <a:ea typeface="Aptos"/>
                <a:cs typeface="Aptos"/>
              </a:rPr>
              <a:t>PoC + steps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DCA94-E37A-4E55-9F7B-297688DD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6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E592BC-730B-4A4A-AA8D-F53E9BFA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197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translation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5D49C-D98B-49FA-ABBB-A20FBD97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5E0"/>
                </a:solidFill>
                <a:latin typeface="Aptos"/>
                <a:ea typeface="Aptos"/>
                <a:cs typeface="Aptos"/>
              </a:rPr>
              <a:t>Apply the pattern to application-level fault localization: business logic errors, state bugs, API misuse, and data processing failures.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0E3EE-033A-4405-9BEC-684D83E8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Industry reference: Anthropic Glasswing/Mythos, discussed as grey literature in the PDF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D2DF21-AB55-40DD-AD3E-5C81972E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790440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21FD14-AA8B-42EB-AB6B-25A8B999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09D29398-DE9D-464E-B9CC-A64AE9E7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A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6A88EE2C-8806-4AAC-A579-3CE4664C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3BD17-1E4E-4A21-B880-FF4DF342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90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Three gaps converge on real-repository LLM fault localization.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80830-A719-4D2F-A5DA-28D8C578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search method matters because these gaps are synthesized across different literature streams.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E8714-FC01-4E7E-8931-A105C45F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1076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76C94-100E-4856-BEB0-CA026D02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17BC8-BFAA-4CE4-A1E5-748A558B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48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Description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C7861-C4C7-4180-BC91-D94ABF25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48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 for 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7406C-344A-4591-9424-D37B6298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1076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85B1C-944F-479E-9F20-F524E3CC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D479A-CB22-4123-8E99-8636ACF7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C8B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315C8B"/>
                </a:solidFill>
                <a:latin typeface="Aptos Mono"/>
                <a:ea typeface="Aptos Mono"/>
                <a:cs typeface="Aptos Mono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FE0F51-0106-4D83-B709-843AA6E2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242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LLM-based fault localization lacks real repository-level validation.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11E6F-8DC9-4206-A7CF-7D1F4E4F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242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Build evidence beyond Defects4J-style benchmark settings.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DC7EA-E130-4972-A488-A2A4D739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1076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5D7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26A2D-0F93-45FF-95D5-1465F9C8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385D0-CD25-4E39-91BF-49E3DC8C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4340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6F5B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1F6F5B"/>
                </a:solidFill>
                <a:latin typeface="Aptos Mono"/>
                <a:ea typeface="Aptos Mono"/>
                <a:cs typeface="Aptos Mono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9681F6-F79C-4DAF-B44A-4F39B5DB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0530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Agentic scaffolds have not been sufficiently applied to ordinary application-level bugs.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63045B-8972-40D7-823C-D5887FCC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0530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Test whether agent workflows transfer beyond security vulnerabilities.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A2A860-5E6C-4EE3-9C43-6C49E7C3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76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E0142D-E5A0-40CB-82FA-118AC614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70282D-A5D7-4D14-8D85-A91A2254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57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07A2D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C07A2D"/>
                </a:solidFill>
                <a:latin typeface="Aptos Mono"/>
                <a:ea typeface="Aptos Mono"/>
                <a:cs typeface="Aptos Mono"/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C8C3EF-2C8B-4645-B10E-1F3CEE8B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86350"/>
            <a:ext cx="4095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F2328"/>
                </a:solidFill>
                <a:latin typeface="Aptos"/>
                <a:ea typeface="Aptos"/>
                <a:cs typeface="Aptos"/>
              </a:rPr>
              <a:t>Effects of context level and independent verification remain unclear.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4465A-FDBD-4080-9757-3745D54A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863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Compare prompts and verification modes under controlled conditions.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AD5A4D-9CCC-48E6-BC3D-62C93062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960B44-7914-493E-AF6F-FEE88CBA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704256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3EE1DB-9661-41C4-B15C-BC978F3A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36D6161A-2C12-4A4C-85FB-484175CB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202E68AA-1B59-46F5-9E58-8D096D60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"/>
            <a:ext cx="533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D625F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46FAA-97DD-4A81-AF47-085DF383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09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F2328"/>
                </a:solidFill>
                <a:latin typeface="Aptos Display"/>
                <a:ea typeface="Aptos Display"/>
                <a:cs typeface="Aptos Display"/>
              </a:rPr>
              <a:t>A focused thesis can test context and verification in real repositories.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8110F-0834-4E57-834C-ECABD16B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The literature search leads to a concrete experiment, not only a general research interest.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8A4B7-C544-4EA6-A2C5-99CC44CE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1E168-F411-42B8-9210-24398E29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A87A3-2AF1-4676-833D-3939F1A9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E8FED-C849-4812-9072-33EC6E56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real bug reports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buggy snapshots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fixing commits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D3DFD-355D-4C9E-AC12-ACB58D80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5814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1A05D-B68A-4B7A-8E41-C84BB94D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51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F4464-54F3-4606-A927-F64C2E07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1051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5C426-1132-48CE-BE17-51D875C7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33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B1855-A037-4298-B0B8-1D2FF0C7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576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report only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+ stack/logs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+ code snippets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+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72B2DC-0DBB-43B4-91C3-F85CEB4D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5814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E9B049-3298-4EE0-AA03-6715216E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1AE802-A757-410E-A09E-F1BD38C6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7A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81097-1E6C-4FAF-AED4-BDDD6CD5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33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LLM /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70938E-BEAC-400F-91D1-FC1F1091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576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rank files or methods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explain evidence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optionally 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598CE-16D7-4E47-AAA2-335FC592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330AD-245E-46C6-8F7D-4582563C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1051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41F9B8-975F-4CBF-88F1-AABB19E4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1051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D97D25-FB45-4A52-8973-56C27848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33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C3475-4D42-4C70-9378-E3403321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6576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Top-k hit rate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MRR / recall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ablation by 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F888BA-F73F-4DAC-A252-299548FC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814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72053B-7C66-4B0F-8E7D-43B50E1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05150"/>
            <a:ext cx="1752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B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086B6A-51B8-48C9-9FB0-71FC42BD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051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4A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3FD10F-D533-497C-97F0-385BD28C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33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32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328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01968D-5BD6-4F89-B754-42A45300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5760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which context works</a:t>
            </a:r>
          </a:p>
          <a:p xmlns:a="http://schemas.openxmlformats.org/drawingml/2006/main">
            <a:pPr algn="l">
              <a:defRPr sz="975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when verification helps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CA88E8-3E46-4DC2-A0DB-5FAE9E9D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05400"/>
            <a:ext cx="8686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C4FC1A-E848-4C9A-8169-8EB130CE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959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Closing claim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61590B-5F67-4CBD-A92D-969DE8CF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5780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5E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5E0"/>
                </a:solidFill>
                <a:latin typeface="Aptos"/>
                <a:ea typeface="Aptos"/>
                <a:cs typeface="Aptos"/>
              </a:rPr>
              <a:t>The literature supports the thesis problem: LLM testing needs repository-grounded evaluation, not only stronger prompts.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F540A4-18C9-4399-827F-247C1B32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0579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1F6F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F5B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1D971E-7537-48B1-B0BD-6822C781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29375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2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D625F"/>
                </a:solidFill>
                <a:latin typeface="Aptos"/>
                <a:ea typeface="Aptos"/>
                <a:cs typeface="Aptos"/>
              </a:rPr>
              <a:t>Literature study defense | LLMs for software testing and fault localization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0A3C05-FE37-4745-A89A-DF27624D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D625F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72559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2026-05-29T21:23:50.8240000Z</dcterms:created>
  <dcterms:modified xsi:type="dcterms:W3CDTF">2026-05-29T21:23:50.8240000Z</dcterms:modified>
</coreProperties>
</file>