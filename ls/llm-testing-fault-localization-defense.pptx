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80"/>
  </p:normalViewPr>
  <p:slideViewPr>
    <p:cSldViewPr snapToGrid="0">
      <p:cViewPr varScale="1">
        <p:scale>
          <a:sx n="14" d="100"/>
          <a:sy n="14" d="100"/>
        </p:scale>
        <p:origin x="176" y="2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8E5A702-E041-43DC-9102-AF3BA7E6EE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0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5F9902A3-17A2-4351-96CC-0D17115653AE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96CF5454-DF5F-4298-BA53-D77F16FDB6A1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DD"/>
                </a:solidFill>
                <a:latin typeface="Aptos"/>
                <a:ea typeface="Aptos"/>
                <a:cs typeface="Aptos"/>
              </a:rPr>
              <a:t>15-MINUTE DEFENSE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FE02B0-41B2-486A-B1CB-63B166099DD1}"/>
              </a:ext>
            </a:extLst>
          </p:cNvPr>
          <p:cNvSpPr>
            <a:spLocks noGrp="1"/>
          </p:cNvSpPr>
          <p:nvPr/>
        </p:nvSpPr>
        <p:spPr>
          <a:xfrm>
            <a:off x="533400" y="990600"/>
            <a:ext cx="971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A Literature Study on Large Language Models for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343C63-90A4-4F86-9B64-452EBDD2A431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10096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 Testing and Fault Localization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5DA7FC-0997-49B7-903F-AC47A607321B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Ziniu Jin | VU-UvA MSc Computer Science | Literature Study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A3740C-334C-45CB-B729-AB3D94765B26}"/>
              </a:ext>
            </a:extLst>
          </p:cNvPr>
          <p:cNvSpPr>
            <a:spLocks noGrp="1"/>
          </p:cNvSpPr>
          <p:nvPr/>
        </p:nvSpPr>
        <p:spPr>
          <a:xfrm>
            <a:off x="552450" y="3219450"/>
            <a:ext cx="6572250" cy="9525"/>
          </a:xfrm>
          <a:prstGeom prst="rect">
            <a:avLst/>
          </a:prstGeom>
          <a:solidFill>
            <a:srgbClr val="5664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4B234D-D252-4036-9C99-84EA904E0978}"/>
              </a:ext>
            </a:extLst>
          </p:cNvPr>
          <p:cNvSpPr>
            <a:spLocks noGrp="1"/>
          </p:cNvSpPr>
          <p:nvPr/>
        </p:nvSpPr>
        <p:spPr>
          <a:xfrm>
            <a:off x="571500" y="3467100"/>
            <a:ext cx="7239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7EC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CE8"/>
                </a:solidFill>
                <a:latin typeface="Aptos"/>
                <a:ea typeface="Aptos"/>
                <a:cs typeface="Aptos"/>
              </a:rPr>
              <a:t>Thesis direction: move from benchmark-based LLM testing results toward real-repository fault localization with controlled context and verification.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258236-8137-4493-8A1A-C7A8DF36024D}"/>
              </a:ext>
            </a:extLst>
          </p:cNvPr>
          <p:cNvSpPr>
            <a:spLocks noGrp="1"/>
          </p:cNvSpPr>
          <p:nvPr/>
        </p:nvSpPr>
        <p:spPr>
          <a:xfrm>
            <a:off x="571500" y="481012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851394-9E2C-47C8-9B35-7A47879BB13B}"/>
              </a:ext>
            </a:extLst>
          </p:cNvPr>
          <p:cNvSpPr>
            <a:spLocks noGrp="1"/>
          </p:cNvSpPr>
          <p:nvPr/>
        </p:nvSpPr>
        <p:spPr>
          <a:xfrm>
            <a:off x="571500" y="5314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primary studies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8EBC1-F286-45C6-9C95-8E56FA25CAFC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Testing, FL, vulnerability detection, repair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2B32CA-1904-4634-9770-E833F288987B}"/>
              </a:ext>
            </a:extLst>
          </p:cNvPr>
          <p:cNvSpPr>
            <a:spLocks noGrp="1"/>
          </p:cNvSpPr>
          <p:nvPr/>
        </p:nvSpPr>
        <p:spPr>
          <a:xfrm>
            <a:off x="3143250" y="481012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167803-A521-49FF-9ABC-2B9D528C2C88}"/>
              </a:ext>
            </a:extLst>
          </p:cNvPr>
          <p:cNvSpPr>
            <a:spLocks noGrp="1"/>
          </p:cNvSpPr>
          <p:nvPr/>
        </p:nvSpPr>
        <p:spPr>
          <a:xfrm>
            <a:off x="3143250" y="5314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2A558D-2777-4DEC-82AF-D9AA957D45A5}"/>
              </a:ext>
            </a:extLst>
          </p:cNvPr>
          <p:cNvSpPr>
            <a:spLocks noGrp="1"/>
          </p:cNvSpPr>
          <p:nvPr/>
        </p:nvSpPr>
        <p:spPr>
          <a:xfrm>
            <a:off x="3143250" y="561975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Challenges, methods, LLM use, evaluation, context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F283E5-97E2-4DFB-84A9-E847FA31BF09}"/>
              </a:ext>
            </a:extLst>
          </p:cNvPr>
          <p:cNvSpPr>
            <a:spLocks noGrp="1"/>
          </p:cNvSpPr>
          <p:nvPr/>
        </p:nvSpPr>
        <p:spPr>
          <a:xfrm>
            <a:off x="6000750" y="481012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89082C-E6F5-47BD-8964-AE386F182955}"/>
              </a:ext>
            </a:extLst>
          </p:cNvPr>
          <p:cNvSpPr>
            <a:spLocks noGrp="1"/>
          </p:cNvSpPr>
          <p:nvPr/>
        </p:nvSpPr>
        <p:spPr>
          <a:xfrm>
            <a:off x="6000750" y="5314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research gaps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7DF013-DE1F-4800-A75D-6674EFC262BE}"/>
              </a:ext>
            </a:extLst>
          </p:cNvPr>
          <p:cNvSpPr>
            <a:spLocks noGrp="1"/>
          </p:cNvSpPr>
          <p:nvPr/>
        </p:nvSpPr>
        <p:spPr>
          <a:xfrm>
            <a:off x="6000750" y="561975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Real repos, agents, context and verification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633EA4-6C48-4EBB-A45A-A4FA752C900F}"/>
              </a:ext>
            </a:extLst>
          </p:cNvPr>
          <p:cNvSpPr>
            <a:spLocks noGrp="1"/>
          </p:cNvSpPr>
          <p:nvPr/>
        </p:nvSpPr>
        <p:spPr>
          <a:xfrm>
            <a:off x="10096500" y="5943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C7F0EF4-9C04-46BB-8BB7-C52016156477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literature study PDF, /Users/jin/llm_location/ls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55D528-00FD-4FED-B448-FD8E562BB049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895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395B9A7-B13C-4AD1-9251-CAC9932BDF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67121F67-0F4D-4060-A8EA-259F573354DA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64EF5034-6915-4572-9AF9-E6052B5A56A6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4B867B-5FC2-43C9-99BC-8403607C7487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334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Modern testing failures are no longer just pass/fail signals.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372426-4A9D-4083-980E-E969A30B281F}"/>
              </a:ext>
            </a:extLst>
          </p:cNvPr>
          <p:cNvSpPr>
            <a:spLocks noGrp="1"/>
          </p:cNvSpPr>
          <p:nvPr/>
        </p:nvSpPr>
        <p:spPr>
          <a:xfrm>
            <a:off x="552450" y="18478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literature shows that failures often arise from execution context, state, architecture, and toolchains before a model ever reasons about code.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B6E54F-BBFF-4949-868C-20BE165AE996}"/>
              </a:ext>
            </a:extLst>
          </p:cNvPr>
          <p:cNvSpPr>
            <a:spLocks noGrp="1"/>
          </p:cNvSpPr>
          <p:nvPr/>
        </p:nvSpPr>
        <p:spPr>
          <a:xfrm>
            <a:off x="4619625" y="3076575"/>
            <a:ext cx="2952750" cy="89535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F83693-0B9A-42FA-9B52-07E69757FDEA}"/>
              </a:ext>
            </a:extLst>
          </p:cNvPr>
          <p:cNvSpPr>
            <a:spLocks noGrp="1"/>
          </p:cNvSpPr>
          <p:nvPr/>
        </p:nvSpPr>
        <p:spPr>
          <a:xfrm>
            <a:off x="4857750" y="32575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Noisy testing signal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FEBCE9-ED64-4B16-865F-1423E8EB73E7}"/>
              </a:ext>
            </a:extLst>
          </p:cNvPr>
          <p:cNvSpPr>
            <a:spLocks noGrp="1"/>
          </p:cNvSpPr>
          <p:nvPr/>
        </p:nvSpPr>
        <p:spPr>
          <a:xfrm>
            <a:off x="5000625" y="3590925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9DE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ED8"/>
                </a:solidFill>
                <a:latin typeface="Aptos"/>
                <a:ea typeface="Aptos"/>
                <a:cs typeface="Aptos"/>
              </a:rPr>
              <a:t>what failed, where, and why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3BA26F-DF70-4CEE-9B3E-669F82ECAC28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2857500" cy="99060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5710E9-EE95-4FB2-B72F-5C899D743764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2857500" cy="47625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BD6780-7B3D-401F-AA1F-FC4332572A14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71FDC7-1DD2-4542-BF0F-E6939406F8D8}"/>
              </a:ext>
            </a:extLst>
          </p:cNvPr>
          <p:cNvSpPr>
            <a:spLocks noGrp="1"/>
          </p:cNvSpPr>
          <p:nvPr/>
        </p:nvSpPr>
        <p:spPr>
          <a:xfrm>
            <a:off x="1104900" y="3276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async, concurrency, shared state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B4EFF6-5DBA-4526-BB07-E0D81BFED99C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857500" cy="990600"/>
          </a:xfrm>
          <a:prstGeom prst="rect">
            <a:avLst/>
          </a:prstGeom>
          <a:solidFill>
            <a:srgbClr val="DEE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5A9316-7ACF-4654-8527-312D9EC0638D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857500" cy="47625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06E9BE-BB83-43B7-92EC-7F00CFAEFE2C}"/>
              </a:ext>
            </a:extLst>
          </p:cNvPr>
          <p:cNvSpPr>
            <a:spLocks noGrp="1"/>
          </p:cNvSpPr>
          <p:nvPr/>
        </p:nvSpPr>
        <p:spPr>
          <a:xfrm>
            <a:off x="1104900" y="4572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fragility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E7A4E4-A2ED-4C88-B983-EE67AF6E43B3}"/>
              </a:ext>
            </a:extLst>
          </p:cNvPr>
          <p:cNvSpPr>
            <a:spLocks noGrp="1"/>
          </p:cNvSpPr>
          <p:nvPr/>
        </p:nvSpPr>
        <p:spPr>
          <a:xfrm>
            <a:off x="1104900" y="48958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DOM, locators, timing, sessions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2905FF-84BA-40BE-8B33-99D2D24AD063}"/>
              </a:ext>
            </a:extLst>
          </p:cNvPr>
          <p:cNvSpPr>
            <a:spLocks noGrp="1"/>
          </p:cNvSpPr>
          <p:nvPr/>
        </p:nvSpPr>
        <p:spPr>
          <a:xfrm>
            <a:off x="8362950" y="2743200"/>
            <a:ext cx="2857500" cy="990600"/>
          </a:xfrm>
          <a:prstGeom prst="rect">
            <a:avLst/>
          </a:prstGeom>
          <a:solidFill>
            <a:srgbClr val="F1E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8BBF0E-60FA-478C-9190-E3A1F28B3B4A}"/>
              </a:ext>
            </a:extLst>
          </p:cNvPr>
          <p:cNvSpPr>
            <a:spLocks noGrp="1"/>
          </p:cNvSpPr>
          <p:nvPr/>
        </p:nvSpPr>
        <p:spPr>
          <a:xfrm>
            <a:off x="8362950" y="2743200"/>
            <a:ext cx="2857500" cy="47625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4520B8-39E9-4667-AA6F-652BBCE00161}"/>
              </a:ext>
            </a:extLst>
          </p:cNvPr>
          <p:cNvSpPr>
            <a:spLocks noGrp="1"/>
          </p:cNvSpPr>
          <p:nvPr/>
        </p:nvSpPr>
        <p:spPr>
          <a:xfrm>
            <a:off x="8553450" y="2952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Microservices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93D199-752A-4F1F-86D2-71C5143153BE}"/>
              </a:ext>
            </a:extLst>
          </p:cNvPr>
          <p:cNvSpPr>
            <a:spLocks noGrp="1"/>
          </p:cNvSpPr>
          <p:nvPr/>
        </p:nvSpPr>
        <p:spPr>
          <a:xfrm>
            <a:off x="8553450" y="3276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API contracts, ownership, messages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A74C7E-BC4C-4882-87C4-3F1A2F40E14E}"/>
              </a:ext>
            </a:extLst>
          </p:cNvPr>
          <p:cNvSpPr>
            <a:spLocks noGrp="1"/>
          </p:cNvSpPr>
          <p:nvPr/>
        </p:nvSpPr>
        <p:spPr>
          <a:xfrm>
            <a:off x="8362950" y="4362450"/>
            <a:ext cx="2857500" cy="990600"/>
          </a:xfrm>
          <a:prstGeom prst="rect">
            <a:avLst/>
          </a:prstGeom>
          <a:solidFill>
            <a:srgbClr val="E5D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BB33E3-54D9-4CD2-9771-BBD1FEFFE023}"/>
              </a:ext>
            </a:extLst>
          </p:cNvPr>
          <p:cNvSpPr>
            <a:spLocks noGrp="1"/>
          </p:cNvSpPr>
          <p:nvPr/>
        </p:nvSpPr>
        <p:spPr>
          <a:xfrm>
            <a:off x="8362950" y="4362450"/>
            <a:ext cx="2857500" cy="47625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7E610F-A6A5-4A1E-93E7-3FDD62951CD7}"/>
              </a:ext>
            </a:extLst>
          </p:cNvPr>
          <p:cNvSpPr>
            <a:spLocks noGrp="1"/>
          </p:cNvSpPr>
          <p:nvPr/>
        </p:nvSpPr>
        <p:spPr>
          <a:xfrm>
            <a:off x="8553450" y="4572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IoT systems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5C0FDB-7F22-42A2-90AB-372DB5A7C220}"/>
              </a:ext>
            </a:extLst>
          </p:cNvPr>
          <p:cNvSpPr>
            <a:spLocks noGrp="1"/>
          </p:cNvSpPr>
          <p:nvPr/>
        </p:nvSpPr>
        <p:spPr>
          <a:xfrm>
            <a:off x="8553450" y="48958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devices, firmware, low-power modes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84E7DD9-7C7C-4A2B-8B15-DC04723CD855}"/>
              </a:ext>
            </a:extLst>
          </p:cNvPr>
          <p:cNvSpPr>
            <a:spLocks noGrp="1"/>
          </p:cNvSpPr>
          <p:nvPr/>
        </p:nvSpPr>
        <p:spPr>
          <a:xfrm>
            <a:off x="3771900" y="3238500"/>
            <a:ext cx="838200" cy="19050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36ABB7-1AD8-4F8F-BED5-446B6EF26497}"/>
              </a:ext>
            </a:extLst>
          </p:cNvPr>
          <p:cNvSpPr>
            <a:spLocks noGrp="1"/>
          </p:cNvSpPr>
          <p:nvPr/>
        </p:nvSpPr>
        <p:spPr>
          <a:xfrm>
            <a:off x="3771900" y="4857750"/>
            <a:ext cx="838200" cy="19050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17D4260-FB22-4C67-8B50-B84B990116A0}"/>
              </a:ext>
            </a:extLst>
          </p:cNvPr>
          <p:cNvSpPr>
            <a:spLocks noGrp="1"/>
          </p:cNvSpPr>
          <p:nvPr/>
        </p:nvSpPr>
        <p:spPr>
          <a:xfrm>
            <a:off x="7581900" y="3238500"/>
            <a:ext cx="781050" cy="19050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76ED759-8AC4-46FD-AFF8-60CE54C62479}"/>
              </a:ext>
            </a:extLst>
          </p:cNvPr>
          <p:cNvSpPr>
            <a:spLocks noGrp="1"/>
          </p:cNvSpPr>
          <p:nvPr/>
        </p:nvSpPr>
        <p:spPr>
          <a:xfrm>
            <a:off x="7581900" y="4857750"/>
            <a:ext cx="781050" cy="19050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B0E4B0E-A1C2-4491-B5B2-249C955D9ADB}"/>
              </a:ext>
            </a:extLst>
          </p:cNvPr>
          <p:cNvSpPr>
            <a:spLocks noGrp="1"/>
          </p:cNvSpPr>
          <p:nvPr/>
        </p:nvSpPr>
        <p:spPr>
          <a:xfrm>
            <a:off x="3390900" y="5334000"/>
            <a:ext cx="542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Core review question: which methods still hold when the testing context becomes real?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659E760-9EB9-4D2A-B0CA-8BD593843597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13E57A7-053B-4A7B-9385-84EBC6BD6A9C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252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51357DBB-8ADE-4AC6-92DC-6B86AF34F285}"/>
              </a:ext>
            </a:extLst>
          </p:cNvPr>
          <p:cNvSpPr>
            <a:spLocks noGrp="1"/>
          </p:cNvSpPr>
          <p:nvPr/>
        </p:nvSpPr>
        <p:spPr>
          <a:xfrm>
            <a:off x="-9525" y="24765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F18E3CD2-C6C7-4EE2-85C1-36AE180AC949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97349D69-25AF-49CB-9802-68251E7FB061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2E6C39-DA07-4061-B42A-2C28D24F453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90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The review narrows a fragmented field into 25 primary studies.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FC57F-F507-4C4A-9011-D999F27B9E3F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Search, backward and forward snowballing, and an extended venue search are used to build the corpus.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CE1FC2-392B-4174-AE4F-5DF216D7B5FE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09CA2E-B387-42AB-B53C-6C39B243C695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1809750" cy="571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80058E-F255-42EE-9355-125B918AC6B9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Initial search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C955DD-7133-4831-AFE8-6BFF0AA35A28}"/>
              </a:ext>
            </a:extLst>
          </p:cNvPr>
          <p:cNvSpPr>
            <a:spLocks noGrp="1"/>
          </p:cNvSpPr>
          <p:nvPr/>
        </p:nvSpPr>
        <p:spPr>
          <a:xfrm>
            <a:off x="704850" y="37528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9 included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FF120E-5F55-4EB1-B752-31870767C012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1504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candidate count missing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D95913-8C4A-4CAB-AD8A-BFC053DD0E2F}"/>
              </a:ext>
            </a:extLst>
          </p:cNvPr>
          <p:cNvSpPr>
            <a:spLocks noGrp="1"/>
          </p:cNvSpPr>
          <p:nvPr/>
        </p:nvSpPr>
        <p:spPr>
          <a:xfrm>
            <a:off x="2438400" y="3609975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B1E3C1-38D6-4884-A19E-576AF0C87A4E}"/>
              </a:ext>
            </a:extLst>
          </p:cNvPr>
          <p:cNvSpPr>
            <a:spLocks noGrp="1"/>
          </p:cNvSpPr>
          <p:nvPr/>
        </p:nvSpPr>
        <p:spPr>
          <a:xfrm>
            <a:off x="2790825" y="314325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839CCD-A25A-474E-A3D2-D03F0BFC2490}"/>
              </a:ext>
            </a:extLst>
          </p:cNvPr>
          <p:cNvSpPr>
            <a:spLocks noGrp="1"/>
          </p:cNvSpPr>
          <p:nvPr/>
        </p:nvSpPr>
        <p:spPr>
          <a:xfrm>
            <a:off x="2790825" y="3143250"/>
            <a:ext cx="1809750" cy="571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1169BC-429E-420B-BA17-C517CA494B33}"/>
              </a:ext>
            </a:extLst>
          </p:cNvPr>
          <p:cNvSpPr>
            <a:spLocks noGrp="1"/>
          </p:cNvSpPr>
          <p:nvPr/>
        </p:nvSpPr>
        <p:spPr>
          <a:xfrm>
            <a:off x="2943225" y="33337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Backward snowballing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43C99D-9B9A-49D7-9A83-6C03842CC6A2}"/>
              </a:ext>
            </a:extLst>
          </p:cNvPr>
          <p:cNvSpPr>
            <a:spLocks noGrp="1"/>
          </p:cNvSpPr>
          <p:nvPr/>
        </p:nvSpPr>
        <p:spPr>
          <a:xfrm>
            <a:off x="2943225" y="37528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18 candidates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014F5E-64DD-4949-BE03-B27E5E8DF7A5}"/>
              </a:ext>
            </a:extLst>
          </p:cNvPr>
          <p:cNvSpPr>
            <a:spLocks noGrp="1"/>
          </p:cNvSpPr>
          <p:nvPr/>
        </p:nvSpPr>
        <p:spPr>
          <a:xfrm>
            <a:off x="3248025" y="3900488"/>
            <a:ext cx="1504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8 included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7DC1E5-0574-4E8F-B5BD-FD471D6261CE}"/>
              </a:ext>
            </a:extLst>
          </p:cNvPr>
          <p:cNvSpPr>
            <a:spLocks noGrp="1"/>
          </p:cNvSpPr>
          <p:nvPr/>
        </p:nvSpPr>
        <p:spPr>
          <a:xfrm>
            <a:off x="4676775" y="3609975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7FEE7E-1286-4092-B548-8FE3E779E811}"/>
              </a:ext>
            </a:extLst>
          </p:cNvPr>
          <p:cNvSpPr>
            <a:spLocks noGrp="1"/>
          </p:cNvSpPr>
          <p:nvPr/>
        </p:nvSpPr>
        <p:spPr>
          <a:xfrm>
            <a:off x="5029200" y="314325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4A07F2-445A-48CF-8E29-1FC150362F07}"/>
              </a:ext>
            </a:extLst>
          </p:cNvPr>
          <p:cNvSpPr>
            <a:spLocks noGrp="1"/>
          </p:cNvSpPr>
          <p:nvPr/>
        </p:nvSpPr>
        <p:spPr>
          <a:xfrm>
            <a:off x="5029200" y="3143250"/>
            <a:ext cx="1809750" cy="571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4E7CF1-1D3A-40C8-8100-B584A0072F9B}"/>
              </a:ext>
            </a:extLst>
          </p:cNvPr>
          <p:cNvSpPr>
            <a:spLocks noGrp="1"/>
          </p:cNvSpPr>
          <p:nvPr/>
        </p:nvSpPr>
        <p:spPr>
          <a:xfrm>
            <a:off x="5181600" y="33337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Forward snowballing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FDBE78-523D-4055-A942-CFB993BECEEA}"/>
              </a:ext>
            </a:extLst>
          </p:cNvPr>
          <p:cNvSpPr>
            <a:spLocks noGrp="1"/>
          </p:cNvSpPr>
          <p:nvPr/>
        </p:nvSpPr>
        <p:spPr>
          <a:xfrm>
            <a:off x="5181600" y="37528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7 candidates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0EA296-8814-4A68-84A7-7995E60A2169}"/>
              </a:ext>
            </a:extLst>
          </p:cNvPr>
          <p:cNvSpPr>
            <a:spLocks noGrp="1"/>
          </p:cNvSpPr>
          <p:nvPr/>
        </p:nvSpPr>
        <p:spPr>
          <a:xfrm>
            <a:off x="5334000" y="3919537"/>
            <a:ext cx="1504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3 included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0A85724-7E63-42C3-986A-0A914B6A5CA9}"/>
              </a:ext>
            </a:extLst>
          </p:cNvPr>
          <p:cNvSpPr>
            <a:spLocks noGrp="1"/>
          </p:cNvSpPr>
          <p:nvPr/>
        </p:nvSpPr>
        <p:spPr>
          <a:xfrm>
            <a:off x="6915150" y="3609975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F0BE8B5-C6C3-49F6-AAFD-870092CD12C2}"/>
              </a:ext>
            </a:extLst>
          </p:cNvPr>
          <p:cNvSpPr>
            <a:spLocks noGrp="1"/>
          </p:cNvSpPr>
          <p:nvPr/>
        </p:nvSpPr>
        <p:spPr>
          <a:xfrm>
            <a:off x="7267575" y="314325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817E74-2F07-44F4-B45C-401980031CA0}"/>
              </a:ext>
            </a:extLst>
          </p:cNvPr>
          <p:cNvSpPr>
            <a:spLocks noGrp="1"/>
          </p:cNvSpPr>
          <p:nvPr/>
        </p:nvSpPr>
        <p:spPr>
          <a:xfrm>
            <a:off x="7267575" y="3143250"/>
            <a:ext cx="1809750" cy="571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87E694-CEDD-4240-A75A-49F597151AA0}"/>
              </a:ext>
            </a:extLst>
          </p:cNvPr>
          <p:cNvSpPr>
            <a:spLocks noGrp="1"/>
          </p:cNvSpPr>
          <p:nvPr/>
        </p:nvSpPr>
        <p:spPr>
          <a:xfrm>
            <a:off x="7419975" y="33337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Extended venue search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43503F-4B2A-4A1B-A23E-21B25F28AABB}"/>
              </a:ext>
            </a:extLst>
          </p:cNvPr>
          <p:cNvSpPr>
            <a:spLocks noGrp="1"/>
          </p:cNvSpPr>
          <p:nvPr/>
        </p:nvSpPr>
        <p:spPr>
          <a:xfrm>
            <a:off x="7419975" y="37528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5 candidates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0A66563-1D31-45F9-9198-30CC3EF60BF4}"/>
              </a:ext>
            </a:extLst>
          </p:cNvPr>
          <p:cNvSpPr>
            <a:spLocks noGrp="1"/>
          </p:cNvSpPr>
          <p:nvPr/>
        </p:nvSpPr>
        <p:spPr>
          <a:xfrm>
            <a:off x="7605713" y="3895725"/>
            <a:ext cx="1504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5 included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CCD4E2-64AD-4E92-ACC6-F8FC0100990D}"/>
              </a:ext>
            </a:extLst>
          </p:cNvPr>
          <p:cNvSpPr>
            <a:spLocks noGrp="1"/>
          </p:cNvSpPr>
          <p:nvPr/>
        </p:nvSpPr>
        <p:spPr>
          <a:xfrm>
            <a:off x="9153525" y="3609975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2CC25A3-A504-4E0A-8F9F-F582CE6BF4B3}"/>
              </a:ext>
            </a:extLst>
          </p:cNvPr>
          <p:cNvSpPr>
            <a:spLocks noGrp="1"/>
          </p:cNvSpPr>
          <p:nvPr/>
        </p:nvSpPr>
        <p:spPr>
          <a:xfrm>
            <a:off x="9505950" y="314325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9F7643-647A-4932-AF89-5D0E681344B6}"/>
              </a:ext>
            </a:extLst>
          </p:cNvPr>
          <p:cNvSpPr>
            <a:spLocks noGrp="1"/>
          </p:cNvSpPr>
          <p:nvPr/>
        </p:nvSpPr>
        <p:spPr>
          <a:xfrm>
            <a:off x="9505950" y="3143250"/>
            <a:ext cx="1809750" cy="571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5C97C0E-E2A7-4081-89F6-247B6576039B}"/>
              </a:ext>
            </a:extLst>
          </p:cNvPr>
          <p:cNvSpPr>
            <a:spLocks noGrp="1"/>
          </p:cNvSpPr>
          <p:nvPr/>
        </p:nvSpPr>
        <p:spPr>
          <a:xfrm>
            <a:off x="9658350" y="33337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Final corpus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6CB78EA-A7B5-4242-B8AE-0BFE7FE561B6}"/>
              </a:ext>
            </a:extLst>
          </p:cNvPr>
          <p:cNvSpPr>
            <a:spLocks noGrp="1"/>
          </p:cNvSpPr>
          <p:nvPr/>
        </p:nvSpPr>
        <p:spPr>
          <a:xfrm>
            <a:off x="9658350" y="37528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A44A3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A44A3F"/>
                </a:solidFill>
                <a:latin typeface="Aptos Mono"/>
                <a:ea typeface="Aptos Mono"/>
                <a:cs typeface="Aptos Mono"/>
              </a:rPr>
              <a:t>25 studies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B6EA77-1660-417B-9174-FCCAE22661FD}"/>
              </a:ext>
            </a:extLst>
          </p:cNvPr>
          <p:cNvSpPr>
            <a:spLocks noGrp="1"/>
          </p:cNvSpPr>
          <p:nvPr/>
        </p:nvSpPr>
        <p:spPr>
          <a:xfrm>
            <a:off x="9658350" y="4114800"/>
            <a:ext cx="1504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analysis set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E69EA72-C688-4BAF-B0E1-AF17A47779D4}"/>
              </a:ext>
            </a:extLst>
          </p:cNvPr>
          <p:cNvSpPr>
            <a:spLocks noGrp="1"/>
          </p:cNvSpPr>
          <p:nvPr/>
        </p:nvSpPr>
        <p:spPr>
          <a:xfrm>
            <a:off x="552450" y="4914900"/>
            <a:ext cx="10287000" cy="64770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F3C6557-CEB3-4990-B9F9-16CDD4EDE96F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Defense note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8080622-9857-4C3E-83A4-A74BE0C978D5}"/>
              </a:ext>
            </a:extLst>
          </p:cNvPr>
          <p:cNvSpPr>
            <a:spLocks noGrp="1"/>
          </p:cNvSpPr>
          <p:nvPr/>
        </p:nvSpPr>
        <p:spPr>
          <a:xfrm>
            <a:off x="1905000" y="5048250"/>
            <a:ext cx="819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draft should still reconcile one methodology inconsistency: it names multiple databases but later says the initial search was confined to ICST.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5B69C6-1351-45DB-8E3F-422BA9B55591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7617D7B-B907-4312-B938-0EEB9648C40C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04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214A7865-E5A9-4EB1-9499-EEB3092FE8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F2CE9433-CC01-49E9-8919-CF705422909F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3FC44A76-755A-4FFD-9323-B51DF75BB7BB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CORPUS MAP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6548C3-D719-43E3-B704-EBB03494732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90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The corpus is organized around five questions, not one technology.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9C077F-0117-4B0D-A5C0-1CB8BEA1AC2A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Each RQ captures a different layer of the testing problem: symptoms, methods, models, evaluation, and deployment context.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D9588F-43E7-453E-9E2B-65D489AF0162}"/>
              </a:ext>
            </a:extLst>
          </p:cNvPr>
          <p:cNvSpPr>
            <a:spLocks noGrp="1"/>
          </p:cNvSpPr>
          <p:nvPr/>
        </p:nvSpPr>
        <p:spPr>
          <a:xfrm>
            <a:off x="552450" y="2914650"/>
            <a:ext cx="1885950" cy="2266950"/>
          </a:xfrm>
          <a:prstGeom prst="rect">
            <a:avLst/>
          </a:prstGeom>
          <a:solidFill>
            <a:srgbClr val="DEE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DFCBEF-9553-4962-B199-996F8FB3CB5B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RQ1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949606-3B30-4736-9AC9-0D4187B30AF6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A1330F-A55B-4AAC-9AE5-9C93F2A89AAC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1524000" cy="190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61F531-BFF4-4EDF-9EF5-4A04C357660A}"/>
              </a:ext>
            </a:extLst>
          </p:cNvPr>
          <p:cNvSpPr>
            <a:spLocks noGrp="1"/>
          </p:cNvSpPr>
          <p:nvPr/>
        </p:nvSpPr>
        <p:spPr>
          <a:xfrm>
            <a:off x="723900" y="4076700"/>
            <a:ext cx="1428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flaky tests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UI fragility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microservices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IoT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70EB30-D87D-4B15-8C00-2D6EADD5E8B4}"/>
              </a:ext>
            </a:extLst>
          </p:cNvPr>
          <p:cNvSpPr>
            <a:spLocks noGrp="1"/>
          </p:cNvSpPr>
          <p:nvPr/>
        </p:nvSpPr>
        <p:spPr>
          <a:xfrm>
            <a:off x="2724150" y="2914650"/>
            <a:ext cx="1885950" cy="226695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EE6752-6903-47D6-B3FA-5B71332FCA4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RQ2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00D19B-B954-47E5-B236-916F769D3F8B}"/>
              </a:ext>
            </a:extLst>
          </p:cNvPr>
          <p:cNvSpPr>
            <a:spLocks noGrp="1"/>
          </p:cNvSpPr>
          <p:nvPr/>
        </p:nvSpPr>
        <p:spPr>
          <a:xfrm>
            <a:off x="2895600" y="35242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Approaches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3C69F8-34A7-4B9E-BC84-A5C385C4975D}"/>
              </a:ext>
            </a:extLst>
          </p:cNvPr>
          <p:cNvSpPr>
            <a:spLocks noGrp="1"/>
          </p:cNvSpPr>
          <p:nvPr/>
        </p:nvSpPr>
        <p:spPr>
          <a:xfrm>
            <a:off x="2895600" y="3886200"/>
            <a:ext cx="1524000" cy="190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7EBEBA-A7CF-4CF9-9D94-CA9CEA78455A}"/>
              </a:ext>
            </a:extLst>
          </p:cNvPr>
          <p:cNvSpPr>
            <a:spLocks noGrp="1"/>
          </p:cNvSpPr>
          <p:nvPr/>
        </p:nvSpPr>
        <p:spPr>
          <a:xfrm>
            <a:off x="2895600" y="4076700"/>
            <a:ext cx="1428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SBFL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reordering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repair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LLM FL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7BA10A-041C-4A8F-AE34-C7AF0F4D1662}"/>
              </a:ext>
            </a:extLst>
          </p:cNvPr>
          <p:cNvSpPr>
            <a:spLocks noGrp="1"/>
          </p:cNvSpPr>
          <p:nvPr/>
        </p:nvSpPr>
        <p:spPr>
          <a:xfrm>
            <a:off x="4895850" y="2914650"/>
            <a:ext cx="1885950" cy="2266950"/>
          </a:xfrm>
          <a:prstGeom prst="rect">
            <a:avLst/>
          </a:prstGeom>
          <a:solidFill>
            <a:srgbClr val="F1E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9CF44E-0F46-454D-9ED9-11F4BBAA4EC3}"/>
              </a:ext>
            </a:extLst>
          </p:cNvPr>
          <p:cNvSpPr>
            <a:spLocks noGrp="1"/>
          </p:cNvSpPr>
          <p:nvPr/>
        </p:nvSpPr>
        <p:spPr>
          <a:xfrm>
            <a:off x="5067300" y="31051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RQ3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5B316E-E563-40DA-ACB8-527CA7D39F6D}"/>
              </a:ext>
            </a:extLst>
          </p:cNvPr>
          <p:cNvSpPr>
            <a:spLocks noGrp="1"/>
          </p:cNvSpPr>
          <p:nvPr/>
        </p:nvSpPr>
        <p:spPr>
          <a:xfrm>
            <a:off x="5067300" y="35242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use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83BF87-1FDD-45D7-968D-CA6A1EB854EB}"/>
              </a:ext>
            </a:extLst>
          </p:cNvPr>
          <p:cNvSpPr>
            <a:spLocks noGrp="1"/>
          </p:cNvSpPr>
          <p:nvPr/>
        </p:nvSpPr>
        <p:spPr>
          <a:xfrm>
            <a:off x="5067300" y="3886200"/>
            <a:ext cx="1524000" cy="190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2997C4B-28F1-4C8B-90AB-CC566ADD93EB}"/>
              </a:ext>
            </a:extLst>
          </p:cNvPr>
          <p:cNvSpPr>
            <a:spLocks noGrp="1"/>
          </p:cNvSpPr>
          <p:nvPr/>
        </p:nvSpPr>
        <p:spPr>
          <a:xfrm>
            <a:off x="5067300" y="4076700"/>
            <a:ext cx="1428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fine-tuning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few-shot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prompting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F5B992-B222-482B-8427-3193D91AF90E}"/>
              </a:ext>
            </a:extLst>
          </p:cNvPr>
          <p:cNvSpPr>
            <a:spLocks noGrp="1"/>
          </p:cNvSpPr>
          <p:nvPr/>
        </p:nvSpPr>
        <p:spPr>
          <a:xfrm>
            <a:off x="7067550" y="2914650"/>
            <a:ext cx="1885950" cy="2266950"/>
          </a:xfrm>
          <a:prstGeom prst="rect">
            <a:avLst/>
          </a:prstGeom>
          <a:solidFill>
            <a:srgbClr val="E5D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E3DB5E-E467-41B8-BCC3-0BF0CD448414}"/>
              </a:ext>
            </a:extLst>
          </p:cNvPr>
          <p:cNvSpPr>
            <a:spLocks noGrp="1"/>
          </p:cNvSpPr>
          <p:nvPr/>
        </p:nvSpPr>
        <p:spPr>
          <a:xfrm>
            <a:off x="7239000" y="31051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RQ4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C587CA-48DA-47E3-8378-43EFBEE372D1}"/>
              </a:ext>
            </a:extLst>
          </p:cNvPr>
          <p:cNvSpPr>
            <a:spLocks noGrp="1"/>
          </p:cNvSpPr>
          <p:nvPr/>
        </p:nvSpPr>
        <p:spPr>
          <a:xfrm>
            <a:off x="7239000" y="35242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836833-018A-42FD-A2C6-F7ACBB79CCFC}"/>
              </a:ext>
            </a:extLst>
          </p:cNvPr>
          <p:cNvSpPr>
            <a:spLocks noGrp="1"/>
          </p:cNvSpPr>
          <p:nvPr/>
        </p:nvSpPr>
        <p:spPr>
          <a:xfrm>
            <a:off x="7239000" y="3886200"/>
            <a:ext cx="1524000" cy="190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5E369C4-3EA5-4186-8ED4-D7B8A06A875B}"/>
              </a:ext>
            </a:extLst>
          </p:cNvPr>
          <p:cNvSpPr>
            <a:spLocks noGrp="1"/>
          </p:cNvSpPr>
          <p:nvPr/>
        </p:nvSpPr>
        <p:spPr>
          <a:xfrm>
            <a:off x="7239000" y="4076700"/>
            <a:ext cx="1428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Defects4J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IDoFT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FlakyCat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CVE/UI sets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DB34BAF-8B99-4700-9690-78CA23113905}"/>
              </a:ext>
            </a:extLst>
          </p:cNvPr>
          <p:cNvSpPr>
            <a:spLocks noGrp="1"/>
          </p:cNvSpPr>
          <p:nvPr/>
        </p:nvSpPr>
        <p:spPr>
          <a:xfrm>
            <a:off x="9239250" y="2914650"/>
            <a:ext cx="1885950" cy="2266950"/>
          </a:xfrm>
          <a:prstGeom prst="rect">
            <a:avLst/>
          </a:prstGeom>
          <a:solidFill>
            <a:srgbClr val="EA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B50A7A9-0771-4052-A9C4-D362CE5186C8}"/>
              </a:ext>
            </a:extLst>
          </p:cNvPr>
          <p:cNvSpPr>
            <a:spLocks noGrp="1"/>
          </p:cNvSpPr>
          <p:nvPr/>
        </p:nvSpPr>
        <p:spPr>
          <a:xfrm>
            <a:off x="9410700" y="31051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A44A3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A44A3F"/>
                </a:solidFill>
                <a:latin typeface="Aptos Mono"/>
                <a:ea typeface="Aptos Mono"/>
                <a:cs typeface="Aptos Mono"/>
              </a:rPr>
              <a:t>RQ5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BDBC58B-0CA8-4E43-87BF-B968829AF18A}"/>
              </a:ext>
            </a:extLst>
          </p:cNvPr>
          <p:cNvSpPr>
            <a:spLocks noGrp="1"/>
          </p:cNvSpPr>
          <p:nvPr/>
        </p:nvSpPr>
        <p:spPr>
          <a:xfrm>
            <a:off x="9410700" y="35242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048102B-D17C-4459-9334-C03899452303}"/>
              </a:ext>
            </a:extLst>
          </p:cNvPr>
          <p:cNvSpPr>
            <a:spLocks noGrp="1"/>
          </p:cNvSpPr>
          <p:nvPr/>
        </p:nvSpPr>
        <p:spPr>
          <a:xfrm>
            <a:off x="9410700" y="3886200"/>
            <a:ext cx="1524000" cy="190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F515A23-B123-4722-93A4-9C0E442D122E}"/>
              </a:ext>
            </a:extLst>
          </p:cNvPr>
          <p:cNvSpPr>
            <a:spLocks noGrp="1"/>
          </p:cNvSpPr>
          <p:nvPr/>
        </p:nvSpPr>
        <p:spPr>
          <a:xfrm>
            <a:off x="9410700" y="4076700"/>
            <a:ext cx="1428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CI/CD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real repos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toolchains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runtime envs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6F60FDF-C081-4712-A376-465D81C23CB4}"/>
              </a:ext>
            </a:extLst>
          </p:cNvPr>
          <p:cNvSpPr>
            <a:spLocks noGrp="1"/>
          </p:cNvSpPr>
          <p:nvPr/>
        </p:nvSpPr>
        <p:spPr>
          <a:xfrm>
            <a:off x="1504950" y="5676900"/>
            <a:ext cx="895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Synthesis logic: the review does not just ask whether LLMs work; it asks where their evidence still breaks down.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C6E7BED-6F18-4E72-B6B7-92F8C59485D6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B8BF09C-D25D-4BFA-9B23-07A00AFDD2A6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27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467DF627-DE26-47D3-B590-E725FAA5B8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1C71A089-7561-41E6-B150-3E6470B59D1F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E687A3BE-63E3-42B0-ACE4-5CA2D39FC614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RQ1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3E4C0B-EBDF-4D32-8B7C-1D643F0E150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Testing challenges are ecosystem-specific rather than universal.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F34DE9-99B0-49B2-B8F6-AD5D56D34920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same word, such as flakiness, hides different root causes across JavaScript, UI, microservice, and IoT settings.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01550C-7558-4D17-95D5-0D6A6DCD2242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24003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2BD14F-3518-483C-83CE-294E4C299FF8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2400300" cy="571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5263D5-B253-4094-B1EB-CD3549D0CE99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49496E-C3E9-4CAE-BB3A-B5EB8B4E6523}"/>
              </a:ext>
            </a:extLst>
          </p:cNvPr>
          <p:cNvSpPr>
            <a:spLocks noGrp="1"/>
          </p:cNvSpPr>
          <p:nvPr/>
        </p:nvSpPr>
        <p:spPr>
          <a:xfrm>
            <a:off x="762000" y="3562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55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7602F2-78C8-4CC5-BCA8-388CDCD28C15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order-dependent JS tests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C281B9-34DC-475C-9900-89C123156EC3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42 caused by shared mocking state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AF9FF5-B113-48B4-9757-33A54E934B8D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24003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9A34A7-D6C3-4F60-A531-F37B3F98C989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2400300" cy="571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A3F2BC-7B31-434E-AA6C-024F802635A8}"/>
              </a:ext>
            </a:extLst>
          </p:cNvPr>
          <p:cNvSpPr>
            <a:spLocks noGrp="1"/>
          </p:cNvSpPr>
          <p:nvPr/>
        </p:nvSpPr>
        <p:spPr>
          <a:xfrm>
            <a:off x="3562350" y="31432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test fragility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F2E6EF-739A-4519-9F1D-3120C283D82E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1,065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B65C97-F23B-4AA6-BBBB-A8DD479AF350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breakages across 8 web systems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60C2EB-B542-4092-989D-5BF9A56981A5}"/>
              </a:ext>
            </a:extLst>
          </p:cNvPr>
          <p:cNvSpPr>
            <a:spLocks noGrp="1"/>
          </p:cNvSpPr>
          <p:nvPr/>
        </p:nvSpPr>
        <p:spPr>
          <a:xfrm>
            <a:off x="3562350" y="4400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DOM locators and timing dominate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8AE046-DB0E-430D-B8BC-EA58F3A8B6F2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24003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B29B90-5551-41AB-9BC6-DB56D8AD86CD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2400300" cy="571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748AA8-4D09-41E3-A928-2E904EDC8892}"/>
              </a:ext>
            </a:extLst>
          </p:cNvPr>
          <p:cNvSpPr>
            <a:spLocks noGrp="1"/>
          </p:cNvSpPr>
          <p:nvPr/>
        </p:nvSpPr>
        <p:spPr>
          <a:xfrm>
            <a:off x="6362700" y="31432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IoT platforms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076A06-CBEF-43C7-AD4D-1253D76E367A}"/>
              </a:ext>
            </a:extLst>
          </p:cNvPr>
          <p:cNvSpPr>
            <a:spLocks noGrp="1"/>
          </p:cNvSpPr>
          <p:nvPr/>
        </p:nvSpPr>
        <p:spPr>
          <a:xfrm>
            <a:off x="6362700" y="3562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65%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8E33C9-D137-4734-958D-A9289C02D6B5}"/>
              </a:ext>
            </a:extLst>
          </p:cNvPr>
          <p:cNvSpPr>
            <a:spLocks noGrp="1"/>
          </p:cNvSpPr>
          <p:nvPr/>
        </p:nvSpPr>
        <p:spPr>
          <a:xfrm>
            <a:off x="6362700" y="4038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HomeAssistant add-ons below 0.5 test ratio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620205-40C9-487C-9756-5E956AB514AD}"/>
              </a:ext>
            </a:extLst>
          </p:cNvPr>
          <p:cNvSpPr>
            <a:spLocks noGrp="1"/>
          </p:cNvSpPr>
          <p:nvPr/>
        </p:nvSpPr>
        <p:spPr>
          <a:xfrm>
            <a:off x="6362700" y="4400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device and firmware constraints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F9450A-B83B-48F3-AA4B-7E7B2D3102A2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24003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F4A7555-2C8D-47CC-8876-02BFC771ED2D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2400300" cy="571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7256F0-2F7A-4A73-B8AE-8E8BAE127B65}"/>
              </a:ext>
            </a:extLst>
          </p:cNvPr>
          <p:cNvSpPr>
            <a:spLocks noGrp="1"/>
          </p:cNvSpPr>
          <p:nvPr/>
        </p:nvSpPr>
        <p:spPr>
          <a:xfrm>
            <a:off x="9163050" y="31432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Microservices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12B5D8-97FF-4E33-AEA4-262207BFD812}"/>
              </a:ext>
            </a:extLst>
          </p:cNvPr>
          <p:cNvSpPr>
            <a:spLocks noGrp="1"/>
          </p:cNvSpPr>
          <p:nvPr/>
        </p:nvSpPr>
        <p:spPr>
          <a:xfrm>
            <a:off x="9163050" y="3562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2-sided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1EF322-A9A7-45BA-BBBA-358D1ADD8FBA}"/>
              </a:ext>
            </a:extLst>
          </p:cNvPr>
          <p:cNvSpPr>
            <a:spLocks noGrp="1"/>
          </p:cNvSpPr>
          <p:nvPr/>
        </p:nvSpPr>
        <p:spPr>
          <a:xfrm>
            <a:off x="9163050" y="4038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technical and organizational causes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6CF90C4-BB08-4428-819B-E0145D269701}"/>
              </a:ext>
            </a:extLst>
          </p:cNvPr>
          <p:cNvSpPr>
            <a:spLocks noGrp="1"/>
          </p:cNvSpPr>
          <p:nvPr/>
        </p:nvSpPr>
        <p:spPr>
          <a:xfrm>
            <a:off x="9163050" y="4400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contracts, messages, ownership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240C3D-CB0A-4DA8-9165-C3FD38960023}"/>
              </a:ext>
            </a:extLst>
          </p:cNvPr>
          <p:cNvSpPr>
            <a:spLocks noGrp="1"/>
          </p:cNvSpPr>
          <p:nvPr/>
        </p:nvSpPr>
        <p:spPr>
          <a:xfrm>
            <a:off x="1485900" y="5334000"/>
            <a:ext cx="9220200" cy="49530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03F238C-587B-4978-A6BD-417026DB3ABD}"/>
              </a:ext>
            </a:extLst>
          </p:cNvPr>
          <p:cNvSpPr>
            <a:spLocks noGrp="1"/>
          </p:cNvSpPr>
          <p:nvPr/>
        </p:nvSpPr>
        <p:spPr>
          <a:xfrm>
            <a:off x="1695450" y="5495925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Implication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EA18059-5B94-45BA-A154-303F124656B9}"/>
              </a:ext>
            </a:extLst>
          </p:cNvPr>
          <p:cNvSpPr>
            <a:spLocks noGrp="1"/>
          </p:cNvSpPr>
          <p:nvPr/>
        </p:nvSpPr>
        <p:spPr>
          <a:xfrm>
            <a:off x="2819400" y="5457825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 fault-localization method must preserve repository context instead of flattening every failure into a code-only label.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F142EC3-7D29-42EA-860A-0B69078D0B8C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B1B8CD8-1C56-4966-A8A0-DF3AC088E267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230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82109EC5-1EB2-4134-B65F-42AFAD8EA5B0}"/>
              </a:ext>
            </a:extLst>
          </p:cNvPr>
          <p:cNvSpPr>
            <a:spLocks noGrp="1"/>
          </p:cNvSpPr>
          <p:nvPr/>
        </p:nvSpPr>
        <p:spPr>
          <a:xfrm>
            <a:off x="0" y="-47625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38A41D73-8AC5-4D37-9D48-BE1185B009C7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FA1991E9-D4A9-41FD-A20A-FA35B3C6DDD4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RQ2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BB409D-449D-40A7-89EF-AC84E061152A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28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Detection approaches move from coverage ranking toward code and context reasoning.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D2A50A-3BB4-4815-887D-D93CD8ED3F37}"/>
              </a:ext>
            </a:extLst>
          </p:cNvPr>
          <p:cNvSpPr>
            <a:spLocks noGrp="1"/>
          </p:cNvSpPr>
          <p:nvPr/>
        </p:nvSpPr>
        <p:spPr>
          <a:xfrm>
            <a:off x="552450" y="184785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Traditional fault localization is interpretable but test-dependent; LLM approaches reduce that dependency but need stronger repository-level validation.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94990A-0BCD-4323-A6EF-51CE213B22E1}"/>
              </a:ext>
            </a:extLst>
          </p:cNvPr>
          <p:cNvSpPr>
            <a:spLocks noGrp="1"/>
          </p:cNvSpPr>
          <p:nvPr/>
        </p:nvSpPr>
        <p:spPr>
          <a:xfrm>
            <a:off x="1104900" y="3705225"/>
            <a:ext cx="9982200" cy="28575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943300F-88D3-4BCB-8967-2B058FF8FBF0}"/>
              </a:ext>
            </a:extLst>
          </p:cNvPr>
          <p:cNvSpPr>
            <a:spLocks noGrp="1"/>
          </p:cNvSpPr>
          <p:nvPr/>
        </p:nvSpPr>
        <p:spPr>
          <a:xfrm>
            <a:off x="1485900" y="3609975"/>
            <a:ext cx="209550" cy="209550"/>
          </a:xfrm>
          <a:prstGeom prst="ellipse">
            <a:avLst/>
          </a:prstGeom>
          <a:solidFill>
            <a:srgbClr val="315C8B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1F0548-71C3-426E-A8FF-94945095A9C9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Tarantula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832E7B-CFD4-43ED-9788-DABAB4B32055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pass/fail coverage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visual suspiciousness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BB3723-BA73-4389-9177-E5CF7C194F2B}"/>
              </a:ext>
            </a:extLst>
          </p:cNvPr>
          <p:cNvSpPr>
            <a:spLocks noGrp="1"/>
          </p:cNvSpPr>
          <p:nvPr/>
        </p:nvSpPr>
        <p:spPr>
          <a:xfrm>
            <a:off x="9144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E0E651-2F24-408A-890D-13FE7388771A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15C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8B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03FF0BA-1EFB-4272-A339-08EFBE3995D4}"/>
              </a:ext>
            </a:extLst>
          </p:cNvPr>
          <p:cNvSpPr>
            <a:spLocks noGrp="1"/>
          </p:cNvSpPr>
          <p:nvPr/>
        </p:nvSpPr>
        <p:spPr>
          <a:xfrm>
            <a:off x="3695700" y="3609975"/>
            <a:ext cx="209550" cy="209550"/>
          </a:xfrm>
          <a:prstGeom prst="ellipse">
            <a:avLst/>
          </a:prstGeom>
          <a:solidFill>
            <a:srgbClr val="1F6F5B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5E4C6D-F76C-41A8-9085-475EE0FAA948}"/>
              </a:ext>
            </a:extLst>
          </p:cNvPr>
          <p:cNvSpPr>
            <a:spLocks noGrp="1"/>
          </p:cNvSpPr>
          <p:nvPr/>
        </p:nvSpPr>
        <p:spPr>
          <a:xfrm>
            <a:off x="29337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Ochiai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17C7DF-4866-443A-8672-51381D991C9A}"/>
              </a:ext>
            </a:extLst>
          </p:cNvPr>
          <p:cNvSpPr>
            <a:spLocks noGrp="1"/>
          </p:cNvSpPr>
          <p:nvPr/>
        </p:nvSpPr>
        <p:spPr>
          <a:xfrm>
            <a:off x="29337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&gt;80% code exonerated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on average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4C6D6D-65CB-4200-90F3-9ED56E870DE0}"/>
              </a:ext>
            </a:extLst>
          </p:cNvPr>
          <p:cNvSpPr>
            <a:spLocks noGrp="1"/>
          </p:cNvSpPr>
          <p:nvPr/>
        </p:nvSpPr>
        <p:spPr>
          <a:xfrm>
            <a:off x="31242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C2C84D-9BFF-41E8-B24A-5FD305897BE1}"/>
              </a:ext>
            </a:extLst>
          </p:cNvPr>
          <p:cNvSpPr>
            <a:spLocks noGrp="1"/>
          </p:cNvSpPr>
          <p:nvPr/>
        </p:nvSpPr>
        <p:spPr>
          <a:xfrm>
            <a:off x="32766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53ED8AD-EFB1-4490-9587-EB12233D281C}"/>
              </a:ext>
            </a:extLst>
          </p:cNvPr>
          <p:cNvSpPr>
            <a:spLocks noGrp="1"/>
          </p:cNvSpPr>
          <p:nvPr/>
        </p:nvSpPr>
        <p:spPr>
          <a:xfrm>
            <a:off x="5905500" y="3609975"/>
            <a:ext cx="209550" cy="209550"/>
          </a:xfrm>
          <a:prstGeom prst="ellipse">
            <a:avLst/>
          </a:prstGeom>
          <a:solidFill>
            <a:srgbClr val="C07A2D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17D3EE-919B-417C-A6B0-5E43DF81DF18}"/>
              </a:ext>
            </a:extLst>
          </p:cNvPr>
          <p:cNvSpPr>
            <a:spLocks noGrp="1"/>
          </p:cNvSpPr>
          <p:nvPr/>
        </p:nvSpPr>
        <p:spPr>
          <a:xfrm>
            <a:off x="51435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Compiler filters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77C7F7-A886-4CB2-8CB5-53269401E6E9}"/>
              </a:ext>
            </a:extLst>
          </p:cNvPr>
          <p:cNvSpPr>
            <a:spLocks noGrp="1"/>
          </p:cNvSpPr>
          <p:nvPr/>
        </p:nvSpPr>
        <p:spPr>
          <a:xfrm>
            <a:off x="51435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TOP50 +67.4%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for DStar2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926D81-CA7E-4B6B-AEAB-A9584DD434F2}"/>
              </a:ext>
            </a:extLst>
          </p:cNvPr>
          <p:cNvSpPr>
            <a:spLocks noGrp="1"/>
          </p:cNvSpPr>
          <p:nvPr/>
        </p:nvSpPr>
        <p:spPr>
          <a:xfrm>
            <a:off x="53340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4FE689-CCD1-440B-9F5C-7DE55256196F}"/>
              </a:ext>
            </a:extLst>
          </p:cNvPr>
          <p:cNvSpPr>
            <a:spLocks noGrp="1"/>
          </p:cNvSpPr>
          <p:nvPr/>
        </p:nvSpPr>
        <p:spPr>
          <a:xfrm>
            <a:off x="54864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07A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7A2D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2914B0B-3FE4-474F-B970-93DDD88401F0}"/>
              </a:ext>
            </a:extLst>
          </p:cNvPr>
          <p:cNvSpPr>
            <a:spLocks noGrp="1"/>
          </p:cNvSpPr>
          <p:nvPr/>
        </p:nvSpPr>
        <p:spPr>
          <a:xfrm>
            <a:off x="8115300" y="3609975"/>
            <a:ext cx="209550" cy="209550"/>
          </a:xfrm>
          <a:prstGeom prst="ellipse">
            <a:avLst/>
          </a:prstGeom>
          <a:solidFill>
            <a:srgbClr val="6C5B7B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535D881-36C1-4A59-8D46-F42DF7A24E8A}"/>
              </a:ext>
            </a:extLst>
          </p:cNvPr>
          <p:cNvSpPr>
            <a:spLocks noGrp="1"/>
          </p:cNvSpPr>
          <p:nvPr/>
        </p:nvSpPr>
        <p:spPr>
          <a:xfrm>
            <a:off x="73533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FL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4F306F-E349-4735-9A4D-164A136FDEA9}"/>
              </a:ext>
            </a:extLst>
          </p:cNvPr>
          <p:cNvSpPr>
            <a:spLocks noGrp="1"/>
          </p:cNvSpPr>
          <p:nvPr/>
        </p:nvSpPr>
        <p:spPr>
          <a:xfrm>
            <a:off x="73533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UniXcoder Top-1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50.6%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D5AC24-12E0-4F35-988B-29E90894FACE}"/>
              </a:ext>
            </a:extLst>
          </p:cNvPr>
          <p:cNvSpPr>
            <a:spLocks noGrp="1"/>
          </p:cNvSpPr>
          <p:nvPr/>
        </p:nvSpPr>
        <p:spPr>
          <a:xfrm>
            <a:off x="75438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1CB34C-0402-4A06-8FAA-44A6624A7FA2}"/>
              </a:ext>
            </a:extLst>
          </p:cNvPr>
          <p:cNvSpPr>
            <a:spLocks noGrp="1"/>
          </p:cNvSpPr>
          <p:nvPr/>
        </p:nvSpPr>
        <p:spPr>
          <a:xfrm>
            <a:off x="76962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C5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5B7B"/>
                </a:solidFill>
                <a:latin typeface="Aptos"/>
                <a:ea typeface="Aptos"/>
                <a:cs typeface="Aptos"/>
              </a:rPr>
              <a:t>Model-based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1001E80-5F83-41B7-8505-D042D33A957E}"/>
              </a:ext>
            </a:extLst>
          </p:cNvPr>
          <p:cNvSpPr>
            <a:spLocks noGrp="1"/>
          </p:cNvSpPr>
          <p:nvPr/>
        </p:nvSpPr>
        <p:spPr>
          <a:xfrm>
            <a:off x="10325100" y="3609975"/>
            <a:ext cx="209550" cy="209550"/>
          </a:xfrm>
          <a:prstGeom prst="ellipse">
            <a:avLst/>
          </a:prstGeom>
          <a:solidFill>
            <a:srgbClr val="A44A3F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ACE5E1-A20E-4B72-80ED-EA51D1450178}"/>
              </a:ext>
            </a:extLst>
          </p:cNvPr>
          <p:cNvSpPr>
            <a:spLocks noGrp="1"/>
          </p:cNvSpPr>
          <p:nvPr/>
        </p:nvSpPr>
        <p:spPr>
          <a:xfrm>
            <a:off x="95631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Test-free FL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58493E-F2A5-4A59-ADF2-DC8FE96BBCB3}"/>
              </a:ext>
            </a:extLst>
          </p:cNvPr>
          <p:cNvSpPr>
            <a:spLocks noGrp="1"/>
          </p:cNvSpPr>
          <p:nvPr/>
        </p:nvSpPr>
        <p:spPr>
          <a:xfrm>
            <a:off x="95631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source-only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suspiciousness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52D7DB2-5EB0-4C4B-AA7E-6009836F02F8}"/>
              </a:ext>
            </a:extLst>
          </p:cNvPr>
          <p:cNvSpPr>
            <a:spLocks noGrp="1"/>
          </p:cNvSpPr>
          <p:nvPr/>
        </p:nvSpPr>
        <p:spPr>
          <a:xfrm>
            <a:off x="97536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B18212-435E-478F-A72D-B7A8CCE57F6E}"/>
              </a:ext>
            </a:extLst>
          </p:cNvPr>
          <p:cNvSpPr>
            <a:spLocks noGrp="1"/>
          </p:cNvSpPr>
          <p:nvPr/>
        </p:nvSpPr>
        <p:spPr>
          <a:xfrm>
            <a:off x="99060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44A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4A3F"/>
                </a:solidFill>
                <a:latin typeface="Aptos"/>
                <a:ea typeface="Aptos"/>
                <a:cs typeface="Aptos"/>
              </a:rPr>
              <a:t>Model-based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4C9BEF8-ECD6-41C7-90DE-58A6F7726B25}"/>
              </a:ext>
            </a:extLst>
          </p:cNvPr>
          <p:cNvSpPr>
            <a:spLocks noGrp="1"/>
          </p:cNvSpPr>
          <p:nvPr/>
        </p:nvSpPr>
        <p:spPr>
          <a:xfrm>
            <a:off x="2095500" y="5238750"/>
            <a:ext cx="8001000" cy="5524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F18F284-1EE3-4D21-A27B-472F38C68323}"/>
              </a:ext>
            </a:extLst>
          </p:cNvPr>
          <p:cNvSpPr>
            <a:spLocks noGrp="1"/>
          </p:cNvSpPr>
          <p:nvPr/>
        </p:nvSpPr>
        <p:spPr>
          <a:xfrm>
            <a:off x="2343150" y="5419725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Tension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17B8142-C53D-4659-A561-3C6E1182861E}"/>
              </a:ext>
            </a:extLst>
          </p:cNvPr>
          <p:cNvSpPr>
            <a:spLocks noGrp="1"/>
          </p:cNvSpPr>
          <p:nvPr/>
        </p:nvSpPr>
        <p:spPr>
          <a:xfrm>
            <a:off x="3219450" y="5381625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more methods move away from test execution, the more they must justify source context and validation quality.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90B3D9-6E0C-461B-AC98-E9C583D4BC07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76011C-BB18-422D-83FB-FA79F862274D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1483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A652C27A-5FCE-4B2F-B393-9FB825E8F3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7-marker">
            <a:extLst>
              <a:ext uri="{FF2B5EF4-FFF2-40B4-BE49-F238E27FC236}">
                <a16:creationId xmlns:a16="http://schemas.microsoft.com/office/drawing/2014/main" id="{976B9315-4702-41CD-9B4E-1EDB811E6230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7-label">
            <a:extLst>
              <a:ext uri="{FF2B5EF4-FFF2-40B4-BE49-F238E27FC236}">
                <a16:creationId xmlns:a16="http://schemas.microsoft.com/office/drawing/2014/main" id="{2089494C-B91D-4983-8185-8178ABA914C8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RQ3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930BC0-7C43-4BC5-AF56-8CFDBF87A18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810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LLM design choices trade data cost against workflow autonomy.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D27022-BE9C-4BB1-B2A3-A7D3FC8B0E19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42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corpus uses fine-tuning, few-shot learning, prompt engineering, and agents; each has a different practical burden.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1737D7-37CA-4523-80EC-F9D141EEEDBE}"/>
              </a:ext>
            </a:extLst>
          </p:cNvPr>
          <p:cNvSpPr>
            <a:spLocks noGrp="1"/>
          </p:cNvSpPr>
          <p:nvPr/>
        </p:nvSpPr>
        <p:spPr>
          <a:xfrm>
            <a:off x="2000250" y="3905250"/>
            <a:ext cx="7810500" cy="19050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7F4E23-6057-45FC-8700-0B172B7F6266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19050" cy="2362200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C74E7E-AAFD-41E6-A90C-CA2F5AF44E62}"/>
              </a:ext>
            </a:extLst>
          </p:cNvPr>
          <p:cNvSpPr>
            <a:spLocks noGrp="1"/>
          </p:cNvSpPr>
          <p:nvPr/>
        </p:nvSpPr>
        <p:spPr>
          <a:xfrm>
            <a:off x="2000250" y="5200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 data cost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B33389-8A7C-48D9-A9B3-8C968A699C71}"/>
              </a:ext>
            </a:extLst>
          </p:cNvPr>
          <p:cNvSpPr>
            <a:spLocks noGrp="1"/>
          </p:cNvSpPr>
          <p:nvPr/>
        </p:nvSpPr>
        <p:spPr>
          <a:xfrm>
            <a:off x="8096250" y="5200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Higher data cost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F127FD-C6D0-4E52-8294-0534B4A25BB3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Higher workflow autonomy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2C3259-1BE6-405D-98BE-2431874C0876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 workflow autonomy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BA2F16-9D23-4244-A370-F1237D671DFD}"/>
              </a:ext>
            </a:extLst>
          </p:cNvPr>
          <p:cNvSpPr>
            <a:spLocks noGrp="1"/>
          </p:cNvSpPr>
          <p:nvPr/>
        </p:nvSpPr>
        <p:spPr>
          <a:xfrm>
            <a:off x="2647950" y="4191000"/>
            <a:ext cx="2571750" cy="819150"/>
          </a:xfrm>
          <a:prstGeom prst="rect">
            <a:avLst/>
          </a:prstGeom>
          <a:solidFill>
            <a:srgbClr val="DEE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158839-0AB8-417D-9308-0C6A8504FC11}"/>
              </a:ext>
            </a:extLst>
          </p:cNvPr>
          <p:cNvSpPr>
            <a:spLocks noGrp="1"/>
          </p:cNvSpPr>
          <p:nvPr/>
        </p:nvSpPr>
        <p:spPr>
          <a:xfrm>
            <a:off x="2800350" y="43243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Prompt engineering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F78A16-C808-4373-87C1-CCD0E5B751DF}"/>
              </a:ext>
            </a:extLst>
          </p:cNvPr>
          <p:cNvSpPr>
            <a:spLocks noGrp="1"/>
          </p:cNvSpPr>
          <p:nvPr/>
        </p:nvSpPr>
        <p:spPr>
          <a:xfrm>
            <a:off x="2800350" y="45910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fast adaptation</a:t>
            </a:r>
          </a:p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sensitive to prompt/context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441098-5A7A-4688-BC1D-07C274901EFD}"/>
              </a:ext>
            </a:extLst>
          </p:cNvPr>
          <p:cNvSpPr>
            <a:spLocks noGrp="1"/>
          </p:cNvSpPr>
          <p:nvPr/>
        </p:nvSpPr>
        <p:spPr>
          <a:xfrm>
            <a:off x="2647950" y="4191000"/>
            <a:ext cx="2571750" cy="47625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429220-6191-437B-BCE8-FD10D94547D3}"/>
              </a:ext>
            </a:extLst>
          </p:cNvPr>
          <p:cNvSpPr>
            <a:spLocks noGrp="1"/>
          </p:cNvSpPr>
          <p:nvPr/>
        </p:nvSpPr>
        <p:spPr>
          <a:xfrm>
            <a:off x="6572250" y="4191000"/>
            <a:ext cx="2571750" cy="81915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FCF4FE-61DC-4FCD-9362-A7D1848634A9}"/>
              </a:ext>
            </a:extLst>
          </p:cNvPr>
          <p:cNvSpPr>
            <a:spLocks noGrp="1"/>
          </p:cNvSpPr>
          <p:nvPr/>
        </p:nvSpPr>
        <p:spPr>
          <a:xfrm>
            <a:off x="6724650" y="43243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Few-shot learning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712657-BDDB-48E5-8F0F-3A12C04D53A0}"/>
              </a:ext>
            </a:extLst>
          </p:cNvPr>
          <p:cNvSpPr>
            <a:spLocks noGrp="1"/>
          </p:cNvSpPr>
          <p:nvPr/>
        </p:nvSpPr>
        <p:spPr>
          <a:xfrm>
            <a:off x="6724650" y="45910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useful when labels are scarce</a:t>
            </a:r>
          </a:p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competitive at lower cost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D4BB0B-EEB6-4301-90CB-F4B7415A9D1B}"/>
              </a:ext>
            </a:extLst>
          </p:cNvPr>
          <p:cNvSpPr>
            <a:spLocks noGrp="1"/>
          </p:cNvSpPr>
          <p:nvPr/>
        </p:nvSpPr>
        <p:spPr>
          <a:xfrm>
            <a:off x="6572250" y="4191000"/>
            <a:ext cx="2571750" cy="47625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F46076-A687-4943-B7B1-756DB50356BB}"/>
              </a:ext>
            </a:extLst>
          </p:cNvPr>
          <p:cNvSpPr>
            <a:spLocks noGrp="1"/>
          </p:cNvSpPr>
          <p:nvPr/>
        </p:nvSpPr>
        <p:spPr>
          <a:xfrm>
            <a:off x="2647950" y="3048000"/>
            <a:ext cx="2571750" cy="819150"/>
          </a:xfrm>
          <a:prstGeom prst="rect">
            <a:avLst/>
          </a:prstGeom>
          <a:solidFill>
            <a:srgbClr val="F1E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148487-6E20-4AE0-A7A3-63E988D856DA}"/>
              </a:ext>
            </a:extLst>
          </p:cNvPr>
          <p:cNvSpPr>
            <a:spLocks noGrp="1"/>
          </p:cNvSpPr>
          <p:nvPr/>
        </p:nvSpPr>
        <p:spPr>
          <a:xfrm>
            <a:off x="2800350" y="31813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Testing agents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756B3D-8F0F-4EE6-ACA7-813CFFFE0BB5}"/>
              </a:ext>
            </a:extLst>
          </p:cNvPr>
          <p:cNvSpPr>
            <a:spLocks noGrp="1"/>
          </p:cNvSpPr>
          <p:nvPr/>
        </p:nvSpPr>
        <p:spPr>
          <a:xfrm>
            <a:off x="2800350" y="34480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plan, run, observe, revise</a:t>
            </a:r>
          </a:p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needs tool integration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D4C98B8-93CF-4941-9EBB-56C5B343D33E}"/>
              </a:ext>
            </a:extLst>
          </p:cNvPr>
          <p:cNvSpPr>
            <a:spLocks noGrp="1"/>
          </p:cNvSpPr>
          <p:nvPr/>
        </p:nvSpPr>
        <p:spPr>
          <a:xfrm>
            <a:off x="2647950" y="3048000"/>
            <a:ext cx="2571750" cy="47625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5B9DFD-4D45-4A8C-A8C8-4BD5A71205B1}"/>
              </a:ext>
            </a:extLst>
          </p:cNvPr>
          <p:cNvSpPr>
            <a:spLocks noGrp="1"/>
          </p:cNvSpPr>
          <p:nvPr/>
        </p:nvSpPr>
        <p:spPr>
          <a:xfrm>
            <a:off x="6572250" y="3048000"/>
            <a:ext cx="2571750" cy="819150"/>
          </a:xfrm>
          <a:prstGeom prst="rect">
            <a:avLst/>
          </a:prstGeom>
          <a:solidFill>
            <a:srgbClr val="E5D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D259B6-62D0-4E7C-81D2-CB1574AC11E1}"/>
              </a:ext>
            </a:extLst>
          </p:cNvPr>
          <p:cNvSpPr>
            <a:spLocks noGrp="1"/>
          </p:cNvSpPr>
          <p:nvPr/>
        </p:nvSpPr>
        <p:spPr>
          <a:xfrm>
            <a:off x="6724650" y="31813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DB0BFE-ABA8-40C3-A1EA-5D7CDE8F7323}"/>
              </a:ext>
            </a:extLst>
          </p:cNvPr>
          <p:cNvSpPr>
            <a:spLocks noGrp="1"/>
          </p:cNvSpPr>
          <p:nvPr/>
        </p:nvSpPr>
        <p:spPr>
          <a:xfrm>
            <a:off x="6724650" y="34480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best when task data exists</a:t>
            </a:r>
          </a:p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benchmark-heavy evidence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0B6618-C12D-4593-BF08-367E184DFFB6}"/>
              </a:ext>
            </a:extLst>
          </p:cNvPr>
          <p:cNvSpPr>
            <a:spLocks noGrp="1"/>
          </p:cNvSpPr>
          <p:nvPr/>
        </p:nvSpPr>
        <p:spPr>
          <a:xfrm>
            <a:off x="6572250" y="3048000"/>
            <a:ext cx="2571750" cy="47625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B4695A1-3E0A-4F50-9B79-DA2FAABDF0BA}"/>
              </a:ext>
            </a:extLst>
          </p:cNvPr>
          <p:cNvSpPr>
            <a:spLocks noGrp="1"/>
          </p:cNvSpPr>
          <p:nvPr/>
        </p:nvSpPr>
        <p:spPr>
          <a:xfrm>
            <a:off x="552450" y="5734050"/>
            <a:ext cx="1390650" cy="26670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0B39CE5-84FF-497B-B9B7-AE358E7150B2}"/>
              </a:ext>
            </a:extLst>
          </p:cNvPr>
          <p:cNvSpPr>
            <a:spLocks noGrp="1"/>
          </p:cNvSpPr>
          <p:nvPr/>
        </p:nvSpPr>
        <p:spPr>
          <a:xfrm>
            <a:off x="647700" y="5791200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DESIGN LESSON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33015D-5827-4FDF-B875-106CE63A5F3A}"/>
              </a:ext>
            </a:extLst>
          </p:cNvPr>
          <p:cNvSpPr>
            <a:spLocks noGrp="1"/>
          </p:cNvSpPr>
          <p:nvPr/>
        </p:nvSpPr>
        <p:spPr>
          <a:xfrm>
            <a:off x="2095500" y="5743575"/>
            <a:ext cx="781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For thesis work, model choice is less important than controlling context, repository state, and validation mode.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40B94A8-EBF6-4076-8CA1-74CF5E616CA8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6EDD883-1E3B-4C63-AEF7-342992B8A543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3862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C7C1494F-7B01-4CA6-BF0F-B9B91B2BBC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88D86E9F-F806-4A39-BE46-DAFAB17E5266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9C8317EC-B3E6-4E5A-9F3F-168AA1C9F727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RQ4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35E548-2044-412A-986D-B3B46AA67453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Evaluation remains concentrated in benchmarks and isolated tasks.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068FEA-660E-46FD-9C71-7D063E2B8F44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studies report useful metrics, but the strongest evidence often stops before messy repository-level workflows.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90BC8B-84E2-4F5D-B037-5DD43BFE1DD5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Fault localization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DCD476-EE22-40BA-BDED-23385B0813A8}"/>
              </a:ext>
            </a:extLst>
          </p:cNvPr>
          <p:cNvSpPr>
            <a:spLocks noGrp="1"/>
          </p:cNvSpPr>
          <p:nvPr/>
        </p:nvSpPr>
        <p:spPr>
          <a:xfrm>
            <a:off x="2724150" y="28956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Defects4J, Space, Siemens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B161F2-F66B-46E6-9DE1-53F74FF67AB6}"/>
              </a:ext>
            </a:extLst>
          </p:cNvPr>
          <p:cNvSpPr>
            <a:spLocks noGrp="1"/>
          </p:cNvSpPr>
          <p:nvPr/>
        </p:nvSpPr>
        <p:spPr>
          <a:xfrm>
            <a:off x="5886450" y="2924175"/>
            <a:ext cx="3067050" cy="1333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CC76ED-7E46-4FB5-A936-D1D097B6BC6E}"/>
              </a:ext>
            </a:extLst>
          </p:cNvPr>
          <p:cNvSpPr>
            <a:spLocks noGrp="1"/>
          </p:cNvSpPr>
          <p:nvPr/>
        </p:nvSpPr>
        <p:spPr>
          <a:xfrm>
            <a:off x="5886450" y="2924175"/>
            <a:ext cx="2576322" cy="1333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EC64D3-E65C-4EEC-A11E-F6324FA7705E}"/>
              </a:ext>
            </a:extLst>
          </p:cNvPr>
          <p:cNvSpPr>
            <a:spLocks noGrp="1"/>
          </p:cNvSpPr>
          <p:nvPr/>
        </p:nvSpPr>
        <p:spPr>
          <a:xfrm>
            <a:off x="920115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Top-k, diagnostic accuracy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9CB658-B8B7-4A47-952C-96F2BCDD1861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516BC4-2620-4843-BA6A-41839DECB64C}"/>
              </a:ext>
            </a:extLst>
          </p:cNvPr>
          <p:cNvSpPr>
            <a:spLocks noGrp="1"/>
          </p:cNvSpPr>
          <p:nvPr/>
        </p:nvSpPr>
        <p:spPr>
          <a:xfrm>
            <a:off x="2724150" y="35433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IDoFT, FlakyCat, GitHub projects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7B64C9-ABDD-4135-B3E1-5DAE222BA856}"/>
              </a:ext>
            </a:extLst>
          </p:cNvPr>
          <p:cNvSpPr>
            <a:spLocks noGrp="1"/>
          </p:cNvSpPr>
          <p:nvPr/>
        </p:nvSpPr>
        <p:spPr>
          <a:xfrm>
            <a:off x="5886450" y="3571875"/>
            <a:ext cx="3067050" cy="1333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E9BAC4-B8BC-4C21-B1F9-CD752DD3566A}"/>
              </a:ext>
            </a:extLst>
          </p:cNvPr>
          <p:cNvSpPr>
            <a:spLocks noGrp="1"/>
          </p:cNvSpPr>
          <p:nvPr/>
        </p:nvSpPr>
        <p:spPr>
          <a:xfrm>
            <a:off x="5886450" y="3571875"/>
            <a:ext cx="2085594" cy="1333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8CFAAC-07F6-4B90-8131-7C161A3A4A66}"/>
              </a:ext>
            </a:extLst>
          </p:cNvPr>
          <p:cNvSpPr>
            <a:spLocks noGrp="1"/>
          </p:cNvSpPr>
          <p:nvPr/>
        </p:nvSpPr>
        <p:spPr>
          <a:xfrm>
            <a:off x="9201150" y="35433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F1, repair quality, detected tests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5E831A-3856-4D67-B5E9-4C4E2E729849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Vulnerability detection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B2C82A-A5A6-481D-A0B9-CE2B1EF15B9C}"/>
              </a:ext>
            </a:extLst>
          </p:cNvPr>
          <p:cNvSpPr>
            <a:spLocks noGrp="1"/>
          </p:cNvSpPr>
          <p:nvPr/>
        </p:nvSpPr>
        <p:spPr>
          <a:xfrm>
            <a:off x="2724150" y="41910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OWASP, Juliet, CVEFixes, PrimeVul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A3C70B-B32C-441D-A150-B0EBC6602FCD}"/>
              </a:ext>
            </a:extLst>
          </p:cNvPr>
          <p:cNvSpPr>
            <a:spLocks noGrp="1"/>
          </p:cNvSpPr>
          <p:nvPr/>
        </p:nvSpPr>
        <p:spPr>
          <a:xfrm>
            <a:off x="5886450" y="4219575"/>
            <a:ext cx="3067050" cy="1333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C616A8-CE97-4840-B84D-7F1CC5AB7125}"/>
              </a:ext>
            </a:extLst>
          </p:cNvPr>
          <p:cNvSpPr>
            <a:spLocks noGrp="1"/>
          </p:cNvSpPr>
          <p:nvPr/>
        </p:nvSpPr>
        <p:spPr>
          <a:xfrm>
            <a:off x="5886450" y="4219575"/>
            <a:ext cx="2208276" cy="1333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87D075-F468-4E85-AC0F-8BCA3B91809A}"/>
              </a:ext>
            </a:extLst>
          </p:cNvPr>
          <p:cNvSpPr>
            <a:spLocks noGrp="1"/>
          </p:cNvSpPr>
          <p:nvPr/>
        </p:nvSpPr>
        <p:spPr>
          <a:xfrm>
            <a:off x="9201150" y="4191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Accuracy, F1, class-wise results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A2B53F-CF13-4095-AA0C-8A3AAA332B1E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test repair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57D85E-10D2-4D36-A6F7-641612C105E3}"/>
              </a:ext>
            </a:extLst>
          </p:cNvPr>
          <p:cNvSpPr>
            <a:spLocks noGrp="1"/>
          </p:cNvSpPr>
          <p:nvPr/>
        </p:nvSpPr>
        <p:spPr>
          <a:xfrm>
            <a:off x="2724150" y="48387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139 broken Selenium statements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596711-EA2D-4E3D-90DF-FED24EC57B0A}"/>
              </a:ext>
            </a:extLst>
          </p:cNvPr>
          <p:cNvSpPr>
            <a:spLocks noGrp="1"/>
          </p:cNvSpPr>
          <p:nvPr/>
        </p:nvSpPr>
        <p:spPr>
          <a:xfrm>
            <a:off x="5886450" y="4867275"/>
            <a:ext cx="3067050" cy="1333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5CE766-E3B4-4143-A22F-BDA4828D66B3}"/>
              </a:ext>
            </a:extLst>
          </p:cNvPr>
          <p:cNvSpPr>
            <a:spLocks noGrp="1"/>
          </p:cNvSpPr>
          <p:nvPr/>
        </p:nvSpPr>
        <p:spPr>
          <a:xfrm>
            <a:off x="5886450" y="4867275"/>
            <a:ext cx="1656207" cy="1333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CF685A-E93D-4A07-9F5A-1BBEC8EEBA34}"/>
              </a:ext>
            </a:extLst>
          </p:cNvPr>
          <p:cNvSpPr>
            <a:spLocks noGrp="1"/>
          </p:cNvSpPr>
          <p:nvPr/>
        </p:nvSpPr>
        <p:spPr>
          <a:xfrm>
            <a:off x="9201150" y="48387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matching accuracy, repair success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6BCFDF-CC7D-464D-BD41-7560E5EC03CE}"/>
              </a:ext>
            </a:extLst>
          </p:cNvPr>
          <p:cNvSpPr>
            <a:spLocks noGrp="1"/>
          </p:cNvSpPr>
          <p:nvPr/>
        </p:nvSpPr>
        <p:spPr>
          <a:xfrm>
            <a:off x="6705600" y="5219700"/>
            <a:ext cx="4057650" cy="68580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9E254A-1F41-4CA8-BAD0-0E6C7DEBED67}"/>
              </a:ext>
            </a:extLst>
          </p:cNvPr>
          <p:cNvSpPr>
            <a:spLocks noGrp="1"/>
          </p:cNvSpPr>
          <p:nvPr/>
        </p:nvSpPr>
        <p:spPr>
          <a:xfrm>
            <a:off x="6934200" y="53911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Missing evidence layer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405087-DEFD-41D5-B367-6485634F576B}"/>
              </a:ext>
            </a:extLst>
          </p:cNvPr>
          <p:cNvSpPr>
            <a:spLocks noGrp="1"/>
          </p:cNvSpPr>
          <p:nvPr/>
        </p:nvSpPr>
        <p:spPr>
          <a:xfrm>
            <a:off x="6934200" y="5657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real bug reports + source context + repo history + verified fixing commits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B91298-1604-4F16-AA67-4E6ACB00584F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Bar length encodes relative benchmark concentration in the review, not a measured statistic.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EFF7460-195A-405B-BAE9-9759F1D0DC7B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7C1A19-5C33-4419-B193-A093BAAA197C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36845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95502A1F-1001-49B8-B21C-DF87ECB5DF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36F37551-06AE-4043-80F4-C54441BF56A9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03853A45-AA76-467C-90CE-680A18093199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RQ5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4673D5-2B54-4D28-964C-5FA10C2BECD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382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Practical deployment depends on repository workflow, not just model reasoning.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87EA93-76A4-45EE-8119-FB0DF29A235A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695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ExecutionAgent-style work shows that running tests in arbitrary projects is itself a research problem.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C5724A-E17D-4F82-8FA3-94B61CEDDF8E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8058150" cy="400050"/>
          </a:xfrm>
          <a:prstGeom prst="rect">
            <a:avLst/>
          </a:prstGeom>
          <a:solidFill>
            <a:srgbClr val="DEE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0475AF-5350-470F-88C7-64CA921502D5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8058150" cy="3810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A73562-73FF-412B-9989-6B2B0A84E772}"/>
              </a:ext>
            </a:extLst>
          </p:cNvPr>
          <p:cNvSpPr>
            <a:spLocks noGrp="1"/>
          </p:cNvSpPr>
          <p:nvPr/>
        </p:nvSpPr>
        <p:spPr>
          <a:xfrm>
            <a:off x="1581150" y="2933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Bug report / failure signal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9F44F5-640B-47A6-B7C0-4D2B0162016E}"/>
              </a:ext>
            </a:extLst>
          </p:cNvPr>
          <p:cNvSpPr>
            <a:spLocks noGrp="1"/>
          </p:cNvSpPr>
          <p:nvPr/>
        </p:nvSpPr>
        <p:spPr>
          <a:xfrm>
            <a:off x="5010150" y="293370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natural language, logs, failing behavior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6C73B9-70E0-4DA8-B99E-3A8C92D6F740}"/>
              </a:ext>
            </a:extLst>
          </p:cNvPr>
          <p:cNvSpPr>
            <a:spLocks noGrp="1"/>
          </p:cNvSpPr>
          <p:nvPr/>
        </p:nvSpPr>
        <p:spPr>
          <a:xfrm>
            <a:off x="1714500" y="3390900"/>
            <a:ext cx="7410450" cy="40005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CDE0AE-4944-422A-9C16-123C055C4C1D}"/>
              </a:ext>
            </a:extLst>
          </p:cNvPr>
          <p:cNvSpPr>
            <a:spLocks noGrp="1"/>
          </p:cNvSpPr>
          <p:nvPr/>
        </p:nvSpPr>
        <p:spPr>
          <a:xfrm>
            <a:off x="1714500" y="3390900"/>
            <a:ext cx="74104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69DEF3-9A3A-4C9B-BF41-1D6F6DF7AF52}"/>
              </a:ext>
            </a:extLst>
          </p:cNvPr>
          <p:cNvSpPr>
            <a:spLocks noGrp="1"/>
          </p:cNvSpPr>
          <p:nvPr/>
        </p:nvSpPr>
        <p:spPr>
          <a:xfrm>
            <a:off x="1905000" y="34861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Repository checkout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5408BF-32BF-49DA-89DC-38FDEE9FA9ED}"/>
              </a:ext>
            </a:extLst>
          </p:cNvPr>
          <p:cNvSpPr>
            <a:spLocks noGrp="1"/>
          </p:cNvSpPr>
          <p:nvPr/>
        </p:nvSpPr>
        <p:spPr>
          <a:xfrm>
            <a:off x="5010150" y="348615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correct commit, dependencies, local config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F99E8B-3B13-431F-909C-D2FCC7F1E563}"/>
              </a:ext>
            </a:extLst>
          </p:cNvPr>
          <p:cNvSpPr>
            <a:spLocks noGrp="1"/>
          </p:cNvSpPr>
          <p:nvPr/>
        </p:nvSpPr>
        <p:spPr>
          <a:xfrm>
            <a:off x="2038350" y="3943350"/>
            <a:ext cx="6762750" cy="400050"/>
          </a:xfrm>
          <a:prstGeom prst="rect">
            <a:avLst/>
          </a:prstGeom>
          <a:solidFill>
            <a:srgbClr val="F1E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E45AAB-1FAA-4B66-93CC-F6F1B619CA94}"/>
              </a:ext>
            </a:extLst>
          </p:cNvPr>
          <p:cNvSpPr>
            <a:spLocks noGrp="1"/>
          </p:cNvSpPr>
          <p:nvPr/>
        </p:nvSpPr>
        <p:spPr>
          <a:xfrm>
            <a:off x="2038350" y="3943350"/>
            <a:ext cx="67627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B6BB5A-A266-4FBD-97AC-1CF27F85A239}"/>
              </a:ext>
            </a:extLst>
          </p:cNvPr>
          <p:cNvSpPr>
            <a:spLocks noGrp="1"/>
          </p:cNvSpPr>
          <p:nvPr/>
        </p:nvSpPr>
        <p:spPr>
          <a:xfrm>
            <a:off x="2228850" y="40386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Build and test execution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49C12F-D199-462C-9BCB-2B86C114872D}"/>
              </a:ext>
            </a:extLst>
          </p:cNvPr>
          <p:cNvSpPr>
            <a:spLocks noGrp="1"/>
          </p:cNvSpPr>
          <p:nvPr/>
        </p:nvSpPr>
        <p:spPr>
          <a:xfrm>
            <a:off x="5010150" y="403860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install, compile, run, observe failures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677D6A-8E66-46A8-886D-D856DEF67007}"/>
              </a:ext>
            </a:extLst>
          </p:cNvPr>
          <p:cNvSpPr>
            <a:spLocks noGrp="1"/>
          </p:cNvSpPr>
          <p:nvPr/>
        </p:nvSpPr>
        <p:spPr>
          <a:xfrm>
            <a:off x="2362200" y="4495800"/>
            <a:ext cx="6115050" cy="400050"/>
          </a:xfrm>
          <a:prstGeom prst="rect">
            <a:avLst/>
          </a:prstGeom>
          <a:solidFill>
            <a:srgbClr val="E5D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E3AA2B-7B0D-4803-A2AB-9B0E3CFBD360}"/>
              </a:ext>
            </a:extLst>
          </p:cNvPr>
          <p:cNvSpPr>
            <a:spLocks noGrp="1"/>
          </p:cNvSpPr>
          <p:nvPr/>
        </p:nvSpPr>
        <p:spPr>
          <a:xfrm>
            <a:off x="2362200" y="4495800"/>
            <a:ext cx="6115050" cy="3810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7E02AE-721D-47F6-975B-EA9D252F3B21}"/>
              </a:ext>
            </a:extLst>
          </p:cNvPr>
          <p:cNvSpPr>
            <a:spLocks noGrp="1"/>
          </p:cNvSpPr>
          <p:nvPr/>
        </p:nvSpPr>
        <p:spPr>
          <a:xfrm>
            <a:off x="2552700" y="45910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 selection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3633FE-F76E-46D9-A9E1-095A5CDF30E3}"/>
              </a:ext>
            </a:extLst>
          </p:cNvPr>
          <p:cNvSpPr>
            <a:spLocks noGrp="1"/>
          </p:cNvSpPr>
          <p:nvPr/>
        </p:nvSpPr>
        <p:spPr>
          <a:xfrm>
            <a:off x="5010150" y="459105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files, stack traces, issue history, prior fixes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F9F53F-2175-4814-BBF0-32569BA9FC4B}"/>
              </a:ext>
            </a:extLst>
          </p:cNvPr>
          <p:cNvSpPr>
            <a:spLocks noGrp="1"/>
          </p:cNvSpPr>
          <p:nvPr/>
        </p:nvSpPr>
        <p:spPr>
          <a:xfrm>
            <a:off x="2686050" y="5048250"/>
            <a:ext cx="5467350" cy="400050"/>
          </a:xfrm>
          <a:prstGeom prst="rect">
            <a:avLst/>
          </a:prstGeom>
          <a:solidFill>
            <a:srgbClr val="EA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AD3994-2679-489F-8642-2B58CCA01318}"/>
              </a:ext>
            </a:extLst>
          </p:cNvPr>
          <p:cNvSpPr>
            <a:spLocks noGrp="1"/>
          </p:cNvSpPr>
          <p:nvPr/>
        </p:nvSpPr>
        <p:spPr>
          <a:xfrm>
            <a:off x="2686050" y="5048250"/>
            <a:ext cx="5467350" cy="3810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173C3-F514-4AA3-8A3A-46AEA2B671AD}"/>
              </a:ext>
            </a:extLst>
          </p:cNvPr>
          <p:cNvSpPr>
            <a:spLocks noGrp="1"/>
          </p:cNvSpPr>
          <p:nvPr/>
        </p:nvSpPr>
        <p:spPr>
          <a:xfrm>
            <a:off x="2876550" y="51435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Localization and validation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544B5B-9375-4459-AC88-18BE7B56B577}"/>
              </a:ext>
            </a:extLst>
          </p:cNvPr>
          <p:cNvSpPr>
            <a:spLocks noGrp="1"/>
          </p:cNvSpPr>
          <p:nvPr/>
        </p:nvSpPr>
        <p:spPr>
          <a:xfrm>
            <a:off x="5010150" y="514350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rank suspicious files/methods, verify by fix commit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80E0D5-3155-47F9-AFB7-4C145B65815D}"/>
              </a:ext>
            </a:extLst>
          </p:cNvPr>
          <p:cNvSpPr>
            <a:spLocks noGrp="1"/>
          </p:cNvSpPr>
          <p:nvPr/>
        </p:nvSpPr>
        <p:spPr>
          <a:xfrm>
            <a:off x="9620250" y="2876550"/>
            <a:ext cx="1657350" cy="220980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A1FD5D-C845-4FC8-8E78-6AB89B7A7062}"/>
              </a:ext>
            </a:extLst>
          </p:cNvPr>
          <p:cNvSpPr>
            <a:spLocks noGrp="1"/>
          </p:cNvSpPr>
          <p:nvPr/>
        </p:nvSpPr>
        <p:spPr>
          <a:xfrm>
            <a:off x="9810750" y="3086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shift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7C1945-47CB-4CA4-B24D-A6DAF93C31CE}"/>
              </a:ext>
            </a:extLst>
          </p:cNvPr>
          <p:cNvSpPr>
            <a:spLocks noGrp="1"/>
          </p:cNvSpPr>
          <p:nvPr/>
        </p:nvSpPr>
        <p:spPr>
          <a:xfrm>
            <a:off x="9810750" y="3429000"/>
            <a:ext cx="12192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from code-only prediction to repository-level workflow evaluation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06939E-A709-429A-B2DE-0A4473F78897}"/>
              </a:ext>
            </a:extLst>
          </p:cNvPr>
          <p:cNvSpPr>
            <a:spLocks noGrp="1"/>
          </p:cNvSpPr>
          <p:nvPr/>
        </p:nvSpPr>
        <p:spPr>
          <a:xfrm>
            <a:off x="9810750" y="4514850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This makes the thesis contribution testable.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32EE49-686B-4E8B-BAD6-EF98441C3EC3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6E8C9B-28DD-4335-9EC0-D919FFE52965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1424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D5BC4C0-F97F-44CB-A382-0628428071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0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AE3D3BC-98CD-4CFC-8B71-FB0E8B5E67EC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305136CC-A6A5-43CA-BC23-1ECD4E6FA953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DD"/>
                </a:solidFill>
                <a:latin typeface="Aptos"/>
                <a:ea typeface="Aptos"/>
                <a:cs typeface="Aptos"/>
              </a:rPr>
              <a:t>PRACTICAL REFERENCE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2A5C68-FE6E-4BBF-9753-29FA0916052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28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Glasswing suggests an agent-plus-verifier pattern, but not yet for ordinary bugs.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A26B73-29F4-4F9E-BDB4-7DBDDFCA631B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8096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In the literature study, Glasswing/Mythos is useful as an industry reference, but it should be framed as grey literature outside the 25 peer-reviewed primary studies.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0D8708-4091-4D46-B0B0-53AF6A859BCF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2419350" cy="914400"/>
          </a:xfrm>
          <a:prstGeom prst="rect">
            <a:avLst/>
          </a:prstGeom>
          <a:solidFill>
            <a:srgbClr val="26313A"/>
          </a:solidFill>
          <a:ln w="9525">
            <a:solidFill>
              <a:srgbClr val="5664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676300-99AD-4BF6-A1E2-1105ACCA9CE8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repository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427166-BAD2-4126-86F7-0E4D43637DAA}"/>
              </a:ext>
            </a:extLst>
          </p:cNvPr>
          <p:cNvSpPr>
            <a:spLocks noGrp="1"/>
          </p:cNvSpPr>
          <p:nvPr/>
        </p:nvSpPr>
        <p:spPr>
          <a:xfrm>
            <a:off x="1028700" y="38100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source code + runtime container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E3FA80-1C3F-407A-9276-8AE42566E034}"/>
              </a:ext>
            </a:extLst>
          </p:cNvPr>
          <p:cNvSpPr>
            <a:spLocks noGrp="1"/>
          </p:cNvSpPr>
          <p:nvPr/>
        </p:nvSpPr>
        <p:spPr>
          <a:xfrm>
            <a:off x="3429000" y="3609975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7A85B6-05F3-48D2-8156-69C5AD158FA0}"/>
              </a:ext>
            </a:extLst>
          </p:cNvPr>
          <p:cNvSpPr>
            <a:spLocks noGrp="1"/>
          </p:cNvSpPr>
          <p:nvPr/>
        </p:nvSpPr>
        <p:spPr>
          <a:xfrm>
            <a:off x="3981450" y="3276600"/>
            <a:ext cx="2514600" cy="914400"/>
          </a:xfrm>
          <a:prstGeom prst="rect">
            <a:avLst/>
          </a:prstGeom>
          <a:solidFill>
            <a:srgbClr val="26313A"/>
          </a:solidFill>
          <a:ln w="9525">
            <a:solidFill>
              <a:srgbClr val="5664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FEC7DC-6CCC-4C59-9FF5-5241E4B1669B}"/>
              </a:ext>
            </a:extLst>
          </p:cNvPr>
          <p:cNvSpPr>
            <a:spLocks noGrp="1"/>
          </p:cNvSpPr>
          <p:nvPr/>
        </p:nvSpPr>
        <p:spPr>
          <a:xfrm>
            <a:off x="4210050" y="34861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Discovery agent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ECDAB1-3DE3-480D-961E-E74C77DE1C27}"/>
              </a:ext>
            </a:extLst>
          </p:cNvPr>
          <p:cNvSpPr>
            <a:spLocks noGrp="1"/>
          </p:cNvSpPr>
          <p:nvPr/>
        </p:nvSpPr>
        <p:spPr>
          <a:xfrm>
            <a:off x="4210050" y="381000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read, hypothesize, run, report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057257-E9BE-4546-86AE-CE98613BD605}"/>
              </a:ext>
            </a:extLst>
          </p:cNvPr>
          <p:cNvSpPr>
            <a:spLocks noGrp="1"/>
          </p:cNvSpPr>
          <p:nvPr/>
        </p:nvSpPr>
        <p:spPr>
          <a:xfrm>
            <a:off x="6705600" y="3609975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29F0CE-0970-4E76-AC6E-D769DE36B8BA}"/>
              </a:ext>
            </a:extLst>
          </p:cNvPr>
          <p:cNvSpPr>
            <a:spLocks noGrp="1"/>
          </p:cNvSpPr>
          <p:nvPr/>
        </p:nvSpPr>
        <p:spPr>
          <a:xfrm>
            <a:off x="7258050" y="3276600"/>
            <a:ext cx="2514600" cy="914400"/>
          </a:xfrm>
          <a:prstGeom prst="rect">
            <a:avLst/>
          </a:prstGeom>
          <a:solidFill>
            <a:srgbClr val="26313A"/>
          </a:solidFill>
          <a:ln w="9525">
            <a:solidFill>
              <a:srgbClr val="5664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D0EB47-C890-4184-B582-AC811AC655A0}"/>
              </a:ext>
            </a:extLst>
          </p:cNvPr>
          <p:cNvSpPr>
            <a:spLocks noGrp="1"/>
          </p:cNvSpPr>
          <p:nvPr/>
        </p:nvSpPr>
        <p:spPr>
          <a:xfrm>
            <a:off x="7486650" y="3486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verifier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7E3D93-C3B4-4122-B349-D283C0718288}"/>
              </a:ext>
            </a:extLst>
          </p:cNvPr>
          <p:cNvSpPr>
            <a:spLocks noGrp="1"/>
          </p:cNvSpPr>
          <p:nvPr/>
        </p:nvSpPr>
        <p:spPr>
          <a:xfrm>
            <a:off x="7486650" y="38100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check impact and reproducibility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C53F87-B7D2-4F43-93C5-610638524762}"/>
              </a:ext>
            </a:extLst>
          </p:cNvPr>
          <p:cNvSpPr>
            <a:spLocks noGrp="1"/>
          </p:cNvSpPr>
          <p:nvPr/>
        </p:nvSpPr>
        <p:spPr>
          <a:xfrm>
            <a:off x="9982200" y="3609975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F087D0-3258-4C34-B01C-2133AA079D7E}"/>
              </a:ext>
            </a:extLst>
          </p:cNvPr>
          <p:cNvSpPr>
            <a:spLocks noGrp="1"/>
          </p:cNvSpPr>
          <p:nvPr/>
        </p:nvSpPr>
        <p:spPr>
          <a:xfrm>
            <a:off x="10534650" y="3276600"/>
            <a:ext cx="1123950" cy="914400"/>
          </a:xfrm>
          <a:prstGeom prst="rect">
            <a:avLst/>
          </a:prstGeom>
          <a:solidFill>
            <a:srgbClr val="3A2F25"/>
          </a:solidFill>
          <a:ln w="9525">
            <a:solidFill>
              <a:srgbClr val="C07A2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6984D17-502D-4F66-A2D0-2B6F12F52E10}"/>
              </a:ext>
            </a:extLst>
          </p:cNvPr>
          <p:cNvSpPr>
            <a:spLocks noGrp="1"/>
          </p:cNvSpPr>
          <p:nvPr/>
        </p:nvSpPr>
        <p:spPr>
          <a:xfrm>
            <a:off x="10744200" y="35433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22B0D7-02BD-48B4-93AA-BE80A23559C0}"/>
              </a:ext>
            </a:extLst>
          </p:cNvPr>
          <p:cNvSpPr>
            <a:spLocks noGrp="1"/>
          </p:cNvSpPr>
          <p:nvPr/>
        </p:nvSpPr>
        <p:spPr>
          <a:xfrm>
            <a:off x="10706100" y="38290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EBD8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EBD8B8"/>
                </a:solidFill>
                <a:latin typeface="Aptos"/>
                <a:ea typeface="Aptos"/>
                <a:cs typeface="Aptos"/>
              </a:rPr>
              <a:t>PoC + steps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1C03B7-4E11-49CE-9C1B-5CBF45174C0D}"/>
              </a:ext>
            </a:extLst>
          </p:cNvPr>
          <p:cNvSpPr>
            <a:spLocks noGrp="1"/>
          </p:cNvSpPr>
          <p:nvPr/>
        </p:nvSpPr>
        <p:spPr>
          <a:xfrm>
            <a:off x="1123950" y="4972050"/>
            <a:ext cx="9810750" cy="9525"/>
          </a:xfrm>
          <a:prstGeom prst="rect">
            <a:avLst/>
          </a:prstGeom>
          <a:solidFill>
            <a:srgbClr val="5664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ED33FD-5C66-4158-B31A-3E02D1699AFF}"/>
              </a:ext>
            </a:extLst>
          </p:cNvPr>
          <p:cNvSpPr>
            <a:spLocks noGrp="1"/>
          </p:cNvSpPr>
          <p:nvPr/>
        </p:nvSpPr>
        <p:spPr>
          <a:xfrm>
            <a:off x="1123950" y="52197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translation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17C137-65A8-44BB-AE06-B6AB4BFD9087}"/>
              </a:ext>
            </a:extLst>
          </p:cNvPr>
          <p:cNvSpPr>
            <a:spLocks noGrp="1"/>
          </p:cNvSpPr>
          <p:nvPr/>
        </p:nvSpPr>
        <p:spPr>
          <a:xfrm>
            <a:off x="2933700" y="51816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Apply the pattern to application-level fault localization: business logic errors, state bugs, API misuse, and data processing failures.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F0713A-8AB2-46A7-901E-7B81FBB0647B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Industry reference: Anthropic Glasswing/Mythos, discussed as grey literature in the PDF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4D2F00-6C13-4C41-993D-28502294482C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599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5F58396-C035-47A0-B803-74CA6AB9BE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DC628F8B-AC90-4C52-A0B0-7203F6ED6EFC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089CF662-ACFD-4D6D-A01B-3463EE48A4AD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2DF1F7-D725-4526-B9D9-6A718B57CBE8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90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Three gaps converge on real-repository LLM fault localization.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AE2A30-FFB8-4AEA-AF06-E7456A7504BA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literature separately covers benchmarks, LLM methods, and agentic security discovery; their intersection remains underexplored.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106C4E-7802-4D5A-9171-498E5F506276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10763250" cy="41910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46749F-727C-4A57-AC13-9F095E440DA9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9C3B78-5628-44AC-8A6E-26D67967039E}"/>
              </a:ext>
            </a:extLst>
          </p:cNvPr>
          <p:cNvSpPr>
            <a:spLocks noGrp="1"/>
          </p:cNvSpPr>
          <p:nvPr/>
        </p:nvSpPr>
        <p:spPr>
          <a:xfrm>
            <a:off x="2324100" y="3048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1819BB-0B23-46C7-9347-0880442156D2}"/>
              </a:ext>
            </a:extLst>
          </p:cNvPr>
          <p:cNvSpPr>
            <a:spLocks noGrp="1"/>
          </p:cNvSpPr>
          <p:nvPr/>
        </p:nvSpPr>
        <p:spPr>
          <a:xfrm>
            <a:off x="7277100" y="3048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 for thesis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9B40F1-8B2D-4CE2-9F54-DEF3579B2B43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10763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8AEBEB-FF85-450E-B7FF-6B30C7FEC1F4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BB27A1-C1E4-48C2-A86E-D6DD832A2B6C}"/>
              </a:ext>
            </a:extLst>
          </p:cNvPr>
          <p:cNvSpPr>
            <a:spLocks noGrp="1"/>
          </p:cNvSpPr>
          <p:nvPr/>
        </p:nvSpPr>
        <p:spPr>
          <a:xfrm>
            <a:off x="2324100" y="35242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LLM-based fault localization lacks real repository-level validation.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5BE13B-2E7D-4EF9-9352-86637C21D08E}"/>
              </a:ext>
            </a:extLst>
          </p:cNvPr>
          <p:cNvSpPr>
            <a:spLocks noGrp="1"/>
          </p:cNvSpPr>
          <p:nvPr/>
        </p:nvSpPr>
        <p:spPr>
          <a:xfrm>
            <a:off x="7277100" y="35242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Build evidence beyond Defects4J-style benchmark settings.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15EA67-661F-4E24-9F2A-1B06AFDDDDA9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76200" cy="7810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5CF5F5-69AC-4804-AC31-B8EC05E23E58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10763250" cy="781050"/>
          </a:xfrm>
          <a:prstGeom prst="rect">
            <a:avLst/>
          </a:prstGeom>
          <a:solidFill>
            <a:srgbClr val="ECE5D7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189977-6345-4F06-A0CC-BEB3E16B125C}"/>
              </a:ext>
            </a:extLst>
          </p:cNvPr>
          <p:cNvSpPr>
            <a:spLocks noGrp="1"/>
          </p:cNvSpPr>
          <p:nvPr/>
        </p:nvSpPr>
        <p:spPr>
          <a:xfrm>
            <a:off x="971550" y="434340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C94F51-317E-47F3-A52E-AF420DF81D44}"/>
              </a:ext>
            </a:extLst>
          </p:cNvPr>
          <p:cNvSpPr>
            <a:spLocks noGrp="1"/>
          </p:cNvSpPr>
          <p:nvPr/>
        </p:nvSpPr>
        <p:spPr>
          <a:xfrm>
            <a:off x="2324100" y="43053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Agentic scaffolds have not been sufficiently applied to ordinary application-level bugs.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2EC3A02-A79B-4D1A-A810-4BF607F6C374}"/>
              </a:ext>
            </a:extLst>
          </p:cNvPr>
          <p:cNvSpPr>
            <a:spLocks noGrp="1"/>
          </p:cNvSpPr>
          <p:nvPr/>
        </p:nvSpPr>
        <p:spPr>
          <a:xfrm>
            <a:off x="7277100" y="430530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Test whether agent workflows transfer beyond security vulnerabilities.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32EF15-E466-4633-A2DB-3E7368A08162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76200" cy="7810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4D9A97-E07D-4C51-B600-CE9F10AC99FC}"/>
              </a:ext>
            </a:extLst>
          </p:cNvPr>
          <p:cNvSpPr>
            <a:spLocks noGrp="1"/>
          </p:cNvSpPr>
          <p:nvPr/>
        </p:nvSpPr>
        <p:spPr>
          <a:xfrm>
            <a:off x="704850" y="4895850"/>
            <a:ext cx="10763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49E57F-22F4-4D4F-825E-64F21800F1B6}"/>
              </a:ext>
            </a:extLst>
          </p:cNvPr>
          <p:cNvSpPr>
            <a:spLocks noGrp="1"/>
          </p:cNvSpPr>
          <p:nvPr/>
        </p:nvSpPr>
        <p:spPr>
          <a:xfrm>
            <a:off x="971550" y="51244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8BBD7D-7690-4CDC-ACEE-1AC4A7008B07}"/>
              </a:ext>
            </a:extLst>
          </p:cNvPr>
          <p:cNvSpPr>
            <a:spLocks noGrp="1"/>
          </p:cNvSpPr>
          <p:nvPr/>
        </p:nvSpPr>
        <p:spPr>
          <a:xfrm>
            <a:off x="2324100" y="50863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Effects of context level and independent verification remain unclear.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24E35C-8CEE-4DF7-BC56-DC5F74EF1B9B}"/>
              </a:ext>
            </a:extLst>
          </p:cNvPr>
          <p:cNvSpPr>
            <a:spLocks noGrp="1"/>
          </p:cNvSpPr>
          <p:nvPr/>
        </p:nvSpPr>
        <p:spPr>
          <a:xfrm>
            <a:off x="7277100" y="50863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Compare prompts and verification modes under controlled conditions.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339DDE-93D7-4BEA-AB37-DF6080A1BB65}"/>
              </a:ext>
            </a:extLst>
          </p:cNvPr>
          <p:cNvSpPr>
            <a:spLocks noGrp="1"/>
          </p:cNvSpPr>
          <p:nvPr/>
        </p:nvSpPr>
        <p:spPr>
          <a:xfrm>
            <a:off x="704850" y="4895850"/>
            <a:ext cx="76200" cy="7810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FDC4D7-AA3B-46B5-9AC0-0631C06BD64E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E4F6CD-E578-4632-A3D3-1FA6B93EBFDB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5330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E9666ECC-3E8E-4A12-B025-FB257AD1C5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60FF26C2-4187-4B54-9716-1E259B461711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E22B6F43-5FCD-46D7-8EB7-3AA88D3795BB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8D3244-AE0C-4E71-AC74-38ACB190EDA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A focused thesis can test context and verification in real repositories.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C4B497-E107-4CDA-BC1A-A8941FC07AD0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8191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Proposed direction: evaluate LLM-based fault localization using real bug reports, source-code context, repository history, and verified bug-fixing commits.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626AA6-D041-49A4-B031-E350765E51E9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270BF6-4B79-4398-9AC2-970CC8BAB21D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752600" cy="571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0C719B-D29F-41A7-8143-5DFAE1C31118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30BE97-B625-437E-A5D3-C32C9AAF38D5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real bug reports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buggy snapshots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fixing commits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725CBF-A371-419A-9748-6599E5AC12B2}"/>
              </a:ext>
            </a:extLst>
          </p:cNvPr>
          <p:cNvSpPr>
            <a:spLocks noGrp="1"/>
          </p:cNvSpPr>
          <p:nvPr/>
        </p:nvSpPr>
        <p:spPr>
          <a:xfrm>
            <a:off x="2438400" y="35814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F81AED-DEDC-43E4-9103-6C0ECF6C7F39}"/>
              </a:ext>
            </a:extLst>
          </p:cNvPr>
          <p:cNvSpPr>
            <a:spLocks noGrp="1"/>
          </p:cNvSpPr>
          <p:nvPr/>
        </p:nvSpPr>
        <p:spPr>
          <a:xfrm>
            <a:off x="2867025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681728-1564-4FE6-BC52-F3776F596964}"/>
              </a:ext>
            </a:extLst>
          </p:cNvPr>
          <p:cNvSpPr>
            <a:spLocks noGrp="1"/>
          </p:cNvSpPr>
          <p:nvPr/>
        </p:nvSpPr>
        <p:spPr>
          <a:xfrm>
            <a:off x="2867025" y="3105150"/>
            <a:ext cx="1752600" cy="571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D7548C-E0D2-448D-B269-044A734F5FA6}"/>
              </a:ext>
            </a:extLst>
          </p:cNvPr>
          <p:cNvSpPr>
            <a:spLocks noGrp="1"/>
          </p:cNvSpPr>
          <p:nvPr/>
        </p:nvSpPr>
        <p:spPr>
          <a:xfrm>
            <a:off x="3019425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00A1D7-747B-469D-93FA-F6120BAC2BC8}"/>
              </a:ext>
            </a:extLst>
          </p:cNvPr>
          <p:cNvSpPr>
            <a:spLocks noGrp="1"/>
          </p:cNvSpPr>
          <p:nvPr/>
        </p:nvSpPr>
        <p:spPr>
          <a:xfrm>
            <a:off x="3019425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report only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stack/logs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code snippets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history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411A4B-5FA7-47F8-A30C-D76DE2D59CCF}"/>
              </a:ext>
            </a:extLst>
          </p:cNvPr>
          <p:cNvSpPr>
            <a:spLocks noGrp="1"/>
          </p:cNvSpPr>
          <p:nvPr/>
        </p:nvSpPr>
        <p:spPr>
          <a:xfrm>
            <a:off x="4676775" y="35814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ADE9C2-73EA-4A7D-9EAC-33D80E483D7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0E9CD3-A111-4353-B826-6E1194D7E485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752600" cy="571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A7523B-DF00-447F-A6D8-1EB38ABADA35}"/>
              </a:ext>
            </a:extLst>
          </p:cNvPr>
          <p:cNvSpPr>
            <a:spLocks noGrp="1"/>
          </p:cNvSpPr>
          <p:nvPr/>
        </p:nvSpPr>
        <p:spPr>
          <a:xfrm>
            <a:off x="5257800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/ 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42EC5B-94D0-476C-A887-DA13169E52C0}"/>
              </a:ext>
            </a:extLst>
          </p:cNvPr>
          <p:cNvSpPr>
            <a:spLocks noGrp="1"/>
          </p:cNvSpPr>
          <p:nvPr/>
        </p:nvSpPr>
        <p:spPr>
          <a:xfrm>
            <a:off x="5257800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rank files or methods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explain evidence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optionally verify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1A8F45-026E-4C3E-9853-9255050406AE}"/>
              </a:ext>
            </a:extLst>
          </p:cNvPr>
          <p:cNvSpPr>
            <a:spLocks noGrp="1"/>
          </p:cNvSpPr>
          <p:nvPr/>
        </p:nvSpPr>
        <p:spPr>
          <a:xfrm>
            <a:off x="6915150" y="35814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2DE40C-D586-4825-9C18-55DAF4D27C24}"/>
              </a:ext>
            </a:extLst>
          </p:cNvPr>
          <p:cNvSpPr>
            <a:spLocks noGrp="1"/>
          </p:cNvSpPr>
          <p:nvPr/>
        </p:nvSpPr>
        <p:spPr>
          <a:xfrm>
            <a:off x="7343775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3060BF-2164-4C38-8FE8-46BB10D352B1}"/>
              </a:ext>
            </a:extLst>
          </p:cNvPr>
          <p:cNvSpPr>
            <a:spLocks noGrp="1"/>
          </p:cNvSpPr>
          <p:nvPr/>
        </p:nvSpPr>
        <p:spPr>
          <a:xfrm>
            <a:off x="7343775" y="3105150"/>
            <a:ext cx="1752600" cy="571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13BA4B-4981-492B-A02D-3EB921560879}"/>
              </a:ext>
            </a:extLst>
          </p:cNvPr>
          <p:cNvSpPr>
            <a:spLocks noGrp="1"/>
          </p:cNvSpPr>
          <p:nvPr/>
        </p:nvSpPr>
        <p:spPr>
          <a:xfrm>
            <a:off x="7496175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61E27E-493C-4C18-9D65-A5F47760EAF1}"/>
              </a:ext>
            </a:extLst>
          </p:cNvPr>
          <p:cNvSpPr>
            <a:spLocks noGrp="1"/>
          </p:cNvSpPr>
          <p:nvPr/>
        </p:nvSpPr>
        <p:spPr>
          <a:xfrm>
            <a:off x="7496175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Top-k hit rate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MRR / recall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ablation by context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1EF5E7C-C7D0-4640-8A16-E7B097BE4F22}"/>
              </a:ext>
            </a:extLst>
          </p:cNvPr>
          <p:cNvSpPr>
            <a:spLocks noGrp="1"/>
          </p:cNvSpPr>
          <p:nvPr/>
        </p:nvSpPr>
        <p:spPr>
          <a:xfrm>
            <a:off x="9153525" y="35814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10806A-3354-4B2D-9640-45CC450C7CB1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4AC04CB-C88F-47CC-9745-787630669629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1752600" cy="571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8EABBA-F7A0-438D-9FFF-2F133854270B}"/>
              </a:ext>
            </a:extLst>
          </p:cNvPr>
          <p:cNvSpPr>
            <a:spLocks noGrp="1"/>
          </p:cNvSpPr>
          <p:nvPr/>
        </p:nvSpPr>
        <p:spPr>
          <a:xfrm>
            <a:off x="9734550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4A77D0-853A-4648-87FF-2303528EF295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which context works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when verification helps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7E038E0-2BBA-4213-A04B-9ABBB77DD4EF}"/>
              </a:ext>
            </a:extLst>
          </p:cNvPr>
          <p:cNvSpPr>
            <a:spLocks noGrp="1"/>
          </p:cNvSpPr>
          <p:nvPr/>
        </p:nvSpPr>
        <p:spPr>
          <a:xfrm>
            <a:off x="1752600" y="5105400"/>
            <a:ext cx="8686800" cy="55245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0959FDF-185F-49BC-8968-A4D4056084E3}"/>
              </a:ext>
            </a:extLst>
          </p:cNvPr>
          <p:cNvSpPr>
            <a:spLocks noGrp="1"/>
          </p:cNvSpPr>
          <p:nvPr/>
        </p:nvSpPr>
        <p:spPr>
          <a:xfrm>
            <a:off x="2000250" y="52959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claim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8C97D3-643C-4F96-A556-898361815DD1}"/>
              </a:ext>
            </a:extLst>
          </p:cNvPr>
          <p:cNvSpPr>
            <a:spLocks noGrp="1"/>
          </p:cNvSpPr>
          <p:nvPr/>
        </p:nvSpPr>
        <p:spPr>
          <a:xfrm>
            <a:off x="3429000" y="52578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The literature supports the thesis problem: LLM testing needs repository-grounded evaluation, not only stronger prompts.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BB6BF8-51B7-4378-A7C9-29D61CA2B43A}"/>
              </a:ext>
            </a:extLst>
          </p:cNvPr>
          <p:cNvSpPr>
            <a:spLocks noGrp="1"/>
          </p:cNvSpPr>
          <p:nvPr/>
        </p:nvSpPr>
        <p:spPr>
          <a:xfrm>
            <a:off x="9906000" y="60579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A536FC5-DF21-434D-A815-38D7BF16C28A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93ED4AA-BC54-4010-9CDD-09420E5A8B39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49140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1341</Words>
  <Application>Microsoft Macintosh PowerPoint</Application>
  <DocSecurity>0</DocSecurity>
  <PresentationFormat>宽屏</PresentationFormat>
  <Paragraphs>273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Mono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Jin, Z. (Ziniu)</cp:lastModifiedBy>
  <cp:revision>2</cp:revision>
  <dcterms:created xsi:type="dcterms:W3CDTF">2026-05-29T19:58:49Z</dcterms:created>
  <dcterms:modified xsi:type="dcterms:W3CDTF">2026-06-01T08:55:07Z</dcterms:modified>
</cp:coreProperties>
</file>