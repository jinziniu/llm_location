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87"/>
    <p:restoredTop sz="94793"/>
  </p:normalViewPr>
  <p:slideViewPr>
    <p:cSldViewPr snapToGrid="0">
      <p:cViewPr varScale="1">
        <p:scale>
          <a:sx n="108" d="100"/>
          <a:sy n="108" d="100"/>
        </p:scale>
        <p:origin x="232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Good afternoon everyone. My name is Ziniu Jin, and today I’m going to present my literature study.</a:t>
            </a:r>
          </a:p>
          <a:p>
            <a:r>
              <a:rPr lang="en-US" sz="1200" dirty="0"/>
              <a:t>The topic is large language models for software testing and fault localization.</a:t>
            </a:r>
          </a:p>
          <a:p>
            <a:r>
              <a:rPr lang="en-US" sz="1200" dirty="0"/>
              <a:t>In this review, I’m mainly trying to answer two questions.</a:t>
            </a:r>
          </a:p>
          <a:p>
            <a:r>
              <a:rPr lang="en-US" sz="1200" dirty="0"/>
              <a:t>The first one is: what kinds of testing problems are discussed in recent software engineering research?</a:t>
            </a:r>
          </a:p>
          <a:p>
            <a:r>
              <a:rPr lang="en-US" sz="1200" dirty="0"/>
              <a:t>And the second one is: how are LLMs being used to help with these problems?</a:t>
            </a:r>
          </a:p>
          <a:p>
            <a:r>
              <a:rPr lang="en-US" sz="1200" dirty="0"/>
              <a:t>So I’m looking at tasks like detecting test problems, analyzing failures, localizing faults, repairing tests, and even using LLM agents for testing workflows.</a:t>
            </a:r>
          </a:p>
          <a:p>
            <a:r>
              <a:rPr lang="en-US" sz="1200" dirty="0"/>
              <a:t>Today, I will focus not only on the findings, but also on the methodology. So I will explain how I searched the literature, how I screened the papers, and how I synthesized the final results.</a:t>
            </a:r>
          </a:p>
          <a:p>
            <a:r>
              <a:rPr lang="en-US" sz="1200" dirty="0"/>
              <a:t>In total, I reviewed 25 primary studies, organized them with 5 research questions, and finally identified 3 main research gaps.</a:t>
            </a:r>
          </a:p>
          <a:p>
            <a:r>
              <a:rPr lang="en-US" sz="1200" dirty="0"/>
              <a:t>These gaps lead to my next thesis direction, which is LLM-based fault localization in real repository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The motivation for this study is that modern software testing is becoming more complex.</a:t>
            </a:r>
          </a:p>
          <a:p>
            <a:r>
              <a:rPr lang="en-US" sz="1200" dirty="0"/>
              <a:t>A testing failure is often not just a simple pass or fail signal.</a:t>
            </a:r>
          </a:p>
          <a:p>
            <a:r>
              <a:rPr lang="en-US" sz="1200" dirty="0"/>
              <a:t>In real projects, failures can depend on many things: the execution environment, shared state, system architecture, CI/CD pipelines, or the testing framework.</a:t>
            </a:r>
          </a:p>
          <a:p>
            <a:r>
              <a:rPr lang="en-US" sz="1200" dirty="0"/>
              <a:t>For example, flaky tests may fail because of asynchronous behavior, concurrency, or test order dependency.</a:t>
            </a:r>
          </a:p>
          <a:p>
            <a:r>
              <a:rPr lang="en-US" sz="1200" dirty="0"/>
              <a:t>UI tests may break because the DOM changes, a locator becomes invalid, or the page loads slightly differently.</a:t>
            </a:r>
          </a:p>
          <a:p>
            <a:r>
              <a:rPr lang="en-US" sz="1200" dirty="0"/>
              <a:t>And in microservice or IoT systems, the situation becomes even more complex, because testing may involve distributed services, devices, protocols, or even team coordination.</a:t>
            </a:r>
          </a:p>
          <a:p>
            <a:r>
              <a:rPr lang="en-US" sz="1200" dirty="0"/>
              <a:t>So the literature is quite fragmented. Some papers study flaky tests. Some study UI repair. Some study fault localization. Some study vulnerability detection. And some study testing agents.</a:t>
            </a:r>
          </a:p>
          <a:p>
            <a:r>
              <a:rPr lang="en-US" sz="1200" dirty="0"/>
              <a:t>That is why I wanted to bring these directions together.</a:t>
            </a:r>
          </a:p>
          <a:p>
            <a:r>
              <a:rPr lang="en-US" sz="1200" dirty="0"/>
              <a:t>The key idea is: if we want to use LLMs for software testing, we should not only ask whether the model understands code. We also need to ask whether it can work with real project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To make the review more systematic, I started with a search protocol.</a:t>
            </a:r>
          </a:p>
          <a:p>
            <a:r>
              <a:rPr lang="en-US" sz="1200" dirty="0"/>
              <a:t>I used academic sources such as IEEE Xplore and ACM Digital Library, and I also used Google Scholar as a supplement.</a:t>
            </a:r>
          </a:p>
          <a:p>
            <a:r>
              <a:rPr lang="en-US" sz="1200" dirty="0"/>
              <a:t>The search terms covered two sides of the topic.</a:t>
            </a:r>
          </a:p>
          <a:p>
            <a:r>
              <a:rPr lang="en-US" sz="1200" dirty="0"/>
              <a:t>On one side, I used software testing terms, such as software testing, flaky test, fault localization, vulnerability detection, UI testing, and automation.</a:t>
            </a:r>
          </a:p>
          <a:p>
            <a:r>
              <a:rPr lang="en-US" sz="1200" dirty="0"/>
              <a:t>On the other side, I used LLM-related terms, such as large language model and LLM.</a:t>
            </a:r>
          </a:p>
          <a:p>
            <a:r>
              <a:rPr lang="en-US" sz="1200" dirty="0"/>
              <a:t>Then I combined these terms using Boolean search.</a:t>
            </a:r>
          </a:p>
          <a:p>
            <a:r>
              <a:rPr lang="en-US" sz="1200" dirty="0"/>
              <a:t>For example, I searched for combinations like “flaky test and LLM”, “fault localization and LLM”, and “security testing and LLM”.</a:t>
            </a:r>
          </a:p>
          <a:p>
            <a:r>
              <a:rPr lang="en-US" sz="1200" dirty="0"/>
              <a:t>The main point here is that the corpus was not chosen randomly.</a:t>
            </a:r>
          </a:p>
          <a:p>
            <a:r>
              <a:rPr lang="en-US" sz="1200" dirty="0"/>
              <a:t>I started broad, and then I refined the papers based on relevance, method detail, and evaluation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After collecting candidate papers, I applied inclusion and exclusion criteria.</a:t>
            </a:r>
          </a:p>
          <a:p>
            <a:r>
              <a:rPr lang="en-US" sz="1200" dirty="0"/>
              <a:t>A paper was included if it was peer-reviewed, directly related to software testing or fault localization, and proposed a method for detection, analysis, localization, or repair.</a:t>
            </a:r>
          </a:p>
          <a:p>
            <a:r>
              <a:rPr lang="en-US" sz="1200" dirty="0"/>
              <a:t>For LLM-based papers, I also checked whether the paper clearly explained how the model was used, and how the method was evaluated.</a:t>
            </a:r>
          </a:p>
          <a:p>
            <a:r>
              <a:rPr lang="en-US" sz="1200" dirty="0"/>
              <a:t>I excluded papers if they were not peer-reviewed, only indirectly related, purely conceptual without empirical evaluation, or duplicated by a more complete version.</a:t>
            </a:r>
          </a:p>
          <a:p>
            <a:r>
              <a:rPr lang="en-US" sz="1200" dirty="0"/>
              <a:t>One important detail is about </a:t>
            </a:r>
            <a:r>
              <a:rPr lang="en-US" sz="1200" dirty="0" err="1"/>
              <a:t>Glasswing</a:t>
            </a:r>
            <a:r>
              <a:rPr lang="en-US" sz="1200" dirty="0"/>
              <a:t> and Mythos.</a:t>
            </a:r>
          </a:p>
          <a:p>
            <a:r>
              <a:rPr lang="en-US" sz="1200" dirty="0"/>
              <a:t>I discuss them later in the presentation, but they are not part of the 25 primary studies.</a:t>
            </a:r>
          </a:p>
          <a:p>
            <a:r>
              <a:rPr lang="en-US" sz="1200" dirty="0"/>
              <a:t>I treat them as grey literature, or industry reference, because they are useful for practical framing, but they are not peer-reviewed academic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The final corpus contains 25 primary studies.</a:t>
            </a:r>
          </a:p>
          <a:p>
            <a:r>
              <a:rPr lang="en-US" sz="1200" dirty="0"/>
              <a:t>The process started with 9 seed papers.</a:t>
            </a:r>
          </a:p>
          <a:p>
            <a:r>
              <a:rPr lang="en-US" sz="1200" dirty="0"/>
              <a:t>Then I used backward snowballing. This means I checked the references of the seed papers to find earlier relevant work.</a:t>
            </a:r>
          </a:p>
          <a:p>
            <a:r>
              <a:rPr lang="en-US" sz="1200" dirty="0"/>
              <a:t>From backward snowballing, I found 18 candidate studies, and 8 of them were included.</a:t>
            </a:r>
          </a:p>
          <a:p>
            <a:r>
              <a:rPr lang="en-US" sz="1200" dirty="0"/>
              <a:t>I also used forward snowballing. This means I looked for newer papers that cited the seed studies.</a:t>
            </a:r>
          </a:p>
          <a:p>
            <a:r>
              <a:rPr lang="en-US" sz="1200" dirty="0"/>
              <a:t>This step gave 7 candidate papers, and 3 were included.</a:t>
            </a:r>
          </a:p>
          <a:p>
            <a:r>
              <a:rPr lang="en-US" sz="1200" dirty="0"/>
              <a:t>Finally, I used an extended venue search, which added 5 more studies.</a:t>
            </a:r>
          </a:p>
          <a:p>
            <a:r>
              <a:rPr lang="en-US" sz="1200" dirty="0"/>
              <a:t>For all </a:t>
            </a:r>
            <a:r>
              <a:rPr lang="en-US" sz="1200" dirty="0" err="1"/>
              <a:t>i</a:t>
            </a:r>
            <a:r>
              <a:rPr lang="en-US" sz="1200" dirty="0"/>
              <a:t> have 25  studies in </a:t>
            </a:r>
            <a:r>
              <a:rPr lang="en-US" sz="1200" dirty="0" err="1"/>
              <a:t>totoal</a:t>
            </a:r>
            <a:r>
              <a:rPr lang="en-US" sz="12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After selecting the papers, I did not simply summarize them one by one.</a:t>
            </a:r>
          </a:p>
          <a:p>
            <a:r>
              <a:rPr lang="en-US" sz="1200" dirty="0"/>
              <a:t>Instead, I used the same five research questions to extract information from each paper.</a:t>
            </a:r>
          </a:p>
          <a:p>
            <a:r>
              <a:rPr lang="en-US" sz="1200" dirty="0"/>
              <a:t>RQ1 looks at the testing challenge, the root cause, and the system context.</a:t>
            </a:r>
          </a:p>
          <a:p>
            <a:r>
              <a:rPr lang="en-US" sz="1200" dirty="0"/>
              <a:t>RQ2 looks at the proposed approach, for example detection, localization, or repair.</a:t>
            </a:r>
          </a:p>
          <a:p>
            <a:r>
              <a:rPr lang="en-US" sz="1200" dirty="0"/>
              <a:t>RQ3 looks at how LLMs are used, such as fine-tuning, few-shot learning, prompting, or agents.</a:t>
            </a:r>
          </a:p>
          <a:p>
            <a:r>
              <a:rPr lang="en-US" sz="1200" dirty="0"/>
              <a:t>RQ4 looks at evaluation, including datasets, metrics, and baselines.</a:t>
            </a:r>
          </a:p>
          <a:p>
            <a:r>
              <a:rPr lang="en-US" sz="1200" dirty="0"/>
              <a:t>And RQ5 looks at practical context, such as CI/CD, IoT, microservices, and real repositories.</a:t>
            </a:r>
          </a:p>
          <a:p>
            <a:r>
              <a:rPr lang="en-US" sz="1200" dirty="0"/>
              <a:t>So the five research questions are not just labels. They are the structure I used to compare the papers.</a:t>
            </a:r>
          </a:p>
          <a:p>
            <a:r>
              <a:rPr lang="en-US" sz="1200" dirty="0"/>
              <a:t>This helped me move from a list of papers to a thematic 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For RQ1, the main finding is that testing challenges are very context-specific.</a:t>
            </a:r>
          </a:p>
          <a:p>
            <a:r>
              <a:rPr lang="en-US" sz="1200" dirty="0"/>
              <a:t>The same term, like flaky test, can mean different things in different ecosystems.</a:t>
            </a:r>
          </a:p>
          <a:p>
            <a:r>
              <a:rPr lang="en-US" sz="1200" dirty="0"/>
              <a:t>For example, one JavaScript study found 55 order-dependent tests. And 42 of them were caused by shared mocking state.</a:t>
            </a:r>
          </a:p>
          <a:p>
            <a:r>
              <a:rPr lang="en-US" sz="1200" dirty="0"/>
              <a:t>This is interesting because this cause is very specific to the JavaScript and Jest ecosystem.</a:t>
            </a:r>
          </a:p>
          <a:p>
            <a:r>
              <a:rPr lang="en-US" sz="1200" dirty="0"/>
              <a:t>For UI testing, the main issues are DOM changes, locator failures, timing problems, and session-related problems.</a:t>
            </a:r>
          </a:p>
          <a:p>
            <a:r>
              <a:rPr lang="en-US" sz="1200" dirty="0"/>
              <a:t>For IoT platforms, the problems are different again. They involve device compatibility, firmware updates, physical devices, and low-power behavior.</a:t>
            </a:r>
          </a:p>
          <a:p>
            <a:r>
              <a:rPr lang="en-US" sz="1200" dirty="0"/>
              <a:t>For microservices, the causes are both technical and organizational. There can be API mismatches and message format problems, but also unclear service ownership or weak team coordination.</a:t>
            </a:r>
          </a:p>
          <a:p>
            <a:r>
              <a:rPr lang="en-US" sz="1200" dirty="0"/>
              <a:t>So the takeaway is that testing problems cannot be fully understood without context.</a:t>
            </a:r>
          </a:p>
          <a:p>
            <a:r>
              <a:rPr lang="en-US" sz="1200" dirty="0"/>
              <a:t>And this is important for my thesis, because it suggests that fault localization also needs repository context, not only isolated code snippets.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RQ2 looks at the approaches used to detect, analyze, or localize testing problems.</a:t>
            </a:r>
          </a:p>
          <a:p>
            <a:r>
              <a:rPr lang="en-US" sz="1200" dirty="0"/>
              <a:t>A traditional line of work is spectrum-based fault localization, or SBFL.</a:t>
            </a:r>
          </a:p>
          <a:p>
            <a:r>
              <a:rPr lang="en-US" sz="1200" dirty="0"/>
              <a:t>Methods like Tarantula and Ochiai use test coverage and pass/fail results to rank suspicious code locations.</a:t>
            </a:r>
          </a:p>
          <a:p>
            <a:r>
              <a:rPr lang="en-US" sz="1200" dirty="0"/>
              <a:t>The good thing is that these methods are quite interpretable. The suspiciousness score is connected to how the tests executed the code.</a:t>
            </a:r>
          </a:p>
          <a:p>
            <a:r>
              <a:rPr lang="en-US" sz="1200" dirty="0"/>
              <a:t>But the limitation is also clear. They need reliable test execution and useful coverage information.</a:t>
            </a:r>
          </a:p>
          <a:p>
            <a:r>
              <a:rPr lang="en-US" sz="1200" dirty="0"/>
              <a:t>Some later work improves SBFL by adding compiler information, type information, or structural filters.</a:t>
            </a:r>
          </a:p>
          <a:p>
            <a:r>
              <a:rPr lang="en-US" sz="1200" dirty="0"/>
              <a:t>More recent LLM-based approaches try to localize faults using source code, bug reports, or code representations.</a:t>
            </a:r>
          </a:p>
          <a:p>
            <a:r>
              <a:rPr lang="en-US" sz="1200" dirty="0"/>
              <a:t>This can reduce the dependency on test execution signals.</a:t>
            </a:r>
          </a:p>
          <a:p>
            <a:r>
              <a:rPr lang="en-US" sz="1200" dirty="0"/>
              <a:t>But there is a trade-off.</a:t>
            </a:r>
          </a:p>
          <a:p>
            <a:r>
              <a:rPr lang="en-US" sz="1200" dirty="0"/>
              <a:t>If we use less execution evidence, then the model depends more on the context we give it, and on how we validate its answer.</a:t>
            </a:r>
          </a:p>
          <a:p>
            <a:r>
              <a:rPr lang="en-US" sz="1200" dirty="0"/>
              <a:t>So my takeaway from RQ2 is: LLM-based fault localization is promising, but context design and validation become much more important.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RQ3 focuses on how LLMs are used in the reviewed papers.</a:t>
            </a:r>
          </a:p>
          <a:p>
            <a:r>
              <a:rPr lang="en-US" sz="1200" dirty="0"/>
              <a:t>I found four main strategies.</a:t>
            </a:r>
          </a:p>
          <a:p>
            <a:r>
              <a:rPr lang="en-US" sz="1200" dirty="0"/>
              <a:t>The first one is fine-tuning.</a:t>
            </a:r>
          </a:p>
          <a:p>
            <a:r>
              <a:rPr lang="en-US" sz="1200" dirty="0"/>
              <a:t>Fine-tuning can work well when there is enough task-specific data, but it is more expensive and usually needs labeled datasets.</a:t>
            </a:r>
          </a:p>
          <a:p>
            <a:r>
              <a:rPr lang="en-US" sz="1200" dirty="0"/>
              <a:t>The second one is few-shot learning.</a:t>
            </a:r>
          </a:p>
          <a:p>
            <a:r>
              <a:rPr lang="en-US" sz="1200" dirty="0"/>
              <a:t>This is useful when labeled data is limited, because the model can work with only a small number of examples.</a:t>
            </a:r>
          </a:p>
          <a:p>
            <a:r>
              <a:rPr lang="en-US" sz="1200" dirty="0"/>
              <a:t>The third one is prompt engineering.</a:t>
            </a:r>
          </a:p>
          <a:p>
            <a:r>
              <a:rPr lang="en-US" sz="1200" dirty="0"/>
              <a:t>This is flexible, because we do not need to train the model. But the result can change a lot depending on the prompt and the context.</a:t>
            </a:r>
          </a:p>
          <a:p>
            <a:r>
              <a:rPr lang="en-US" sz="1200" dirty="0"/>
              <a:t>The fourth one is testing agents.</a:t>
            </a:r>
          </a:p>
          <a:p>
            <a:r>
              <a:rPr lang="en-US" sz="1200" dirty="0"/>
              <a:t>Agents are closer to real development workflows, because they can do more than answer one question. They can install dependencies, run tests, observe errors, revise commands, and continue the process.</a:t>
            </a:r>
          </a:p>
          <a:p>
            <a:r>
              <a:rPr lang="en-US" sz="1200" dirty="0"/>
              <a:t>For my thesis, the important lesson is that model choice is not the only factor.</a:t>
            </a:r>
          </a:p>
          <a:p>
            <a:r>
              <a:rPr lang="en-US" sz="1200" dirty="0"/>
              <a:t>The context, the repository state, and the validation setup may be just as important.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RQ4 looks at evaluation and benchmarking.</a:t>
            </a:r>
          </a:p>
          <a:p>
            <a:r>
              <a:rPr lang="en-US" sz="1200" dirty="0"/>
              <a:t>A lot of studies use well-known benchmarks.</a:t>
            </a:r>
          </a:p>
          <a:p>
            <a:r>
              <a:rPr lang="en-US" sz="1200" dirty="0"/>
              <a:t>For fault localization, common datasets include Defects4J, Siemens, and the Space program.</a:t>
            </a:r>
          </a:p>
          <a:p>
            <a:r>
              <a:rPr lang="en-US" sz="1200" dirty="0"/>
              <a:t>For flaky tests, studies often use </a:t>
            </a:r>
            <a:r>
              <a:rPr lang="en-US" sz="1200" dirty="0" err="1"/>
              <a:t>IDoFT</a:t>
            </a:r>
            <a:r>
              <a:rPr lang="en-US" sz="1200" dirty="0"/>
              <a:t> and </a:t>
            </a:r>
            <a:r>
              <a:rPr lang="en-US" sz="1200" dirty="0" err="1"/>
              <a:t>FlakyCat</a:t>
            </a:r>
            <a:r>
              <a:rPr lang="en-US" sz="1200" dirty="0"/>
              <a:t>.</a:t>
            </a:r>
          </a:p>
          <a:p>
            <a:r>
              <a:rPr lang="en-US" sz="1200" dirty="0"/>
              <a:t>For vulnerability detection, datasets include OWASP, Juliet, </a:t>
            </a:r>
            <a:r>
              <a:rPr lang="en-US" sz="1200" dirty="0" err="1"/>
              <a:t>CVEFixes</a:t>
            </a:r>
            <a:r>
              <a:rPr lang="en-US" sz="1200" dirty="0"/>
              <a:t>, and </a:t>
            </a:r>
            <a:r>
              <a:rPr lang="en-US" sz="1200" dirty="0" err="1"/>
              <a:t>PrimeVul</a:t>
            </a:r>
            <a:r>
              <a:rPr lang="en-US" sz="1200" dirty="0"/>
              <a:t>.</a:t>
            </a:r>
          </a:p>
          <a:p>
            <a:r>
              <a:rPr lang="en-US" sz="1200" dirty="0"/>
              <a:t>And for UI test repair, some studies use broken Selenium statements.</a:t>
            </a:r>
          </a:p>
          <a:p>
            <a:r>
              <a:rPr lang="en-US" sz="1200" dirty="0"/>
              <a:t>These benchmarks are useful. They make controlled comparison possible.</a:t>
            </a:r>
          </a:p>
          <a:p>
            <a:r>
              <a:rPr lang="en-US" sz="1200" dirty="0"/>
              <a:t>But they also have a limitation.</a:t>
            </a:r>
          </a:p>
          <a:p>
            <a:r>
              <a:rPr lang="en-US" sz="1200" dirty="0"/>
              <a:t>They often evaluate one isolated task.</a:t>
            </a:r>
          </a:p>
          <a:p>
            <a:r>
              <a:rPr lang="en-US" sz="1200" dirty="0"/>
              <a:t>In real repositories, the workflow is more complicated. We may have bug reports, incomplete logs, dependency problems, build failures, changing code history, and CI/CD constraints.</a:t>
            </a:r>
          </a:p>
          <a:p>
            <a:r>
              <a:rPr lang="en-US" sz="1200" dirty="0"/>
              <a:t>So the evidence is quite strong for controlled benchmark tasks, but weaker for real repository-level fault localization.</a:t>
            </a:r>
          </a:p>
          <a:p>
            <a:r>
              <a:rPr lang="en-US" sz="1200" dirty="0"/>
              <a:t>This is one of the main reasons why my thesis direction focuses on real repositories.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RQ5 looks at practical system context.</a:t>
            </a:r>
          </a:p>
          <a:p>
            <a:r>
              <a:rPr lang="en-US" sz="1200" dirty="0"/>
              <a:t>This is where the review becomes very relevant to my thesis.</a:t>
            </a:r>
          </a:p>
          <a:p>
            <a:r>
              <a:rPr lang="en-US" sz="1200" dirty="0"/>
              <a:t>In real projects, the hard part is not only asking the model: where is the bug?</a:t>
            </a:r>
          </a:p>
          <a:p>
            <a:r>
              <a:rPr lang="en-US" sz="1200" dirty="0"/>
              <a:t>Before we can even ask that question, we need the correct repository, the correct commit, the dependencies, the build command, the test command, and the relevant logs or error messages.</a:t>
            </a:r>
          </a:p>
          <a:p>
            <a:r>
              <a:rPr lang="en-US" sz="1200" dirty="0"/>
              <a:t>Some work, such as </a:t>
            </a:r>
            <a:r>
              <a:rPr lang="en-US" sz="1200" dirty="0" err="1"/>
              <a:t>ExecutionAgent</a:t>
            </a:r>
            <a:r>
              <a:rPr lang="en-US" sz="1200" dirty="0"/>
              <a:t>, shows that even running tests in arbitrary open-source projects can be difficult.</a:t>
            </a:r>
          </a:p>
          <a:p>
            <a:r>
              <a:rPr lang="en-US" sz="1200" dirty="0"/>
              <a:t>The agent may need to install dependencies, build the project, run tests, observe failures, and revise commands.</a:t>
            </a:r>
          </a:p>
          <a:p>
            <a:r>
              <a:rPr lang="en-US" sz="1200" dirty="0"/>
              <a:t>So this changes how I think about fault localization.</a:t>
            </a:r>
          </a:p>
          <a:p>
            <a:r>
              <a:rPr lang="en-US" sz="1200" dirty="0"/>
              <a:t>It should not be treated only as a code prediction task.</a:t>
            </a:r>
          </a:p>
          <a:p>
            <a:r>
              <a:rPr lang="en-US" sz="1200" dirty="0"/>
              <a:t>It should be treated as a repository-level workflow.</a:t>
            </a:r>
          </a:p>
          <a:p>
            <a:r>
              <a:rPr lang="en-US" sz="1200" dirty="0"/>
              <a:t>That means context collection and validation are part of the research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The review also discusses </a:t>
            </a:r>
            <a:r>
              <a:rPr lang="en-US" sz="1200" dirty="0" err="1"/>
              <a:t>Glasswing</a:t>
            </a:r>
            <a:r>
              <a:rPr lang="en-US" sz="1200" dirty="0"/>
              <a:t> and Mythos.</a:t>
            </a:r>
          </a:p>
          <a:p>
            <a:r>
              <a:rPr lang="en-US" sz="1200" dirty="0"/>
              <a:t>Again, I want to be careful here.</a:t>
            </a:r>
          </a:p>
          <a:p>
            <a:r>
              <a:rPr lang="en-US" sz="1200" dirty="0"/>
              <a:t>They are not peer-reviewed primary studies. I treat them as grey literature, or industry reference.</a:t>
            </a:r>
          </a:p>
          <a:p>
            <a:r>
              <a:rPr lang="en-US" sz="1200" dirty="0"/>
              <a:t>So I do not use them as proof that LLMs can solve ordinary fault localization.</a:t>
            </a:r>
          </a:p>
          <a:p>
            <a:r>
              <a:rPr lang="en-US" sz="1200" dirty="0"/>
              <a:t>Instead, I use them to motivate a useful workflow pattern.</a:t>
            </a:r>
          </a:p>
          <a:p>
            <a:r>
              <a:rPr lang="en-US" sz="1200" dirty="0"/>
              <a:t>The pattern is agent plus verifier.</a:t>
            </a:r>
          </a:p>
          <a:p>
            <a:r>
              <a:rPr lang="en-US" sz="1200" dirty="0"/>
              <a:t>One agent reads the code, forms a hypothesis, runs experiments, and produces a report.</a:t>
            </a:r>
          </a:p>
          <a:p>
            <a:r>
              <a:rPr lang="en-US" sz="1200" dirty="0"/>
              <a:t>Then another agent independently checks whether the issue is reproducible and whether it has real impact.</a:t>
            </a:r>
          </a:p>
          <a:p>
            <a:r>
              <a:rPr lang="en-US" sz="1200" dirty="0" err="1"/>
              <a:t>Glasswing</a:t>
            </a:r>
            <a:r>
              <a:rPr lang="en-US" sz="1200" dirty="0"/>
              <a:t> mainly focuses on security vulnerability discovery.</a:t>
            </a:r>
          </a:p>
          <a:p>
            <a:r>
              <a:rPr lang="en-US" sz="1200" dirty="0"/>
              <a:t>But this pattern is interesting for my thesis, because ordinary application bugs may also benefit from a similar process.</a:t>
            </a:r>
          </a:p>
          <a:p>
            <a:r>
              <a:rPr lang="en-US" sz="1200" dirty="0"/>
              <a:t>For example, the bug could be a business logic error, a state bug, API misuse, or a data processing failure.</a:t>
            </a:r>
          </a:p>
          <a:p>
            <a:r>
              <a:rPr lang="en-US" sz="1200" dirty="0"/>
              <a:t>So the question is not: does </a:t>
            </a:r>
            <a:r>
              <a:rPr lang="en-US" sz="1200" dirty="0" err="1"/>
              <a:t>Glasswing</a:t>
            </a:r>
            <a:r>
              <a:rPr lang="en-US" sz="1200" dirty="0"/>
              <a:t> directly solve my problem?</a:t>
            </a:r>
          </a:p>
          <a:p>
            <a:r>
              <a:rPr lang="en-US" sz="1200" dirty="0"/>
              <a:t>The question is: can this agent-plus-verifier pattern be adapted and evaluated for repository-level fault localization?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Based on the review, I identify three main research gaps.</a:t>
            </a:r>
          </a:p>
          <a:p>
            <a:r>
              <a:rPr lang="en-US" sz="1200" dirty="0"/>
              <a:t>The first gap is that LLM-based fault localization still lacks validation in real repository environments.</a:t>
            </a:r>
          </a:p>
          <a:p>
            <a:r>
              <a:rPr lang="en-US" sz="1200" dirty="0"/>
              <a:t>Many existing studies are still evaluated on academic benchmarks, such as Defects4J-style settings.</a:t>
            </a:r>
          </a:p>
          <a:p>
            <a:r>
              <a:rPr lang="en-US" sz="1200" dirty="0"/>
              <a:t>The second gap is that agentic scaffolds have not been sufficiently applied to ordinary application-level bugs.</a:t>
            </a:r>
          </a:p>
          <a:p>
            <a:r>
              <a:rPr lang="en-US" sz="1200" dirty="0"/>
              <a:t>Most agentic examples focus on security vulnerabilities, but ordinary bugs can be different. They may involve business logic, state synchronization, API usage, or data processing.</a:t>
            </a:r>
          </a:p>
          <a:p>
            <a:r>
              <a:rPr lang="en-US" sz="1200" dirty="0"/>
              <a:t>The third gap is that we still do not clearly know the effect of context level and independent verification.</a:t>
            </a:r>
          </a:p>
          <a:p>
            <a:r>
              <a:rPr lang="en-US" sz="1200" dirty="0"/>
              <a:t>For example, how much context should we give to the model?</a:t>
            </a:r>
          </a:p>
          <a:p>
            <a:r>
              <a:rPr lang="en-US" sz="1200" dirty="0"/>
              <a:t>Should we give only the bug report?</a:t>
            </a:r>
          </a:p>
          <a:p>
            <a:r>
              <a:rPr lang="en-US" sz="1200" dirty="0"/>
              <a:t>Should we add logs, stack traces, code snippets, or repository history?</a:t>
            </a:r>
          </a:p>
          <a:p>
            <a:r>
              <a:rPr lang="en-US" sz="1200" dirty="0"/>
              <a:t>And does an independent verifier actually improve the result?</a:t>
            </a:r>
          </a:p>
          <a:p>
            <a:r>
              <a:rPr lang="en-US" sz="1200" dirty="0"/>
              <a:t>These gaps all point to the same central problem.</a:t>
            </a:r>
          </a:p>
          <a:p>
            <a:r>
              <a:rPr lang="en-US" sz="1200" dirty="0"/>
              <a:t>LLM-based fault localization needs to be evaluated in a more realistic, repository-grounded setting.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Based on this literature study, my next step is to design a more focused thesis experiment.</a:t>
            </a:r>
          </a:p>
          <a:p>
            <a:r>
              <a:rPr lang="en-US" sz="1200" dirty="0"/>
              <a:t>The idea is to use real bug reports, buggy repository snapshots, source-code context, repository history, and verified bug-fixing commits.</a:t>
            </a:r>
          </a:p>
          <a:p>
            <a:r>
              <a:rPr lang="en-US" sz="1200" dirty="0"/>
              <a:t>Then I can compare different context settings.</a:t>
            </a:r>
          </a:p>
          <a:p>
            <a:r>
              <a:rPr lang="en-US" sz="1200" dirty="0"/>
              <a:t>For example, one setting may use only the bug report.</a:t>
            </a:r>
          </a:p>
          <a:p>
            <a:r>
              <a:rPr lang="en-US" sz="1200" dirty="0"/>
              <a:t>Another setting may add logs or stack traces.</a:t>
            </a:r>
          </a:p>
          <a:p>
            <a:r>
              <a:rPr lang="en-US" sz="1200" dirty="0"/>
              <a:t>Another one may add related code snippets.</a:t>
            </a:r>
          </a:p>
          <a:p>
            <a:r>
              <a:rPr lang="en-US" sz="1200" dirty="0"/>
              <a:t>And another one may include repository history or previous fixing commits.</a:t>
            </a:r>
          </a:p>
          <a:p>
            <a:r>
              <a:rPr lang="en-US" sz="1200" dirty="0"/>
              <a:t>The model or agent can then be asked to rank suspicious files or methods.</a:t>
            </a:r>
          </a:p>
          <a:p>
            <a:r>
              <a:rPr lang="en-US" sz="1200" dirty="0"/>
              <a:t>I can evaluate the result using metrics such as Top-k accuracy, MRR, and recall, with the verified fixing commit as ground truth.</a:t>
            </a:r>
          </a:p>
          <a:p>
            <a:r>
              <a:rPr lang="en-US" sz="1200" dirty="0"/>
              <a:t>This experiment would help answer two practical questions.</a:t>
            </a:r>
          </a:p>
          <a:p>
            <a:r>
              <a:rPr lang="en-US" sz="1200" dirty="0"/>
              <a:t>First, which repository-level context actually helps LLM-based fault localization?</a:t>
            </a:r>
          </a:p>
          <a:p>
            <a:r>
              <a:rPr lang="en-US" sz="1200" dirty="0"/>
              <a:t>Second, does independent verification improve localization accuracy or reduce false positives?</a:t>
            </a:r>
          </a:p>
          <a:p>
            <a:r>
              <a:rPr lang="en-US" sz="1200" dirty="0"/>
              <a:t>So to conclude, this literature study shows that LLMs have strong potential in software testing.</a:t>
            </a:r>
          </a:p>
          <a:p>
            <a:r>
              <a:rPr lang="en-US" sz="1200" dirty="0"/>
              <a:t>But much of the current evidence is still based on benchmarks and isolated tasks.</a:t>
            </a:r>
          </a:p>
          <a:p>
            <a:r>
              <a:rPr lang="en-US" sz="1200" dirty="0"/>
              <a:t>My thesis will try to move this direction toward real repository-level fault localization, with controlled context and validation.</a:t>
            </a:r>
          </a:p>
          <a:p>
            <a:r>
              <a:rPr lang="en-US" sz="1200" dirty="0"/>
              <a:t>Thank you. I’m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24566D31-2B95-4C9B-B899-FAC11FAB29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0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01-marker">
            <a:extLst>
              <a:ext uri="{FF2B5EF4-FFF2-40B4-BE49-F238E27FC236}">
                <a16:creationId xmlns:a16="http://schemas.microsoft.com/office/drawing/2014/main" id="{9572E1D4-EA74-4A1C-B26C-B4630D5E2066}"/>
              </a:ext>
            </a:extLst>
          </p:cNvPr>
          <p:cNvSpPr>
            <a:spLocks noGrp="1"/>
          </p:cNvSpPr>
          <p:nvPr/>
        </p:nvSpPr>
        <p:spPr>
          <a:xfrm>
            <a:off x="533400" y="485775"/>
            <a:ext cx="323850" cy="38100"/>
          </a:xfrm>
          <a:prstGeom prst="rect">
            <a:avLst/>
          </a:prstGeom>
          <a:solidFill>
            <a:srgbClr val="C07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01-label">
            <a:extLst>
              <a:ext uri="{FF2B5EF4-FFF2-40B4-BE49-F238E27FC236}">
                <a16:creationId xmlns:a16="http://schemas.microsoft.com/office/drawing/2014/main" id="{4A22091A-2CEE-4C2E-B97E-B57FCE98C22F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8E2D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E2DD"/>
                </a:solidFill>
                <a:latin typeface="Aptos"/>
                <a:ea typeface="Aptos"/>
                <a:cs typeface="Aptos"/>
              </a:rPr>
              <a:t>15-MINUTE DEFENSE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4B5CB8-1689-4326-A3E4-CB70D446E133}"/>
              </a:ext>
            </a:extLst>
          </p:cNvPr>
          <p:cNvSpPr>
            <a:spLocks noGrp="1"/>
          </p:cNvSpPr>
          <p:nvPr/>
        </p:nvSpPr>
        <p:spPr>
          <a:xfrm>
            <a:off x="533400" y="990600"/>
            <a:ext cx="9715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DE5E0"/>
                </a:solidFill>
                <a:latin typeface="Aptos"/>
                <a:ea typeface="Aptos"/>
                <a:cs typeface="Aptos"/>
              </a:rPr>
              <a:t>A Literature Study on Large Language Models for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EECD2D-02CE-433A-8C92-A51414911864}"/>
              </a:ext>
            </a:extLst>
          </p:cNvPr>
          <p:cNvSpPr>
            <a:spLocks noGrp="1"/>
          </p:cNvSpPr>
          <p:nvPr/>
        </p:nvSpPr>
        <p:spPr>
          <a:xfrm>
            <a:off x="533400" y="1466850"/>
            <a:ext cx="10096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Software Testing and Fault Localization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D45A7D-670F-48CA-972A-FF34600E0B2C}"/>
              </a:ext>
            </a:extLst>
          </p:cNvPr>
          <p:cNvSpPr>
            <a:spLocks noGrp="1"/>
          </p:cNvSpPr>
          <p:nvPr/>
        </p:nvSpPr>
        <p:spPr>
          <a:xfrm>
            <a:off x="571500" y="2476500"/>
            <a:ext cx="876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9C7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C7C2"/>
                </a:solidFill>
                <a:latin typeface="Aptos"/>
                <a:ea typeface="Aptos"/>
                <a:cs typeface="Aptos"/>
              </a:rPr>
              <a:t>Ziniu Jin | VU-UvA MSc Computer Science | Literature Study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C2853D8-F063-45DB-A17A-C244AEB14A89}"/>
              </a:ext>
            </a:extLst>
          </p:cNvPr>
          <p:cNvSpPr>
            <a:spLocks noGrp="1"/>
          </p:cNvSpPr>
          <p:nvPr/>
        </p:nvSpPr>
        <p:spPr>
          <a:xfrm>
            <a:off x="552450" y="3219450"/>
            <a:ext cx="6572250" cy="9525"/>
          </a:xfrm>
          <a:prstGeom prst="rect">
            <a:avLst/>
          </a:prstGeom>
          <a:solidFill>
            <a:srgbClr val="5664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12F701-C22D-4953-89EF-8F3D432A94A1}"/>
              </a:ext>
            </a:extLst>
          </p:cNvPr>
          <p:cNvSpPr>
            <a:spLocks noGrp="1"/>
          </p:cNvSpPr>
          <p:nvPr/>
        </p:nvSpPr>
        <p:spPr>
          <a:xfrm>
            <a:off x="571500" y="3467100"/>
            <a:ext cx="7239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E7ECE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7ECE8"/>
                </a:solidFill>
                <a:latin typeface="Aptos"/>
                <a:ea typeface="Aptos"/>
                <a:cs typeface="Aptos"/>
              </a:rPr>
              <a:t>Main focus today: not only what the papers say, but how the literature was searched, screened, and synthesized.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D25C495-C441-4132-85AB-BAEA1C8CB83A}"/>
              </a:ext>
            </a:extLst>
          </p:cNvPr>
          <p:cNvSpPr>
            <a:spLocks noGrp="1"/>
          </p:cNvSpPr>
          <p:nvPr/>
        </p:nvSpPr>
        <p:spPr>
          <a:xfrm>
            <a:off x="571500" y="4810125"/>
            <a:ext cx="2000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2850" b="1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25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204115-9197-406C-8D63-5C4E69B1FDBA}"/>
              </a:ext>
            </a:extLst>
          </p:cNvPr>
          <p:cNvSpPr>
            <a:spLocks noGrp="1"/>
          </p:cNvSpPr>
          <p:nvPr/>
        </p:nvSpPr>
        <p:spPr>
          <a:xfrm>
            <a:off x="571500" y="53149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5E0"/>
                </a:solidFill>
                <a:latin typeface="Aptos"/>
                <a:ea typeface="Aptos"/>
                <a:cs typeface="Aptos"/>
              </a:rPr>
              <a:t>primary studies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EE1088-562D-4EE1-9258-1A6A8A47CBE4}"/>
              </a:ext>
            </a:extLst>
          </p:cNvPr>
          <p:cNvSpPr>
            <a:spLocks noGrp="1"/>
          </p:cNvSpPr>
          <p:nvPr/>
        </p:nvSpPr>
        <p:spPr>
          <a:xfrm>
            <a:off x="571500" y="5619750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FB0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AA"/>
                </a:solidFill>
                <a:latin typeface="Aptos"/>
                <a:ea typeface="Aptos"/>
                <a:cs typeface="Aptos"/>
              </a:rPr>
              <a:t>Selected through search, criteria, and snowballing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CA68C97-48EA-4CE8-BF4A-E213EBED405F}"/>
              </a:ext>
            </a:extLst>
          </p:cNvPr>
          <p:cNvSpPr>
            <a:spLocks noGrp="1"/>
          </p:cNvSpPr>
          <p:nvPr/>
        </p:nvSpPr>
        <p:spPr>
          <a:xfrm>
            <a:off x="3143250" y="4810125"/>
            <a:ext cx="2000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F6F5B"/>
                </a:solidFill>
                <a:latin typeface="Aptos Mono"/>
                <a:ea typeface="Aptos Mono"/>
                <a:cs typeface="Aptos Mono"/>
              </a:defRPr>
            </a:pPr>
            <a:r>
              <a:rPr sz="2850" b="1">
                <a:solidFill>
                  <a:srgbClr val="1F6F5B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32DB910-2717-4623-8AC3-BC7015A23C5D}"/>
              </a:ext>
            </a:extLst>
          </p:cNvPr>
          <p:cNvSpPr>
            <a:spLocks noGrp="1"/>
          </p:cNvSpPr>
          <p:nvPr/>
        </p:nvSpPr>
        <p:spPr>
          <a:xfrm>
            <a:off x="3143250" y="53149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5E0"/>
                </a:solidFill>
                <a:latin typeface="Aptos"/>
                <a:ea typeface="Aptos"/>
                <a:cs typeface="Aptos"/>
              </a:rPr>
              <a:t>research questions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9063BB-DBAD-4B04-A3F2-FC35B6188B47}"/>
              </a:ext>
            </a:extLst>
          </p:cNvPr>
          <p:cNvSpPr>
            <a:spLocks noGrp="1"/>
          </p:cNvSpPr>
          <p:nvPr/>
        </p:nvSpPr>
        <p:spPr>
          <a:xfrm>
            <a:off x="3143250" y="5619750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FB0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AA"/>
                </a:solidFill>
                <a:latin typeface="Aptos"/>
                <a:ea typeface="Aptos"/>
                <a:cs typeface="Aptos"/>
              </a:rPr>
              <a:t>Used to structure extraction and synthesis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8955559-F4A2-4F17-993D-B7CEC7AF6EF6}"/>
              </a:ext>
            </a:extLst>
          </p:cNvPr>
          <p:cNvSpPr>
            <a:spLocks noGrp="1"/>
          </p:cNvSpPr>
          <p:nvPr/>
        </p:nvSpPr>
        <p:spPr>
          <a:xfrm>
            <a:off x="6000750" y="4810125"/>
            <a:ext cx="2000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315C8B"/>
                </a:solidFill>
                <a:latin typeface="Aptos Mono"/>
                <a:ea typeface="Aptos Mono"/>
                <a:cs typeface="Aptos Mono"/>
              </a:defRPr>
            </a:pPr>
            <a:r>
              <a:rPr sz="2850" b="1">
                <a:solidFill>
                  <a:srgbClr val="315C8B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6F5434-2EB6-4263-926F-A554723AACB5}"/>
              </a:ext>
            </a:extLst>
          </p:cNvPr>
          <p:cNvSpPr>
            <a:spLocks noGrp="1"/>
          </p:cNvSpPr>
          <p:nvPr/>
        </p:nvSpPr>
        <p:spPr>
          <a:xfrm>
            <a:off x="6000750" y="53149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5E0"/>
                </a:solidFill>
                <a:latin typeface="Aptos"/>
                <a:ea typeface="Aptos"/>
                <a:cs typeface="Aptos"/>
              </a:rPr>
              <a:t>research gaps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E54E38E-A0A4-4FF5-A15F-ECDA5D186290}"/>
              </a:ext>
            </a:extLst>
          </p:cNvPr>
          <p:cNvSpPr>
            <a:spLocks noGrp="1"/>
          </p:cNvSpPr>
          <p:nvPr/>
        </p:nvSpPr>
        <p:spPr>
          <a:xfrm>
            <a:off x="6000750" y="5619750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FB0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AA"/>
                </a:solidFill>
                <a:latin typeface="Aptos"/>
                <a:ea typeface="Aptos"/>
                <a:cs typeface="Aptos"/>
              </a:rPr>
              <a:t>Leading to a real-repository thesis direction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209BC5-EF0D-4D58-860B-90E426229E5E}"/>
              </a:ext>
            </a:extLst>
          </p:cNvPr>
          <p:cNvSpPr>
            <a:spLocks noGrp="1"/>
          </p:cNvSpPr>
          <p:nvPr/>
        </p:nvSpPr>
        <p:spPr>
          <a:xfrm>
            <a:off x="10096500" y="59436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B9C7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C7C2"/>
                </a:solidFill>
                <a:latin typeface="Aptos"/>
                <a:ea typeface="Aptos"/>
                <a:cs typeface="Aptos"/>
              </a:rPr>
              <a:t>May 2026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561A8AC-C995-406F-96BB-07311035347B}"/>
              </a:ext>
            </a:extLst>
          </p:cNvPr>
          <p:cNvSpPr>
            <a:spLocks noGrp="1"/>
          </p:cNvSpPr>
          <p:nvPr/>
        </p:nvSpPr>
        <p:spPr>
          <a:xfrm>
            <a:off x="514350" y="64293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Source: literature study PDF, /Users/jin/llm_location/ls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A36DEB4-AE63-44C7-AA09-882D1909A599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98932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43DD54C4-9D0C-437F-96F0-9E18D891CA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02-marker">
            <a:extLst>
              <a:ext uri="{FF2B5EF4-FFF2-40B4-BE49-F238E27FC236}">
                <a16:creationId xmlns:a16="http://schemas.microsoft.com/office/drawing/2014/main" id="{409E293F-0F4A-46BC-90A6-DCE1398989BB}"/>
              </a:ext>
            </a:extLst>
          </p:cNvPr>
          <p:cNvSpPr>
            <a:spLocks noGrp="1"/>
          </p:cNvSpPr>
          <p:nvPr/>
        </p:nvSpPr>
        <p:spPr>
          <a:xfrm>
            <a:off x="533400" y="485775"/>
            <a:ext cx="323850" cy="38100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02-label">
            <a:extLst>
              <a:ext uri="{FF2B5EF4-FFF2-40B4-BE49-F238E27FC236}">
                <a16:creationId xmlns:a16="http://schemas.microsoft.com/office/drawing/2014/main" id="{528DCF47-98AE-4AFD-9BC9-3DD4265A5BAB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MOTIVATION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60FF45-AA11-475C-8820-2C892BFE831E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10287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Modern testing failures are context-dependent, so the review needs a systematic scope.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269108-D601-4B51-B2F9-E1750A07C2A7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The literature is spread across flaky tests, UI repair, fault localization, vulnerability detection, and testing agents.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5148E1-4EF8-44E1-849E-A7CF566FDD03}"/>
              </a:ext>
            </a:extLst>
          </p:cNvPr>
          <p:cNvSpPr>
            <a:spLocks noGrp="1"/>
          </p:cNvSpPr>
          <p:nvPr/>
        </p:nvSpPr>
        <p:spPr>
          <a:xfrm>
            <a:off x="914400" y="2857500"/>
            <a:ext cx="2857500" cy="876300"/>
          </a:xfrm>
          <a:prstGeom prst="rect">
            <a:avLst/>
          </a:prstGeom>
          <a:solidFill>
            <a:srgbClr val="DDEA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DC5855-4A19-41B3-91B1-84DBBE03BE57}"/>
              </a:ext>
            </a:extLst>
          </p:cNvPr>
          <p:cNvSpPr>
            <a:spLocks noGrp="1"/>
          </p:cNvSpPr>
          <p:nvPr/>
        </p:nvSpPr>
        <p:spPr>
          <a:xfrm>
            <a:off x="914400" y="2857500"/>
            <a:ext cx="2857500" cy="47625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62F5A4A-023B-4264-8B53-EFC722622D30}"/>
              </a:ext>
            </a:extLst>
          </p:cNvPr>
          <p:cNvSpPr>
            <a:spLocks noGrp="1"/>
          </p:cNvSpPr>
          <p:nvPr/>
        </p:nvSpPr>
        <p:spPr>
          <a:xfrm>
            <a:off x="1104900" y="30670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Flaky tests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F524086-E9A3-4314-BEDF-02F2684AC086}"/>
              </a:ext>
            </a:extLst>
          </p:cNvPr>
          <p:cNvSpPr>
            <a:spLocks noGrp="1"/>
          </p:cNvSpPr>
          <p:nvPr/>
        </p:nvSpPr>
        <p:spPr>
          <a:xfrm>
            <a:off x="1104900" y="33718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async, concurrency, shared state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CA26A8-495B-4ED2-AA4B-F8CE30ACBF6E}"/>
              </a:ext>
            </a:extLst>
          </p:cNvPr>
          <p:cNvSpPr>
            <a:spLocks noGrp="1"/>
          </p:cNvSpPr>
          <p:nvPr/>
        </p:nvSpPr>
        <p:spPr>
          <a:xfrm>
            <a:off x="914400" y="4362450"/>
            <a:ext cx="2857500" cy="876300"/>
          </a:xfrm>
          <a:prstGeom prst="rect">
            <a:avLst/>
          </a:prstGeom>
          <a:solidFill>
            <a:srgbClr val="DEE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61D2A2-3BC1-464B-86DF-71D544091BE0}"/>
              </a:ext>
            </a:extLst>
          </p:cNvPr>
          <p:cNvSpPr>
            <a:spLocks noGrp="1"/>
          </p:cNvSpPr>
          <p:nvPr/>
        </p:nvSpPr>
        <p:spPr>
          <a:xfrm>
            <a:off x="914400" y="4362450"/>
            <a:ext cx="2857500" cy="47625"/>
          </a:xfrm>
          <a:prstGeom prst="rect">
            <a:avLst/>
          </a:prstGeom>
          <a:solidFill>
            <a:srgbClr val="315C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6EBEF3-B32B-466F-95EA-1AE4540A5934}"/>
              </a:ext>
            </a:extLst>
          </p:cNvPr>
          <p:cNvSpPr>
            <a:spLocks noGrp="1"/>
          </p:cNvSpPr>
          <p:nvPr/>
        </p:nvSpPr>
        <p:spPr>
          <a:xfrm>
            <a:off x="1104900" y="45720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UI fragility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19624D2-B6AD-431A-948E-2D8DBF35AED9}"/>
              </a:ext>
            </a:extLst>
          </p:cNvPr>
          <p:cNvSpPr>
            <a:spLocks noGrp="1"/>
          </p:cNvSpPr>
          <p:nvPr/>
        </p:nvSpPr>
        <p:spPr>
          <a:xfrm>
            <a:off x="1104900" y="48768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DOM, locators, timing, sessions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47F9E8-FB62-47F3-97A3-F61D997C5ED9}"/>
              </a:ext>
            </a:extLst>
          </p:cNvPr>
          <p:cNvSpPr>
            <a:spLocks noGrp="1"/>
          </p:cNvSpPr>
          <p:nvPr/>
        </p:nvSpPr>
        <p:spPr>
          <a:xfrm>
            <a:off x="4667250" y="2857500"/>
            <a:ext cx="2857500" cy="876300"/>
          </a:xfrm>
          <a:prstGeom prst="rect">
            <a:avLst/>
          </a:prstGeom>
          <a:solidFill>
            <a:srgbClr val="F1E1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A071CEB-4B15-4557-93E0-A42C5971AD99}"/>
              </a:ext>
            </a:extLst>
          </p:cNvPr>
          <p:cNvSpPr>
            <a:spLocks noGrp="1"/>
          </p:cNvSpPr>
          <p:nvPr/>
        </p:nvSpPr>
        <p:spPr>
          <a:xfrm>
            <a:off x="4667250" y="2857500"/>
            <a:ext cx="2857500" cy="47625"/>
          </a:xfrm>
          <a:prstGeom prst="rect">
            <a:avLst/>
          </a:prstGeom>
          <a:solidFill>
            <a:srgbClr val="C07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0D345ED-65EB-4F66-A659-928D47B641EF}"/>
              </a:ext>
            </a:extLst>
          </p:cNvPr>
          <p:cNvSpPr>
            <a:spLocks noGrp="1"/>
          </p:cNvSpPr>
          <p:nvPr/>
        </p:nvSpPr>
        <p:spPr>
          <a:xfrm>
            <a:off x="4857750" y="30670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LLM methods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DB7E6A2-08A1-4E78-9D41-EC830C99FCBB}"/>
              </a:ext>
            </a:extLst>
          </p:cNvPr>
          <p:cNvSpPr>
            <a:spLocks noGrp="1"/>
          </p:cNvSpPr>
          <p:nvPr/>
        </p:nvSpPr>
        <p:spPr>
          <a:xfrm>
            <a:off x="4857750" y="33718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fine-tuning, prompting, agents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6E61A3C-B6B1-44E0-8C2F-A4E73503D6B2}"/>
              </a:ext>
            </a:extLst>
          </p:cNvPr>
          <p:cNvSpPr>
            <a:spLocks noGrp="1"/>
          </p:cNvSpPr>
          <p:nvPr/>
        </p:nvSpPr>
        <p:spPr>
          <a:xfrm>
            <a:off x="4667250" y="4362450"/>
            <a:ext cx="2857500" cy="876300"/>
          </a:xfrm>
          <a:prstGeom prst="rect">
            <a:avLst/>
          </a:prstGeom>
          <a:solidFill>
            <a:srgbClr val="E5DD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F9E5DB3-47C2-46B1-AE68-C9527B7CFFDF}"/>
              </a:ext>
            </a:extLst>
          </p:cNvPr>
          <p:cNvSpPr>
            <a:spLocks noGrp="1"/>
          </p:cNvSpPr>
          <p:nvPr/>
        </p:nvSpPr>
        <p:spPr>
          <a:xfrm>
            <a:off x="4667250" y="4362450"/>
            <a:ext cx="2857500" cy="47625"/>
          </a:xfrm>
          <a:prstGeom prst="rect">
            <a:avLst/>
          </a:prstGeom>
          <a:solidFill>
            <a:srgbClr val="6C5B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B4E3E43-0D4E-4808-B622-EB2DD1683444}"/>
              </a:ext>
            </a:extLst>
          </p:cNvPr>
          <p:cNvSpPr>
            <a:spLocks noGrp="1"/>
          </p:cNvSpPr>
          <p:nvPr/>
        </p:nvSpPr>
        <p:spPr>
          <a:xfrm>
            <a:off x="4857750" y="45720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Real systems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A266423-8FC4-4494-AEB3-849DE6894312}"/>
              </a:ext>
            </a:extLst>
          </p:cNvPr>
          <p:cNvSpPr>
            <a:spLocks noGrp="1"/>
          </p:cNvSpPr>
          <p:nvPr/>
        </p:nvSpPr>
        <p:spPr>
          <a:xfrm>
            <a:off x="4857750" y="48768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CI/CD, IoT, microservices, repos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BD7BD5A-7DD3-4557-9287-0E0ABBA11124}"/>
              </a:ext>
            </a:extLst>
          </p:cNvPr>
          <p:cNvSpPr>
            <a:spLocks noGrp="1"/>
          </p:cNvSpPr>
          <p:nvPr/>
        </p:nvSpPr>
        <p:spPr>
          <a:xfrm>
            <a:off x="8420100" y="3600450"/>
            <a:ext cx="2857500" cy="876300"/>
          </a:xfrm>
          <a:prstGeom prst="rect">
            <a:avLst/>
          </a:prstGeom>
          <a:solidFill>
            <a:srgbClr val="EA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D666584-884E-48B4-BB2D-4B4C8D4E35A4}"/>
              </a:ext>
            </a:extLst>
          </p:cNvPr>
          <p:cNvSpPr>
            <a:spLocks noGrp="1"/>
          </p:cNvSpPr>
          <p:nvPr/>
        </p:nvSpPr>
        <p:spPr>
          <a:xfrm>
            <a:off x="8420100" y="3600450"/>
            <a:ext cx="2857500" cy="47625"/>
          </a:xfrm>
          <a:prstGeom prst="rect">
            <a:avLst/>
          </a:prstGeom>
          <a:solidFill>
            <a:srgbClr val="A44A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5681043-C2F7-49F6-A0D3-9F277888B106}"/>
              </a:ext>
            </a:extLst>
          </p:cNvPr>
          <p:cNvSpPr>
            <a:spLocks noGrp="1"/>
          </p:cNvSpPr>
          <p:nvPr/>
        </p:nvSpPr>
        <p:spPr>
          <a:xfrm>
            <a:off x="8610600" y="38100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Fault localization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6CF1D39-6769-4B93-BE82-C321B5F49D20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from coverage ranking to context reasoning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F927037-AF46-49CB-8653-A7E541DBCD43}"/>
              </a:ext>
            </a:extLst>
          </p:cNvPr>
          <p:cNvSpPr>
            <a:spLocks noGrp="1"/>
          </p:cNvSpPr>
          <p:nvPr/>
        </p:nvSpPr>
        <p:spPr>
          <a:xfrm>
            <a:off x="2857500" y="5657850"/>
            <a:ext cx="647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The search process had to cover both testing problems and LLM-based solutions.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5326A40-FAAB-49A5-93AE-213CC8E3FE9C}"/>
              </a:ext>
            </a:extLst>
          </p:cNvPr>
          <p:cNvSpPr>
            <a:spLocks noGrp="1"/>
          </p:cNvSpPr>
          <p:nvPr/>
        </p:nvSpPr>
        <p:spPr>
          <a:xfrm>
            <a:off x="514350" y="64293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4B7B14-1A19-4B5B-9862-E5AE7C94872F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74318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A870F30B-6ED9-469C-AC19-D15A4B9C26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03-marker">
            <a:extLst>
              <a:ext uri="{FF2B5EF4-FFF2-40B4-BE49-F238E27FC236}">
                <a16:creationId xmlns:a16="http://schemas.microsoft.com/office/drawing/2014/main" id="{071BC7E5-240D-497F-A77D-F47D5A2299BF}"/>
              </a:ext>
            </a:extLst>
          </p:cNvPr>
          <p:cNvSpPr>
            <a:spLocks noGrp="1"/>
          </p:cNvSpPr>
          <p:nvPr/>
        </p:nvSpPr>
        <p:spPr>
          <a:xfrm>
            <a:off x="533400" y="485775"/>
            <a:ext cx="323850" cy="38100"/>
          </a:xfrm>
          <a:prstGeom prst="rect">
            <a:avLst/>
          </a:prstGeom>
          <a:solidFill>
            <a:srgbClr val="315C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03-label">
            <a:extLst>
              <a:ext uri="{FF2B5EF4-FFF2-40B4-BE49-F238E27FC236}">
                <a16:creationId xmlns:a16="http://schemas.microsoft.com/office/drawing/2014/main" id="{BCB3CC51-035D-4CDB-BCBB-95F32CA33205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SEARCH PROTOCOL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4E990B-E92D-4527-ABC0-959B6422A79C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103822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The search was built from databases, keyword families, and Boolean combinations.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37BFA4-F7C7-46C5-850C-3D94787B6CD3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This is the part to emphasize: the corpus was not chosen randomly; it followed an explicit search protocol.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03D453-AC98-4563-BAF4-1B8FDC409FC0}"/>
              </a:ext>
            </a:extLst>
          </p:cNvPr>
          <p:cNvSpPr>
            <a:spLocks noGrp="1"/>
          </p:cNvSpPr>
          <p:nvPr/>
        </p:nvSpPr>
        <p:spPr>
          <a:xfrm>
            <a:off x="590550" y="2952750"/>
            <a:ext cx="2381250" cy="1619250"/>
          </a:xfrm>
          <a:prstGeom prst="rect">
            <a:avLst/>
          </a:prstGeom>
          <a:solidFill>
            <a:srgbClr val="DEE8F1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56E6EB-CAF7-42CF-A146-F39BF4B28BBD}"/>
              </a:ext>
            </a:extLst>
          </p:cNvPr>
          <p:cNvSpPr>
            <a:spLocks noGrp="1"/>
          </p:cNvSpPr>
          <p:nvPr/>
        </p:nvSpPr>
        <p:spPr>
          <a:xfrm>
            <a:off x="590550" y="2952750"/>
            <a:ext cx="2381250" cy="57150"/>
          </a:xfrm>
          <a:prstGeom prst="rect">
            <a:avLst/>
          </a:prstGeom>
          <a:solidFill>
            <a:srgbClr val="315C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624789-B1E9-4AB5-BF50-28ABAF511221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2076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2D953C-F85C-488C-A1E5-AAC101BD9345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20764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IEEE Xplore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ACM Digital Library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Google Scholar as supplement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093FC3F-1D4F-458F-A930-DC2D0045FD89}"/>
              </a:ext>
            </a:extLst>
          </p:cNvPr>
          <p:cNvSpPr>
            <a:spLocks noGrp="1"/>
          </p:cNvSpPr>
          <p:nvPr/>
        </p:nvSpPr>
        <p:spPr>
          <a:xfrm>
            <a:off x="3429000" y="2952750"/>
            <a:ext cx="2647950" cy="1619250"/>
          </a:xfrm>
          <a:prstGeom prst="rect">
            <a:avLst/>
          </a:prstGeom>
          <a:solidFill>
            <a:srgbClr val="DDEAE2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38018B-AB5C-4239-8E29-617FFD1787EB}"/>
              </a:ext>
            </a:extLst>
          </p:cNvPr>
          <p:cNvSpPr>
            <a:spLocks noGrp="1"/>
          </p:cNvSpPr>
          <p:nvPr/>
        </p:nvSpPr>
        <p:spPr>
          <a:xfrm>
            <a:off x="3429000" y="2952750"/>
            <a:ext cx="2647950" cy="57150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DAF90F-0DAA-4FF9-BC94-1298CAFA29EC}"/>
              </a:ext>
            </a:extLst>
          </p:cNvPr>
          <p:cNvSpPr>
            <a:spLocks noGrp="1"/>
          </p:cNvSpPr>
          <p:nvPr/>
        </p:nvSpPr>
        <p:spPr>
          <a:xfrm>
            <a:off x="3581400" y="3143250"/>
            <a:ext cx="2343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Keyword families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20B1E5-8F55-43A8-9FDF-F6BD4AAC6BD9}"/>
              </a:ext>
            </a:extLst>
          </p:cNvPr>
          <p:cNvSpPr>
            <a:spLocks noGrp="1"/>
          </p:cNvSpPr>
          <p:nvPr/>
        </p:nvSpPr>
        <p:spPr>
          <a:xfrm>
            <a:off x="3581400" y="3486150"/>
            <a:ext cx="23431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software testing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flaky test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fault localization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vulnerability detection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UI testing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large language model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2C0542B-0D3F-4628-BBD7-115F14146270}"/>
              </a:ext>
            </a:extLst>
          </p:cNvPr>
          <p:cNvSpPr>
            <a:spLocks noGrp="1"/>
          </p:cNvSpPr>
          <p:nvPr/>
        </p:nvSpPr>
        <p:spPr>
          <a:xfrm>
            <a:off x="6534150" y="2952750"/>
            <a:ext cx="2895600" cy="1619250"/>
          </a:xfrm>
          <a:prstGeom prst="rect">
            <a:avLst/>
          </a:prstGeom>
          <a:solidFill>
            <a:srgbClr val="F1E1C8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AC033E3-713A-417D-8BAB-588DE1422A26}"/>
              </a:ext>
            </a:extLst>
          </p:cNvPr>
          <p:cNvSpPr>
            <a:spLocks noGrp="1"/>
          </p:cNvSpPr>
          <p:nvPr/>
        </p:nvSpPr>
        <p:spPr>
          <a:xfrm>
            <a:off x="6534150" y="2952750"/>
            <a:ext cx="2895600" cy="57150"/>
          </a:xfrm>
          <a:prstGeom prst="rect">
            <a:avLst/>
          </a:prstGeom>
          <a:solidFill>
            <a:srgbClr val="C07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BF47C05-529C-4C34-A0A4-B487194B096B}"/>
              </a:ext>
            </a:extLst>
          </p:cNvPr>
          <p:cNvSpPr>
            <a:spLocks noGrp="1"/>
          </p:cNvSpPr>
          <p:nvPr/>
        </p:nvSpPr>
        <p:spPr>
          <a:xfrm>
            <a:off x="6686550" y="3143250"/>
            <a:ext cx="2590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Boolean logic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4472070-4DC4-4DEC-88A6-E6FD8CC9D942}"/>
              </a:ext>
            </a:extLst>
          </p:cNvPr>
          <p:cNvSpPr>
            <a:spLocks noGrp="1"/>
          </p:cNvSpPr>
          <p:nvPr/>
        </p:nvSpPr>
        <p:spPr>
          <a:xfrm>
            <a:off x="6686550" y="3486150"/>
            <a:ext cx="25908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(testing OR automation) AND LLM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flaky test AND LLM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fault localization AND LLM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security testing AND LLM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D1BCE5-4CD4-4956-874B-CC0D6BF19DEE}"/>
              </a:ext>
            </a:extLst>
          </p:cNvPr>
          <p:cNvSpPr>
            <a:spLocks noGrp="1"/>
          </p:cNvSpPr>
          <p:nvPr/>
        </p:nvSpPr>
        <p:spPr>
          <a:xfrm>
            <a:off x="9810750" y="2952750"/>
            <a:ext cx="1809750" cy="1619250"/>
          </a:xfrm>
          <a:prstGeom prst="rect">
            <a:avLst/>
          </a:prstGeom>
          <a:solidFill>
            <a:srgbClr val="E5DDE9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74DE356-A82E-4175-972A-8AE52579F291}"/>
              </a:ext>
            </a:extLst>
          </p:cNvPr>
          <p:cNvSpPr>
            <a:spLocks noGrp="1"/>
          </p:cNvSpPr>
          <p:nvPr/>
        </p:nvSpPr>
        <p:spPr>
          <a:xfrm>
            <a:off x="9810750" y="2952750"/>
            <a:ext cx="1809750" cy="57150"/>
          </a:xfrm>
          <a:prstGeom prst="rect">
            <a:avLst/>
          </a:prstGeom>
          <a:solidFill>
            <a:srgbClr val="6C5B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87E1464-0F79-43F5-924C-336D819814EA}"/>
              </a:ext>
            </a:extLst>
          </p:cNvPr>
          <p:cNvSpPr>
            <a:spLocks noGrp="1"/>
          </p:cNvSpPr>
          <p:nvPr/>
        </p:nvSpPr>
        <p:spPr>
          <a:xfrm>
            <a:off x="9963150" y="3143250"/>
            <a:ext cx="1504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Scope restriction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CE8EC0D-446E-4884-966F-EAC6C7CB9B76}"/>
              </a:ext>
            </a:extLst>
          </p:cNvPr>
          <p:cNvSpPr>
            <a:spLocks noGrp="1"/>
          </p:cNvSpPr>
          <p:nvPr/>
        </p:nvSpPr>
        <p:spPr>
          <a:xfrm>
            <a:off x="9963150" y="3486150"/>
            <a:ext cx="15049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peer-reviewed papers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journal, conference, workshop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English publications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software testing relevance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66AD9DF-4A38-494A-84C6-3C5170A4500F}"/>
              </a:ext>
            </a:extLst>
          </p:cNvPr>
          <p:cNvSpPr>
            <a:spLocks noGrp="1"/>
          </p:cNvSpPr>
          <p:nvPr/>
        </p:nvSpPr>
        <p:spPr>
          <a:xfrm>
            <a:off x="1524000" y="5219700"/>
            <a:ext cx="9144000" cy="495300"/>
          </a:xfrm>
          <a:prstGeom prst="rect">
            <a:avLst/>
          </a:prstGeom>
          <a:solidFill>
            <a:srgbClr val="ECE5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1059AB-410F-477D-BAC1-8F240881110E}"/>
              </a:ext>
            </a:extLst>
          </p:cNvPr>
          <p:cNvSpPr>
            <a:spLocks noGrp="1"/>
          </p:cNvSpPr>
          <p:nvPr/>
        </p:nvSpPr>
        <p:spPr>
          <a:xfrm>
            <a:off x="3028950" y="5353050"/>
            <a:ext cx="6858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 used broad search terms first, then refined the corpus using relevance, method detail, and evaluation evidence.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20E54F4-692B-4543-A345-75C44F416A3E}"/>
              </a:ext>
            </a:extLst>
          </p:cNvPr>
          <p:cNvSpPr>
            <a:spLocks noGrp="1"/>
          </p:cNvSpPr>
          <p:nvPr/>
        </p:nvSpPr>
        <p:spPr>
          <a:xfrm>
            <a:off x="514350" y="64293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F49DBA7-1842-4988-80C2-C8C6452D8EF2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76165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99FFDBF8-3DB0-4755-85A5-06BCF638B2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04-marker">
            <a:extLst>
              <a:ext uri="{FF2B5EF4-FFF2-40B4-BE49-F238E27FC236}">
                <a16:creationId xmlns:a16="http://schemas.microsoft.com/office/drawing/2014/main" id="{EED7295D-C6D2-4C58-8FAA-FFCDB41BAAB3}"/>
              </a:ext>
            </a:extLst>
          </p:cNvPr>
          <p:cNvSpPr>
            <a:spLocks noGrp="1"/>
          </p:cNvSpPr>
          <p:nvPr/>
        </p:nvSpPr>
        <p:spPr>
          <a:xfrm>
            <a:off x="533400" y="485775"/>
            <a:ext cx="323850" cy="38100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04-label">
            <a:extLst>
              <a:ext uri="{FF2B5EF4-FFF2-40B4-BE49-F238E27FC236}">
                <a16:creationId xmlns:a16="http://schemas.microsoft.com/office/drawing/2014/main" id="{17241F5C-F31C-4D9D-BB41-B71164D59C1E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SCREENING CRITERIA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B8C59A-C8FC-48B3-B30B-7CDE9D251B53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Selection criteria made the review reproducible and defensible.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BFE7AA-8258-489F-8947-D80EFFF6251A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The paper uses explicit inclusion and exclusion rules before synthesizing the final 25 studies.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7378CF-BC49-4BAD-AAF7-38E3276A9A76}"/>
              </a:ext>
            </a:extLst>
          </p:cNvPr>
          <p:cNvSpPr>
            <a:spLocks noGrp="1"/>
          </p:cNvSpPr>
          <p:nvPr/>
        </p:nvSpPr>
        <p:spPr>
          <a:xfrm>
            <a:off x="781050" y="2914650"/>
            <a:ext cx="4857750" cy="2476500"/>
          </a:xfrm>
          <a:prstGeom prst="rect">
            <a:avLst/>
          </a:prstGeom>
          <a:solidFill>
            <a:srgbClr val="DDEA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8179BB-41DF-4E72-BF27-4C2F91AFB5DC}"/>
              </a:ext>
            </a:extLst>
          </p:cNvPr>
          <p:cNvSpPr>
            <a:spLocks noGrp="1"/>
          </p:cNvSpPr>
          <p:nvPr/>
        </p:nvSpPr>
        <p:spPr>
          <a:xfrm>
            <a:off x="781050" y="2914650"/>
            <a:ext cx="4857750" cy="66675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1F56EE9-1C27-4C9E-B6B0-0F89B921B36C}"/>
              </a:ext>
            </a:extLst>
          </p:cNvPr>
          <p:cNvSpPr>
            <a:spLocks noGrp="1"/>
          </p:cNvSpPr>
          <p:nvPr/>
        </p:nvSpPr>
        <p:spPr>
          <a:xfrm>
            <a:off x="1066800" y="32004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Included when the study...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8EDF32-8AFA-403C-BE45-E3F0B22F98F5}"/>
              </a:ext>
            </a:extLst>
          </p:cNvPr>
          <p:cNvSpPr>
            <a:spLocks noGrp="1"/>
          </p:cNvSpPr>
          <p:nvPr/>
        </p:nvSpPr>
        <p:spPr>
          <a:xfrm>
            <a:off x="1066800" y="3695700"/>
            <a:ext cx="4095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1. is peer-reviewed</a:t>
            </a:r>
          </a:p>
          <a:p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2. studies testing, defect analysis, FL, vulnerability detection, UI testing, or automation</a:t>
            </a:r>
          </a:p>
          <a:p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3. proposes detection, analysis, localization, or repair method</a:t>
            </a:r>
          </a:p>
          <a:p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4. describes LLM usage and evaluation when LLM-based</a:t>
            </a:r>
          </a:p>
          <a:p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5. has enough method detail for comparison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876A0A-34F4-47F4-8401-F09289F2AA20}"/>
              </a:ext>
            </a:extLst>
          </p:cNvPr>
          <p:cNvSpPr>
            <a:spLocks noGrp="1"/>
          </p:cNvSpPr>
          <p:nvPr/>
        </p:nvSpPr>
        <p:spPr>
          <a:xfrm>
            <a:off x="6542809" y="2914650"/>
            <a:ext cx="4857750" cy="2476500"/>
          </a:xfrm>
          <a:prstGeom prst="rect">
            <a:avLst/>
          </a:prstGeom>
          <a:solidFill>
            <a:srgbClr val="EA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B965AFE-0D0E-4EC0-831A-CF110D444B71}"/>
              </a:ext>
            </a:extLst>
          </p:cNvPr>
          <p:cNvSpPr>
            <a:spLocks noGrp="1"/>
          </p:cNvSpPr>
          <p:nvPr/>
        </p:nvSpPr>
        <p:spPr>
          <a:xfrm>
            <a:off x="6553200" y="2914650"/>
            <a:ext cx="4857750" cy="66675"/>
          </a:xfrm>
          <a:prstGeom prst="rect">
            <a:avLst/>
          </a:prstGeom>
          <a:solidFill>
            <a:srgbClr val="A44A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496BADC-2CC0-4905-99C0-C3EF17F64E16}"/>
              </a:ext>
            </a:extLst>
          </p:cNvPr>
          <p:cNvSpPr>
            <a:spLocks noGrp="1"/>
          </p:cNvSpPr>
          <p:nvPr/>
        </p:nvSpPr>
        <p:spPr>
          <a:xfrm>
            <a:off x="6838950" y="32004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Excluded when the study...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6E2E7FE-8E05-4791-86D0-129102CEDF74}"/>
              </a:ext>
            </a:extLst>
          </p:cNvPr>
          <p:cNvSpPr>
            <a:spLocks noGrp="1"/>
          </p:cNvSpPr>
          <p:nvPr/>
        </p:nvSpPr>
        <p:spPr>
          <a:xfrm>
            <a:off x="6838950" y="3695700"/>
            <a:ext cx="4095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1. is non-peer-reviewed</a:t>
            </a:r>
          </a:p>
          <a:p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2. is only indirectly related to testing</a:t>
            </a:r>
          </a:p>
          <a:p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3. is purely conceptual without empirical validation</a:t>
            </a:r>
          </a:p>
          <a:p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4. duplicates a more complete or recent study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EE03EC-83D6-43A3-BBB2-32314BDACAB0}"/>
              </a:ext>
            </a:extLst>
          </p:cNvPr>
          <p:cNvSpPr>
            <a:spLocks noGrp="1"/>
          </p:cNvSpPr>
          <p:nvPr/>
        </p:nvSpPr>
        <p:spPr>
          <a:xfrm>
            <a:off x="1752600" y="5772150"/>
            <a:ext cx="8686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Important nuance: Glasswing/Mythos is discussed later as grey literature, not counted as one of the 25 primary studies.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45E625-AC13-4CB3-B511-1395B3A1F0C9}"/>
              </a:ext>
            </a:extLst>
          </p:cNvPr>
          <p:cNvSpPr>
            <a:spLocks noGrp="1"/>
          </p:cNvSpPr>
          <p:nvPr/>
        </p:nvSpPr>
        <p:spPr>
          <a:xfrm>
            <a:off x="514350" y="64293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04FB86D-E3C6-408C-97DE-BF42DBCA18E0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4795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0866C10A-0B70-444C-8A34-3C14C832B287}"/>
              </a:ext>
            </a:extLst>
          </p:cNvPr>
          <p:cNvSpPr>
            <a:spLocks noGrp="1"/>
          </p:cNvSpPr>
          <p:nvPr/>
        </p:nvSpPr>
        <p:spPr>
          <a:xfrm>
            <a:off x="19051" y="247650"/>
            <a:ext cx="12192000" cy="6858000"/>
          </a:xfrm>
          <a:prstGeom prst="rect">
            <a:avLst/>
          </a:prstGeom>
          <a:solidFill>
            <a:srgbClr val="F8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05-marker">
            <a:extLst>
              <a:ext uri="{FF2B5EF4-FFF2-40B4-BE49-F238E27FC236}">
                <a16:creationId xmlns:a16="http://schemas.microsoft.com/office/drawing/2014/main" id="{4017E4E1-56F3-4B23-9696-2B1852442704}"/>
              </a:ext>
            </a:extLst>
          </p:cNvPr>
          <p:cNvSpPr>
            <a:spLocks noGrp="1"/>
          </p:cNvSpPr>
          <p:nvPr/>
        </p:nvSpPr>
        <p:spPr>
          <a:xfrm>
            <a:off x="533400" y="485775"/>
            <a:ext cx="323850" cy="38100"/>
          </a:xfrm>
          <a:prstGeom prst="rect">
            <a:avLst/>
          </a:prstGeom>
          <a:solidFill>
            <a:srgbClr val="C07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05-label">
            <a:extLst>
              <a:ext uri="{FF2B5EF4-FFF2-40B4-BE49-F238E27FC236}">
                <a16:creationId xmlns:a16="http://schemas.microsoft.com/office/drawing/2014/main" id="{36B0DA04-AA1F-453D-A2A7-BDBF597853F9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SNOWBALLING AND SELECTION RESULTS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76F024-AEC1-410C-BC1E-9A57A8B3C8FE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10287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Snowballing expanded the search beyond the initial seed papers.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9E57B1-648B-470F-AC5F-15921A16E494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Backward snowballing checks references; forward snowballing checks newer papers that cite the seed studies.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18AF36-8097-4997-982C-63A3892FDA72}"/>
              </a:ext>
            </a:extLst>
          </p:cNvPr>
          <p:cNvSpPr>
            <a:spLocks noGrp="1"/>
          </p:cNvSpPr>
          <p:nvPr/>
        </p:nvSpPr>
        <p:spPr>
          <a:xfrm>
            <a:off x="552450" y="3067050"/>
            <a:ext cx="180975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117E4F3-8FE0-4668-A7BE-FCB67171B3D7}"/>
              </a:ext>
            </a:extLst>
          </p:cNvPr>
          <p:cNvSpPr>
            <a:spLocks noGrp="1"/>
          </p:cNvSpPr>
          <p:nvPr/>
        </p:nvSpPr>
        <p:spPr>
          <a:xfrm>
            <a:off x="552450" y="3067050"/>
            <a:ext cx="1809750" cy="57150"/>
          </a:xfrm>
          <a:prstGeom prst="rect">
            <a:avLst/>
          </a:prstGeom>
          <a:solidFill>
            <a:srgbClr val="315C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626B34-73AF-4ADB-BDBD-A37F5AA1E080}"/>
              </a:ext>
            </a:extLst>
          </p:cNvPr>
          <p:cNvSpPr>
            <a:spLocks noGrp="1"/>
          </p:cNvSpPr>
          <p:nvPr/>
        </p:nvSpPr>
        <p:spPr>
          <a:xfrm>
            <a:off x="704850" y="3276600"/>
            <a:ext cx="1504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Initial search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2C55EE9-B187-477D-8CFE-3D08B2971405}"/>
              </a:ext>
            </a:extLst>
          </p:cNvPr>
          <p:cNvSpPr>
            <a:spLocks noGrp="1"/>
          </p:cNvSpPr>
          <p:nvPr/>
        </p:nvSpPr>
        <p:spPr>
          <a:xfrm>
            <a:off x="704850" y="3733800"/>
            <a:ext cx="1504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315C8B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315C8B"/>
                </a:solidFill>
                <a:latin typeface="Aptos Mono"/>
                <a:ea typeface="Aptos Mono"/>
                <a:cs typeface="Aptos Mono"/>
              </a:rPr>
              <a:t>9 included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ABF12A1-23EA-4A5B-980A-4B2A870057F4}"/>
              </a:ext>
            </a:extLst>
          </p:cNvPr>
          <p:cNvSpPr>
            <a:spLocks noGrp="1"/>
          </p:cNvSpPr>
          <p:nvPr/>
        </p:nvSpPr>
        <p:spPr>
          <a:xfrm>
            <a:off x="704850" y="4114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candidate count missing in draft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E4EAEAF-B965-4C4A-AC9D-4FFD33D71701}"/>
              </a:ext>
            </a:extLst>
          </p:cNvPr>
          <p:cNvSpPr>
            <a:spLocks noGrp="1"/>
          </p:cNvSpPr>
          <p:nvPr/>
        </p:nvSpPr>
        <p:spPr>
          <a:xfrm>
            <a:off x="2438400" y="3600450"/>
            <a:ext cx="28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04A2B8B-83DE-44BF-9271-72DFC080A22C}"/>
              </a:ext>
            </a:extLst>
          </p:cNvPr>
          <p:cNvSpPr>
            <a:spLocks noGrp="1"/>
          </p:cNvSpPr>
          <p:nvPr/>
        </p:nvSpPr>
        <p:spPr>
          <a:xfrm>
            <a:off x="2790825" y="3067050"/>
            <a:ext cx="180975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F1922F-13F0-4AA4-8890-B0BDFC275E8C}"/>
              </a:ext>
            </a:extLst>
          </p:cNvPr>
          <p:cNvSpPr>
            <a:spLocks noGrp="1"/>
          </p:cNvSpPr>
          <p:nvPr/>
        </p:nvSpPr>
        <p:spPr>
          <a:xfrm>
            <a:off x="2790825" y="3067050"/>
            <a:ext cx="1809750" cy="57150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23337BC-9675-425A-ADA1-ADCCB2F716BF}"/>
              </a:ext>
            </a:extLst>
          </p:cNvPr>
          <p:cNvSpPr>
            <a:spLocks noGrp="1"/>
          </p:cNvSpPr>
          <p:nvPr/>
        </p:nvSpPr>
        <p:spPr>
          <a:xfrm>
            <a:off x="2943225" y="3276600"/>
            <a:ext cx="1504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Backward snowballing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C11238E-D486-4F2D-BA7D-7BAB19BEF147}"/>
              </a:ext>
            </a:extLst>
          </p:cNvPr>
          <p:cNvSpPr>
            <a:spLocks noGrp="1"/>
          </p:cNvSpPr>
          <p:nvPr/>
        </p:nvSpPr>
        <p:spPr>
          <a:xfrm>
            <a:off x="2943225" y="3733800"/>
            <a:ext cx="1504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F6F5B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1F6F5B"/>
                </a:solidFill>
                <a:latin typeface="Aptos Mono"/>
                <a:ea typeface="Aptos Mono"/>
                <a:cs typeface="Aptos Mono"/>
              </a:rPr>
              <a:t>18 candidates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7B3CE32-F177-4786-8A15-A7F8AE32DADB}"/>
              </a:ext>
            </a:extLst>
          </p:cNvPr>
          <p:cNvSpPr>
            <a:spLocks noGrp="1"/>
          </p:cNvSpPr>
          <p:nvPr/>
        </p:nvSpPr>
        <p:spPr>
          <a:xfrm>
            <a:off x="2943225" y="42481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8 included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4AD92AF-E38C-4FAB-9CE2-A25FC963EB07}"/>
              </a:ext>
            </a:extLst>
          </p:cNvPr>
          <p:cNvSpPr>
            <a:spLocks noGrp="1"/>
          </p:cNvSpPr>
          <p:nvPr/>
        </p:nvSpPr>
        <p:spPr>
          <a:xfrm>
            <a:off x="4676775" y="3600450"/>
            <a:ext cx="28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0C2B02-CD0E-4A09-A833-4FBDA6434AC1}"/>
              </a:ext>
            </a:extLst>
          </p:cNvPr>
          <p:cNvSpPr>
            <a:spLocks noGrp="1"/>
          </p:cNvSpPr>
          <p:nvPr/>
        </p:nvSpPr>
        <p:spPr>
          <a:xfrm>
            <a:off x="5029200" y="3067050"/>
            <a:ext cx="180975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91202E0-FF3F-48E9-A429-D78FC4610B95}"/>
              </a:ext>
            </a:extLst>
          </p:cNvPr>
          <p:cNvSpPr>
            <a:spLocks noGrp="1"/>
          </p:cNvSpPr>
          <p:nvPr/>
        </p:nvSpPr>
        <p:spPr>
          <a:xfrm>
            <a:off x="5029200" y="3067050"/>
            <a:ext cx="1809750" cy="57150"/>
          </a:xfrm>
          <a:prstGeom prst="rect">
            <a:avLst/>
          </a:prstGeom>
          <a:solidFill>
            <a:srgbClr val="C07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F8BD338-C6A7-4FCB-812F-3E741D803518}"/>
              </a:ext>
            </a:extLst>
          </p:cNvPr>
          <p:cNvSpPr>
            <a:spLocks noGrp="1"/>
          </p:cNvSpPr>
          <p:nvPr/>
        </p:nvSpPr>
        <p:spPr>
          <a:xfrm>
            <a:off x="5181600" y="3276600"/>
            <a:ext cx="1504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Forward snowballing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C055FB9-2664-485D-B0B9-1136395955FD}"/>
              </a:ext>
            </a:extLst>
          </p:cNvPr>
          <p:cNvSpPr>
            <a:spLocks noGrp="1"/>
          </p:cNvSpPr>
          <p:nvPr/>
        </p:nvSpPr>
        <p:spPr>
          <a:xfrm>
            <a:off x="5181600" y="3733800"/>
            <a:ext cx="1504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7 candidates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276BBE-026E-4505-9E49-9787FAA77F69}"/>
              </a:ext>
            </a:extLst>
          </p:cNvPr>
          <p:cNvSpPr>
            <a:spLocks noGrp="1"/>
          </p:cNvSpPr>
          <p:nvPr/>
        </p:nvSpPr>
        <p:spPr>
          <a:xfrm>
            <a:off x="5181600" y="4267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3 included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420A710-256A-44D2-AA56-70E9434556B9}"/>
              </a:ext>
            </a:extLst>
          </p:cNvPr>
          <p:cNvSpPr>
            <a:spLocks noGrp="1"/>
          </p:cNvSpPr>
          <p:nvPr/>
        </p:nvSpPr>
        <p:spPr>
          <a:xfrm>
            <a:off x="6915150" y="3600450"/>
            <a:ext cx="28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3031AE7-6C93-4E3D-8E58-DBBBBCC53295}"/>
              </a:ext>
            </a:extLst>
          </p:cNvPr>
          <p:cNvSpPr>
            <a:spLocks noGrp="1"/>
          </p:cNvSpPr>
          <p:nvPr/>
        </p:nvSpPr>
        <p:spPr>
          <a:xfrm>
            <a:off x="7267575" y="3067050"/>
            <a:ext cx="180975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ECEF4F4-534D-460D-AF2E-D6770F5AF271}"/>
              </a:ext>
            </a:extLst>
          </p:cNvPr>
          <p:cNvSpPr>
            <a:spLocks noGrp="1"/>
          </p:cNvSpPr>
          <p:nvPr/>
        </p:nvSpPr>
        <p:spPr>
          <a:xfrm>
            <a:off x="7267575" y="3067050"/>
            <a:ext cx="1809750" cy="57150"/>
          </a:xfrm>
          <a:prstGeom prst="rect">
            <a:avLst/>
          </a:prstGeom>
          <a:solidFill>
            <a:srgbClr val="6C5B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8F09268-30F1-4E7A-A142-F93C63C7AFE6}"/>
              </a:ext>
            </a:extLst>
          </p:cNvPr>
          <p:cNvSpPr>
            <a:spLocks noGrp="1"/>
          </p:cNvSpPr>
          <p:nvPr/>
        </p:nvSpPr>
        <p:spPr>
          <a:xfrm>
            <a:off x="7419975" y="3276600"/>
            <a:ext cx="1504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Extended venue search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F5B1963-8919-4305-B768-008FCB5F9A4A}"/>
              </a:ext>
            </a:extLst>
          </p:cNvPr>
          <p:cNvSpPr>
            <a:spLocks noGrp="1"/>
          </p:cNvSpPr>
          <p:nvPr/>
        </p:nvSpPr>
        <p:spPr>
          <a:xfrm>
            <a:off x="7419975" y="3733800"/>
            <a:ext cx="1504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6C5B7B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6C5B7B"/>
                </a:solidFill>
                <a:latin typeface="Aptos Mono"/>
                <a:ea typeface="Aptos Mono"/>
                <a:cs typeface="Aptos Mono"/>
              </a:rPr>
              <a:t>5 candidates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E568903-82B8-462D-BF4B-05BD60BBFD30}"/>
              </a:ext>
            </a:extLst>
          </p:cNvPr>
          <p:cNvSpPr>
            <a:spLocks noGrp="1"/>
          </p:cNvSpPr>
          <p:nvPr/>
        </p:nvSpPr>
        <p:spPr>
          <a:xfrm>
            <a:off x="7419975" y="42862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5 included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6D3E8CD-ECCE-49FA-9C60-3A1C26B515A2}"/>
              </a:ext>
            </a:extLst>
          </p:cNvPr>
          <p:cNvSpPr>
            <a:spLocks noGrp="1"/>
          </p:cNvSpPr>
          <p:nvPr/>
        </p:nvSpPr>
        <p:spPr>
          <a:xfrm>
            <a:off x="9153525" y="3600450"/>
            <a:ext cx="28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790B170-10D9-4A22-9032-85FAE2DF878A}"/>
              </a:ext>
            </a:extLst>
          </p:cNvPr>
          <p:cNvSpPr>
            <a:spLocks noGrp="1"/>
          </p:cNvSpPr>
          <p:nvPr/>
        </p:nvSpPr>
        <p:spPr>
          <a:xfrm>
            <a:off x="9505950" y="3067050"/>
            <a:ext cx="180975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AD9080F-2D4C-4801-A0CA-445D8FF0DF5F}"/>
              </a:ext>
            </a:extLst>
          </p:cNvPr>
          <p:cNvSpPr>
            <a:spLocks noGrp="1"/>
          </p:cNvSpPr>
          <p:nvPr/>
        </p:nvSpPr>
        <p:spPr>
          <a:xfrm>
            <a:off x="9505950" y="3067050"/>
            <a:ext cx="1809750" cy="57150"/>
          </a:xfrm>
          <a:prstGeom prst="rect">
            <a:avLst/>
          </a:prstGeom>
          <a:solidFill>
            <a:srgbClr val="A44A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8ED0F90-9997-4D41-A697-6E1010AF3AC9}"/>
              </a:ext>
            </a:extLst>
          </p:cNvPr>
          <p:cNvSpPr>
            <a:spLocks noGrp="1"/>
          </p:cNvSpPr>
          <p:nvPr/>
        </p:nvSpPr>
        <p:spPr>
          <a:xfrm>
            <a:off x="9658350" y="3276600"/>
            <a:ext cx="1504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Final corpus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4F0364F-C2B0-4A8D-895D-C31D1AF6D76F}"/>
              </a:ext>
            </a:extLst>
          </p:cNvPr>
          <p:cNvSpPr>
            <a:spLocks noGrp="1"/>
          </p:cNvSpPr>
          <p:nvPr/>
        </p:nvSpPr>
        <p:spPr>
          <a:xfrm>
            <a:off x="9658350" y="3733800"/>
            <a:ext cx="1504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A44A3F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A44A3F"/>
                </a:solidFill>
                <a:latin typeface="Aptos Mono"/>
                <a:ea typeface="Aptos Mono"/>
                <a:cs typeface="Aptos Mono"/>
              </a:rPr>
              <a:t>25 studies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BF5E2F2-B2CE-4C00-A76E-7B557BD924E4}"/>
              </a:ext>
            </a:extLst>
          </p:cNvPr>
          <p:cNvSpPr>
            <a:spLocks noGrp="1"/>
          </p:cNvSpPr>
          <p:nvPr/>
        </p:nvSpPr>
        <p:spPr>
          <a:xfrm>
            <a:off x="9658350" y="4114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used for RQ synthesis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38F583D-F904-4AB7-9505-265E7BFB716E}"/>
              </a:ext>
            </a:extLst>
          </p:cNvPr>
          <p:cNvSpPr>
            <a:spLocks noGrp="1"/>
          </p:cNvSpPr>
          <p:nvPr/>
        </p:nvSpPr>
        <p:spPr>
          <a:xfrm>
            <a:off x="514350" y="64293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4DF814D-664E-43C9-B1F1-F4CE503E61CF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31536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720D3513-360B-42D5-A577-2864F778E5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06-marker">
            <a:extLst>
              <a:ext uri="{FF2B5EF4-FFF2-40B4-BE49-F238E27FC236}">
                <a16:creationId xmlns:a16="http://schemas.microsoft.com/office/drawing/2014/main" id="{D6830388-8C3A-468D-9137-BAE34EAE3A00}"/>
              </a:ext>
            </a:extLst>
          </p:cNvPr>
          <p:cNvSpPr>
            <a:spLocks noGrp="1"/>
          </p:cNvSpPr>
          <p:nvPr/>
        </p:nvSpPr>
        <p:spPr>
          <a:xfrm>
            <a:off x="533400" y="485775"/>
            <a:ext cx="323850" cy="38100"/>
          </a:xfrm>
          <a:prstGeom prst="rect">
            <a:avLst/>
          </a:prstGeom>
          <a:solidFill>
            <a:srgbClr val="6C5B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06-label">
            <a:extLst>
              <a:ext uri="{FF2B5EF4-FFF2-40B4-BE49-F238E27FC236}">
                <a16:creationId xmlns:a16="http://schemas.microsoft.com/office/drawing/2014/main" id="{EAF99F5C-89BE-43A5-B519-89AAC882929E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DATA EXTRACTION AND SYNTHESIS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03B46B-5492-410F-9F3C-7C3999EE047A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The five research questions guided what was extracted from each study.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5A44CC-D4F9-4EF9-AF81-E4B67A315368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This turns the paper list into a structured comparison, instead of a paper-by-paper summary.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2651B2-167C-4E76-B84A-994E10A20F29}"/>
              </a:ext>
            </a:extLst>
          </p:cNvPr>
          <p:cNvSpPr>
            <a:spLocks noGrp="1"/>
          </p:cNvSpPr>
          <p:nvPr/>
        </p:nvSpPr>
        <p:spPr>
          <a:xfrm>
            <a:off x="552450" y="2971800"/>
            <a:ext cx="1885950" cy="2190750"/>
          </a:xfrm>
          <a:prstGeom prst="rect">
            <a:avLst/>
          </a:prstGeom>
          <a:solidFill>
            <a:srgbClr val="DEE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EBD2CC-67D1-47EF-89DA-E194EF534E40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590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315C8B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315C8B"/>
                </a:solidFill>
                <a:latin typeface="Aptos Mono"/>
                <a:ea typeface="Aptos Mono"/>
                <a:cs typeface="Aptos Mono"/>
              </a:rPr>
              <a:t>RQ1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ECF382-380B-4195-81AC-25DED59508D5}"/>
              </a:ext>
            </a:extLst>
          </p:cNvPr>
          <p:cNvSpPr>
            <a:spLocks noGrp="1"/>
          </p:cNvSpPr>
          <p:nvPr/>
        </p:nvSpPr>
        <p:spPr>
          <a:xfrm>
            <a:off x="723900" y="360045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Challenges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D8E9644-AC04-4368-8B15-896449144BA8}"/>
              </a:ext>
            </a:extLst>
          </p:cNvPr>
          <p:cNvSpPr>
            <a:spLocks noGrp="1"/>
          </p:cNvSpPr>
          <p:nvPr/>
        </p:nvSpPr>
        <p:spPr>
          <a:xfrm>
            <a:off x="723900" y="3962400"/>
            <a:ext cx="1524000" cy="19050"/>
          </a:xfrm>
          <a:prstGeom prst="rect">
            <a:avLst/>
          </a:prstGeom>
          <a:solidFill>
            <a:srgbClr val="315C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576AE7-B1F9-4E28-B093-29001C556DCC}"/>
              </a:ext>
            </a:extLst>
          </p:cNvPr>
          <p:cNvSpPr>
            <a:spLocks noGrp="1"/>
          </p:cNvSpPr>
          <p:nvPr/>
        </p:nvSpPr>
        <p:spPr>
          <a:xfrm>
            <a:off x="723900" y="4171950"/>
            <a:ext cx="14287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root causes</a:t>
            </a:r>
          </a:p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system context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0A42DB7-07E0-4FAA-9500-D5C4F3E855C9}"/>
              </a:ext>
            </a:extLst>
          </p:cNvPr>
          <p:cNvSpPr>
            <a:spLocks noGrp="1"/>
          </p:cNvSpPr>
          <p:nvPr/>
        </p:nvSpPr>
        <p:spPr>
          <a:xfrm>
            <a:off x="2724150" y="2971800"/>
            <a:ext cx="1885950" cy="2190750"/>
          </a:xfrm>
          <a:prstGeom prst="rect">
            <a:avLst/>
          </a:prstGeom>
          <a:solidFill>
            <a:srgbClr val="DDEA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157A249-F4FB-422A-B699-F1ECE341E899}"/>
              </a:ext>
            </a:extLst>
          </p:cNvPr>
          <p:cNvSpPr>
            <a:spLocks noGrp="1"/>
          </p:cNvSpPr>
          <p:nvPr/>
        </p:nvSpPr>
        <p:spPr>
          <a:xfrm>
            <a:off x="2895600" y="3181350"/>
            <a:ext cx="590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F6F5B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1F6F5B"/>
                </a:solidFill>
                <a:latin typeface="Aptos Mono"/>
                <a:ea typeface="Aptos Mono"/>
                <a:cs typeface="Aptos Mono"/>
              </a:rPr>
              <a:t>RQ2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BE061CE-535F-4873-87F2-47EE6920A37C}"/>
              </a:ext>
            </a:extLst>
          </p:cNvPr>
          <p:cNvSpPr>
            <a:spLocks noGrp="1"/>
          </p:cNvSpPr>
          <p:nvPr/>
        </p:nvSpPr>
        <p:spPr>
          <a:xfrm>
            <a:off x="2895600" y="360045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Approaches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17539AA-450B-4245-A7A9-CFAB284FFAE3}"/>
              </a:ext>
            </a:extLst>
          </p:cNvPr>
          <p:cNvSpPr>
            <a:spLocks noGrp="1"/>
          </p:cNvSpPr>
          <p:nvPr/>
        </p:nvSpPr>
        <p:spPr>
          <a:xfrm>
            <a:off x="2895600" y="3962400"/>
            <a:ext cx="1524000" cy="19050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8E1E0CE-9CFD-4ABD-8312-637E3AC914A9}"/>
              </a:ext>
            </a:extLst>
          </p:cNvPr>
          <p:cNvSpPr>
            <a:spLocks noGrp="1"/>
          </p:cNvSpPr>
          <p:nvPr/>
        </p:nvSpPr>
        <p:spPr>
          <a:xfrm>
            <a:off x="2895600" y="4171950"/>
            <a:ext cx="14287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detection</a:t>
            </a:r>
          </a:p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localization</a:t>
            </a:r>
          </a:p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repair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0232380-42FA-4FE6-BEC4-E2E81D8FE081}"/>
              </a:ext>
            </a:extLst>
          </p:cNvPr>
          <p:cNvSpPr>
            <a:spLocks noGrp="1"/>
          </p:cNvSpPr>
          <p:nvPr/>
        </p:nvSpPr>
        <p:spPr>
          <a:xfrm>
            <a:off x="4895850" y="2971800"/>
            <a:ext cx="1885950" cy="2190750"/>
          </a:xfrm>
          <a:prstGeom prst="rect">
            <a:avLst/>
          </a:prstGeom>
          <a:solidFill>
            <a:srgbClr val="F1E1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6D0F732-57F8-4917-9B2A-FBC538B39585}"/>
              </a:ext>
            </a:extLst>
          </p:cNvPr>
          <p:cNvSpPr>
            <a:spLocks noGrp="1"/>
          </p:cNvSpPr>
          <p:nvPr/>
        </p:nvSpPr>
        <p:spPr>
          <a:xfrm>
            <a:off x="5067300" y="3181350"/>
            <a:ext cx="590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RQ3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E8C39E8-E2B9-4DC1-8A20-2B3070DE983D}"/>
              </a:ext>
            </a:extLst>
          </p:cNvPr>
          <p:cNvSpPr>
            <a:spLocks noGrp="1"/>
          </p:cNvSpPr>
          <p:nvPr/>
        </p:nvSpPr>
        <p:spPr>
          <a:xfrm>
            <a:off x="5067300" y="360045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LLM use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5DCDD41-FAA8-4DA3-8BEF-F21EDC80644D}"/>
              </a:ext>
            </a:extLst>
          </p:cNvPr>
          <p:cNvSpPr>
            <a:spLocks noGrp="1"/>
          </p:cNvSpPr>
          <p:nvPr/>
        </p:nvSpPr>
        <p:spPr>
          <a:xfrm>
            <a:off x="5067300" y="3962400"/>
            <a:ext cx="1524000" cy="19050"/>
          </a:xfrm>
          <a:prstGeom prst="rect">
            <a:avLst/>
          </a:prstGeom>
          <a:solidFill>
            <a:srgbClr val="C07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B76B797-013E-4B72-A803-5E1FE258A3E9}"/>
              </a:ext>
            </a:extLst>
          </p:cNvPr>
          <p:cNvSpPr>
            <a:spLocks noGrp="1"/>
          </p:cNvSpPr>
          <p:nvPr/>
        </p:nvSpPr>
        <p:spPr>
          <a:xfrm>
            <a:off x="5067300" y="4171950"/>
            <a:ext cx="14287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fine-tuning</a:t>
            </a:r>
          </a:p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few-shot</a:t>
            </a:r>
          </a:p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prompting</a:t>
            </a:r>
          </a:p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agents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5FE41EF-5DCD-4723-B824-93AD67BEC1A4}"/>
              </a:ext>
            </a:extLst>
          </p:cNvPr>
          <p:cNvSpPr>
            <a:spLocks noGrp="1"/>
          </p:cNvSpPr>
          <p:nvPr/>
        </p:nvSpPr>
        <p:spPr>
          <a:xfrm>
            <a:off x="7067550" y="2971800"/>
            <a:ext cx="1885950" cy="2190750"/>
          </a:xfrm>
          <a:prstGeom prst="rect">
            <a:avLst/>
          </a:prstGeom>
          <a:solidFill>
            <a:srgbClr val="E5DD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8F5A64C-FBD0-46C3-AA8D-2700E164361F}"/>
              </a:ext>
            </a:extLst>
          </p:cNvPr>
          <p:cNvSpPr>
            <a:spLocks noGrp="1"/>
          </p:cNvSpPr>
          <p:nvPr/>
        </p:nvSpPr>
        <p:spPr>
          <a:xfrm>
            <a:off x="7239000" y="3181350"/>
            <a:ext cx="590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6C5B7B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6C5B7B"/>
                </a:solidFill>
                <a:latin typeface="Aptos Mono"/>
                <a:ea typeface="Aptos Mono"/>
                <a:cs typeface="Aptos Mono"/>
              </a:rPr>
              <a:t>RQ4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2E79A9B-1463-4634-8919-A9BBFAFBCDD2}"/>
              </a:ext>
            </a:extLst>
          </p:cNvPr>
          <p:cNvSpPr>
            <a:spLocks noGrp="1"/>
          </p:cNvSpPr>
          <p:nvPr/>
        </p:nvSpPr>
        <p:spPr>
          <a:xfrm>
            <a:off x="7239000" y="360045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DBB22F9-AAA4-4D6F-8799-A33DBCDC6762}"/>
              </a:ext>
            </a:extLst>
          </p:cNvPr>
          <p:cNvSpPr>
            <a:spLocks noGrp="1"/>
          </p:cNvSpPr>
          <p:nvPr/>
        </p:nvSpPr>
        <p:spPr>
          <a:xfrm>
            <a:off x="7239000" y="3962400"/>
            <a:ext cx="1524000" cy="19050"/>
          </a:xfrm>
          <a:prstGeom prst="rect">
            <a:avLst/>
          </a:prstGeom>
          <a:solidFill>
            <a:srgbClr val="6C5B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7A3E88D-DC44-49C2-AFF1-58E4FFD6EBEB}"/>
              </a:ext>
            </a:extLst>
          </p:cNvPr>
          <p:cNvSpPr>
            <a:spLocks noGrp="1"/>
          </p:cNvSpPr>
          <p:nvPr/>
        </p:nvSpPr>
        <p:spPr>
          <a:xfrm>
            <a:off x="7239000" y="4171950"/>
            <a:ext cx="14287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datasets</a:t>
            </a:r>
          </a:p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metrics</a:t>
            </a:r>
          </a:p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baselines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1CE691-FEE5-44F9-9F0F-E8A9C9E9731C}"/>
              </a:ext>
            </a:extLst>
          </p:cNvPr>
          <p:cNvSpPr>
            <a:spLocks noGrp="1"/>
          </p:cNvSpPr>
          <p:nvPr/>
        </p:nvSpPr>
        <p:spPr>
          <a:xfrm>
            <a:off x="9239250" y="2971800"/>
            <a:ext cx="1885950" cy="2190750"/>
          </a:xfrm>
          <a:prstGeom prst="rect">
            <a:avLst/>
          </a:prstGeom>
          <a:solidFill>
            <a:srgbClr val="EA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BAEF3DD-B4AE-4EB3-9F7D-2AE1FE6A9914}"/>
              </a:ext>
            </a:extLst>
          </p:cNvPr>
          <p:cNvSpPr>
            <a:spLocks noGrp="1"/>
          </p:cNvSpPr>
          <p:nvPr/>
        </p:nvSpPr>
        <p:spPr>
          <a:xfrm>
            <a:off x="9410700" y="3181350"/>
            <a:ext cx="590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A44A3F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A44A3F"/>
                </a:solidFill>
                <a:latin typeface="Aptos Mono"/>
                <a:ea typeface="Aptos Mono"/>
                <a:cs typeface="Aptos Mono"/>
              </a:rPr>
              <a:t>RQ5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46A3703-C1A7-41D1-B75F-C649276F01DE}"/>
              </a:ext>
            </a:extLst>
          </p:cNvPr>
          <p:cNvSpPr>
            <a:spLocks noGrp="1"/>
          </p:cNvSpPr>
          <p:nvPr/>
        </p:nvSpPr>
        <p:spPr>
          <a:xfrm>
            <a:off x="9410700" y="360045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Practice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B31A6D9-1CB6-40BB-ACCC-74405636FCB2}"/>
              </a:ext>
            </a:extLst>
          </p:cNvPr>
          <p:cNvSpPr>
            <a:spLocks noGrp="1"/>
          </p:cNvSpPr>
          <p:nvPr/>
        </p:nvSpPr>
        <p:spPr>
          <a:xfrm>
            <a:off x="9410700" y="3962400"/>
            <a:ext cx="1524000" cy="19050"/>
          </a:xfrm>
          <a:prstGeom prst="rect">
            <a:avLst/>
          </a:prstGeom>
          <a:solidFill>
            <a:srgbClr val="A44A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7F64F71-0A16-42A0-A13B-F067B83A20E3}"/>
              </a:ext>
            </a:extLst>
          </p:cNvPr>
          <p:cNvSpPr>
            <a:spLocks noGrp="1"/>
          </p:cNvSpPr>
          <p:nvPr/>
        </p:nvSpPr>
        <p:spPr>
          <a:xfrm>
            <a:off x="9410700" y="4171950"/>
            <a:ext cx="14287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CI/CD</a:t>
            </a:r>
          </a:p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IoT</a:t>
            </a:r>
          </a:p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microservices</a:t>
            </a:r>
          </a:p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real repos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E38FD8B-0135-4B3B-A105-3310CEE608AF}"/>
              </a:ext>
            </a:extLst>
          </p:cNvPr>
          <p:cNvSpPr>
            <a:spLocks noGrp="1"/>
          </p:cNvSpPr>
          <p:nvPr/>
        </p:nvSpPr>
        <p:spPr>
          <a:xfrm>
            <a:off x="1524000" y="5676900"/>
            <a:ext cx="895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This is the bridge from search method to findings: every paper is coded against the same questions.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3868178-13C9-4333-8E40-EC800880A788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07780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BBDE39F9-6F38-4D8A-95EE-216C2EDBC8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07-marker">
            <a:extLst>
              <a:ext uri="{FF2B5EF4-FFF2-40B4-BE49-F238E27FC236}">
                <a16:creationId xmlns:a16="http://schemas.microsoft.com/office/drawing/2014/main" id="{7F411B9D-B51F-4E7E-8E66-02FC328A3EEF}"/>
              </a:ext>
            </a:extLst>
          </p:cNvPr>
          <p:cNvSpPr>
            <a:spLocks noGrp="1"/>
          </p:cNvSpPr>
          <p:nvPr/>
        </p:nvSpPr>
        <p:spPr>
          <a:xfrm>
            <a:off x="533400" y="485775"/>
            <a:ext cx="323850" cy="38100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07-label">
            <a:extLst>
              <a:ext uri="{FF2B5EF4-FFF2-40B4-BE49-F238E27FC236}">
                <a16:creationId xmlns:a16="http://schemas.microsoft.com/office/drawing/2014/main" id="{900065B3-C096-4FEB-970A-0E51050F79D6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RQ1 FINDINGS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11084C6-5AFA-4A7B-AB5B-9A842D649927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dirty="0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Testing challenges are ecosystem-specific rather than universal.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8D06A8-1CCF-4DDA-89D7-379FA9D9D8E0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The same testing term can hide different root causes across JavaScript, UI, microservice, and IoT settings.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590BA3-1A07-49C3-85EF-3212240A0819}"/>
              </a:ext>
            </a:extLst>
          </p:cNvPr>
          <p:cNvSpPr>
            <a:spLocks noGrp="1"/>
          </p:cNvSpPr>
          <p:nvPr/>
        </p:nvSpPr>
        <p:spPr>
          <a:xfrm>
            <a:off x="590550" y="2914650"/>
            <a:ext cx="240030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73282E-8ABB-4EAF-A74C-860CBFC749DA}"/>
              </a:ext>
            </a:extLst>
          </p:cNvPr>
          <p:cNvSpPr>
            <a:spLocks noGrp="1"/>
          </p:cNvSpPr>
          <p:nvPr/>
        </p:nvSpPr>
        <p:spPr>
          <a:xfrm>
            <a:off x="590550" y="2914650"/>
            <a:ext cx="2400300" cy="57150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11BB762-3E3A-4DCB-B442-5CDFC3F772E8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1962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Flaky tests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78635-3E5D-4282-801C-EE6629E6A9AE}"/>
              </a:ext>
            </a:extLst>
          </p:cNvPr>
          <p:cNvSpPr>
            <a:spLocks noGrp="1"/>
          </p:cNvSpPr>
          <p:nvPr/>
        </p:nvSpPr>
        <p:spPr>
          <a:xfrm>
            <a:off x="762000" y="3562350"/>
            <a:ext cx="2000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F6F5B"/>
                </a:solidFill>
                <a:latin typeface="Aptos Mono"/>
                <a:ea typeface="Aptos Mono"/>
                <a:cs typeface="Aptos Mono"/>
              </a:defRPr>
            </a:pPr>
            <a:r>
              <a:rPr sz="2700" b="1">
                <a:solidFill>
                  <a:srgbClr val="1F6F5B"/>
                </a:solidFill>
                <a:latin typeface="Aptos Mono"/>
                <a:ea typeface="Aptos Mono"/>
                <a:cs typeface="Aptos Mono"/>
              </a:rPr>
              <a:t>55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8BD7E7-0624-45FE-94B1-1DF1E1F4E341}"/>
              </a:ext>
            </a:extLst>
          </p:cNvPr>
          <p:cNvSpPr>
            <a:spLocks noGrp="1"/>
          </p:cNvSpPr>
          <p:nvPr/>
        </p:nvSpPr>
        <p:spPr>
          <a:xfrm>
            <a:off x="762000" y="40386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order-dependent JS tests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E888FA-CC2A-4BE6-AEFC-76B20DEEB61A}"/>
              </a:ext>
            </a:extLst>
          </p:cNvPr>
          <p:cNvSpPr>
            <a:spLocks noGrp="1"/>
          </p:cNvSpPr>
          <p:nvPr/>
        </p:nvSpPr>
        <p:spPr>
          <a:xfrm>
            <a:off x="762000" y="44005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42 caused by shared mocking state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4B97235-F38D-4591-ACB2-7A485695B443}"/>
              </a:ext>
            </a:extLst>
          </p:cNvPr>
          <p:cNvSpPr>
            <a:spLocks noGrp="1"/>
          </p:cNvSpPr>
          <p:nvPr/>
        </p:nvSpPr>
        <p:spPr>
          <a:xfrm>
            <a:off x="3390900" y="2914650"/>
            <a:ext cx="240030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D3ED756-FD80-4434-8210-122A85D05C32}"/>
              </a:ext>
            </a:extLst>
          </p:cNvPr>
          <p:cNvSpPr>
            <a:spLocks noGrp="1"/>
          </p:cNvSpPr>
          <p:nvPr/>
        </p:nvSpPr>
        <p:spPr>
          <a:xfrm>
            <a:off x="3390900" y="2914650"/>
            <a:ext cx="2400300" cy="57150"/>
          </a:xfrm>
          <a:prstGeom prst="rect">
            <a:avLst/>
          </a:prstGeom>
          <a:solidFill>
            <a:srgbClr val="315C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FCB2D2A-6ACC-4655-82EE-DFBAEEE2B7F2}"/>
              </a:ext>
            </a:extLst>
          </p:cNvPr>
          <p:cNvSpPr>
            <a:spLocks noGrp="1"/>
          </p:cNvSpPr>
          <p:nvPr/>
        </p:nvSpPr>
        <p:spPr>
          <a:xfrm>
            <a:off x="3562350" y="3143250"/>
            <a:ext cx="1962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UI fragility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FD82E43-F07A-4CF2-B47B-B0ECEFE46C55}"/>
              </a:ext>
            </a:extLst>
          </p:cNvPr>
          <p:cNvSpPr>
            <a:spLocks noGrp="1"/>
          </p:cNvSpPr>
          <p:nvPr/>
        </p:nvSpPr>
        <p:spPr>
          <a:xfrm>
            <a:off x="3562350" y="3562350"/>
            <a:ext cx="2000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315C8B"/>
                </a:solidFill>
                <a:latin typeface="Aptos Mono"/>
                <a:ea typeface="Aptos Mono"/>
                <a:cs typeface="Aptos Mono"/>
              </a:defRPr>
            </a:pPr>
            <a:r>
              <a:rPr sz="2700" b="1">
                <a:solidFill>
                  <a:srgbClr val="315C8B"/>
                </a:solidFill>
                <a:latin typeface="Aptos Mono"/>
                <a:ea typeface="Aptos Mono"/>
                <a:cs typeface="Aptos Mono"/>
              </a:rPr>
              <a:t>1,065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A8F117-5EA5-4A79-B63C-7A7288A0EAD6}"/>
              </a:ext>
            </a:extLst>
          </p:cNvPr>
          <p:cNvSpPr>
            <a:spLocks noGrp="1"/>
          </p:cNvSpPr>
          <p:nvPr/>
        </p:nvSpPr>
        <p:spPr>
          <a:xfrm>
            <a:off x="3562350" y="40386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breakages across 8 web systems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4157397-053E-4656-A523-17C9FFBEC245}"/>
              </a:ext>
            </a:extLst>
          </p:cNvPr>
          <p:cNvSpPr>
            <a:spLocks noGrp="1"/>
          </p:cNvSpPr>
          <p:nvPr/>
        </p:nvSpPr>
        <p:spPr>
          <a:xfrm>
            <a:off x="3562350" y="44005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DOM locators and timing dominate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816A8F2-98CF-4B8A-ACAF-6DC4138CEEAB}"/>
              </a:ext>
            </a:extLst>
          </p:cNvPr>
          <p:cNvSpPr>
            <a:spLocks noGrp="1"/>
          </p:cNvSpPr>
          <p:nvPr/>
        </p:nvSpPr>
        <p:spPr>
          <a:xfrm>
            <a:off x="6191250" y="2914650"/>
            <a:ext cx="240030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829EFDA-AC84-4064-A919-A0E4286A8224}"/>
              </a:ext>
            </a:extLst>
          </p:cNvPr>
          <p:cNvSpPr>
            <a:spLocks noGrp="1"/>
          </p:cNvSpPr>
          <p:nvPr/>
        </p:nvSpPr>
        <p:spPr>
          <a:xfrm>
            <a:off x="6191250" y="2914650"/>
            <a:ext cx="2400300" cy="57150"/>
          </a:xfrm>
          <a:prstGeom prst="rect">
            <a:avLst/>
          </a:prstGeom>
          <a:solidFill>
            <a:srgbClr val="6C5B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BFBAE6E-9AE3-4F4C-AE5A-E29AD23D30BE}"/>
              </a:ext>
            </a:extLst>
          </p:cNvPr>
          <p:cNvSpPr>
            <a:spLocks noGrp="1"/>
          </p:cNvSpPr>
          <p:nvPr/>
        </p:nvSpPr>
        <p:spPr>
          <a:xfrm>
            <a:off x="6362700" y="3143250"/>
            <a:ext cx="1962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IoT platforms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692EBD6-9F08-4BF5-BE47-FEA882AFC867}"/>
              </a:ext>
            </a:extLst>
          </p:cNvPr>
          <p:cNvSpPr>
            <a:spLocks noGrp="1"/>
          </p:cNvSpPr>
          <p:nvPr/>
        </p:nvSpPr>
        <p:spPr>
          <a:xfrm>
            <a:off x="6362700" y="3562350"/>
            <a:ext cx="2000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6C5B7B"/>
                </a:solidFill>
                <a:latin typeface="Aptos Mono"/>
                <a:ea typeface="Aptos Mono"/>
                <a:cs typeface="Aptos Mono"/>
              </a:defRPr>
            </a:pPr>
            <a:r>
              <a:rPr sz="2700" b="1">
                <a:solidFill>
                  <a:srgbClr val="6C5B7B"/>
                </a:solidFill>
                <a:latin typeface="Aptos Mono"/>
                <a:ea typeface="Aptos Mono"/>
                <a:cs typeface="Aptos Mono"/>
              </a:rPr>
              <a:t>65%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6445C8A-A8BB-4D79-94D0-0883BD8A638F}"/>
              </a:ext>
            </a:extLst>
          </p:cNvPr>
          <p:cNvSpPr>
            <a:spLocks noGrp="1"/>
          </p:cNvSpPr>
          <p:nvPr/>
        </p:nvSpPr>
        <p:spPr>
          <a:xfrm>
            <a:off x="6362700" y="40386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HomeAssistant add-ons below 0.5 test ratio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C4CCD0-62E5-43E1-8152-25B57DAA886E}"/>
              </a:ext>
            </a:extLst>
          </p:cNvPr>
          <p:cNvSpPr>
            <a:spLocks noGrp="1"/>
          </p:cNvSpPr>
          <p:nvPr/>
        </p:nvSpPr>
        <p:spPr>
          <a:xfrm>
            <a:off x="6362700" y="44005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device and firmware constraints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997D20F-21BC-40B2-B848-92FAD69B6ECB}"/>
              </a:ext>
            </a:extLst>
          </p:cNvPr>
          <p:cNvSpPr>
            <a:spLocks noGrp="1"/>
          </p:cNvSpPr>
          <p:nvPr/>
        </p:nvSpPr>
        <p:spPr>
          <a:xfrm>
            <a:off x="8991600" y="2914650"/>
            <a:ext cx="240030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CC49978-CEA8-4620-9707-CA8CE436B39A}"/>
              </a:ext>
            </a:extLst>
          </p:cNvPr>
          <p:cNvSpPr>
            <a:spLocks noGrp="1"/>
          </p:cNvSpPr>
          <p:nvPr/>
        </p:nvSpPr>
        <p:spPr>
          <a:xfrm>
            <a:off x="8991600" y="2914650"/>
            <a:ext cx="2400300" cy="57150"/>
          </a:xfrm>
          <a:prstGeom prst="rect">
            <a:avLst/>
          </a:prstGeom>
          <a:solidFill>
            <a:srgbClr val="C07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4F69B6-3428-433C-831A-CB58F35BF523}"/>
              </a:ext>
            </a:extLst>
          </p:cNvPr>
          <p:cNvSpPr>
            <a:spLocks noGrp="1"/>
          </p:cNvSpPr>
          <p:nvPr/>
        </p:nvSpPr>
        <p:spPr>
          <a:xfrm>
            <a:off x="9163050" y="3143250"/>
            <a:ext cx="1962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Microservices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A071505-5135-4095-9874-5737006A953A}"/>
              </a:ext>
            </a:extLst>
          </p:cNvPr>
          <p:cNvSpPr>
            <a:spLocks noGrp="1"/>
          </p:cNvSpPr>
          <p:nvPr/>
        </p:nvSpPr>
        <p:spPr>
          <a:xfrm>
            <a:off x="9163050" y="3562350"/>
            <a:ext cx="2000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2700" b="1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2-sided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9C5D181-EF28-4C00-81B1-DDA71B56868E}"/>
              </a:ext>
            </a:extLst>
          </p:cNvPr>
          <p:cNvSpPr>
            <a:spLocks noGrp="1"/>
          </p:cNvSpPr>
          <p:nvPr/>
        </p:nvSpPr>
        <p:spPr>
          <a:xfrm>
            <a:off x="9163050" y="40386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technical and organizational causes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F4D8417-1E23-49DC-91AC-A24C926D8F62}"/>
              </a:ext>
            </a:extLst>
          </p:cNvPr>
          <p:cNvSpPr>
            <a:spLocks noGrp="1"/>
          </p:cNvSpPr>
          <p:nvPr/>
        </p:nvSpPr>
        <p:spPr>
          <a:xfrm>
            <a:off x="9163050" y="44005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contracts, messages, ownership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AEE2CDF-A92F-45DB-B592-EA9C656DF6A7}"/>
              </a:ext>
            </a:extLst>
          </p:cNvPr>
          <p:cNvSpPr>
            <a:spLocks noGrp="1"/>
          </p:cNvSpPr>
          <p:nvPr/>
        </p:nvSpPr>
        <p:spPr>
          <a:xfrm>
            <a:off x="2476500" y="5543550"/>
            <a:ext cx="723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Implication: fault localization needs repository context, not only code snippets.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C109118-AB9F-484B-80B1-C08494004F57}"/>
              </a:ext>
            </a:extLst>
          </p:cNvPr>
          <p:cNvSpPr>
            <a:spLocks noGrp="1"/>
          </p:cNvSpPr>
          <p:nvPr/>
        </p:nvSpPr>
        <p:spPr>
          <a:xfrm>
            <a:off x="514350" y="64293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F0791DC-B19B-4B58-9DC9-C13445752075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27756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A6A20C2E-8FB5-47E0-810B-F651354591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08-marker">
            <a:extLst>
              <a:ext uri="{FF2B5EF4-FFF2-40B4-BE49-F238E27FC236}">
                <a16:creationId xmlns:a16="http://schemas.microsoft.com/office/drawing/2014/main" id="{4E8AC907-6617-4B4C-812C-02691D6A16E6}"/>
              </a:ext>
            </a:extLst>
          </p:cNvPr>
          <p:cNvSpPr>
            <a:spLocks noGrp="1"/>
          </p:cNvSpPr>
          <p:nvPr/>
        </p:nvSpPr>
        <p:spPr>
          <a:xfrm>
            <a:off x="533400" y="485775"/>
            <a:ext cx="323850" cy="38100"/>
          </a:xfrm>
          <a:prstGeom prst="rect">
            <a:avLst/>
          </a:prstGeom>
          <a:solidFill>
            <a:srgbClr val="315C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08-label">
            <a:extLst>
              <a:ext uri="{FF2B5EF4-FFF2-40B4-BE49-F238E27FC236}">
                <a16:creationId xmlns:a16="http://schemas.microsoft.com/office/drawing/2014/main" id="{E7CDA976-EAD3-407B-B09F-C05CE8195D98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RQ2 FINDINGS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61ABDE7-5DFF-49E7-A52E-50538A45F4F2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10287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Detection approaches move from coverage ranking toward code and context reasoning.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02B925-6987-4175-A190-3035E1AB8299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Traditional methods are interpretable but test-dependent; LLM methods reduce that dependency but need stronger validation.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B76AA1B-F803-4A63-B55F-F9A33776BABD}"/>
              </a:ext>
            </a:extLst>
          </p:cNvPr>
          <p:cNvSpPr>
            <a:spLocks noGrp="1"/>
          </p:cNvSpPr>
          <p:nvPr/>
        </p:nvSpPr>
        <p:spPr>
          <a:xfrm>
            <a:off x="1104900" y="3705225"/>
            <a:ext cx="9982200" cy="28575"/>
          </a:xfrm>
          <a:prstGeom prst="rect">
            <a:avLst/>
          </a:prstGeom>
          <a:solidFill>
            <a:srgbClr val="D8D0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318081B-2084-4922-9DCC-04DD395375AB}"/>
              </a:ext>
            </a:extLst>
          </p:cNvPr>
          <p:cNvSpPr>
            <a:spLocks noGrp="1"/>
          </p:cNvSpPr>
          <p:nvPr/>
        </p:nvSpPr>
        <p:spPr>
          <a:xfrm>
            <a:off x="1485900" y="3609975"/>
            <a:ext cx="209550" cy="209550"/>
          </a:xfrm>
          <a:prstGeom prst="ellipse">
            <a:avLst/>
          </a:prstGeom>
          <a:solidFill>
            <a:srgbClr val="315C8B"/>
          </a:solidFill>
          <a:ln w="28575">
            <a:solidFill>
              <a:srgbClr val="F8F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970D13A-0EB3-4FDA-9C72-179C314D7466}"/>
              </a:ext>
            </a:extLst>
          </p:cNvPr>
          <p:cNvSpPr>
            <a:spLocks noGrp="1"/>
          </p:cNvSpPr>
          <p:nvPr/>
        </p:nvSpPr>
        <p:spPr>
          <a:xfrm>
            <a:off x="723900" y="2895600"/>
            <a:ext cx="1733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Tarantula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6D5417-9162-424F-B482-5CDD75AABF5B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1733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pass/fail coverage</a:t>
            </a:r>
          </a:p>
          <a:p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visual suspiciousness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8D2334-70E2-4AFE-A7D4-CB20777920AB}"/>
              </a:ext>
            </a:extLst>
          </p:cNvPr>
          <p:cNvSpPr>
            <a:spLocks noGrp="1"/>
          </p:cNvSpPr>
          <p:nvPr/>
        </p:nvSpPr>
        <p:spPr>
          <a:xfrm>
            <a:off x="914400" y="4048125"/>
            <a:ext cx="13525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1033F5A-C090-4950-A6C1-75C1A7EFED5D}"/>
              </a:ext>
            </a:extLst>
          </p:cNvPr>
          <p:cNvSpPr>
            <a:spLocks noGrp="1"/>
          </p:cNvSpPr>
          <p:nvPr/>
        </p:nvSpPr>
        <p:spPr>
          <a:xfrm>
            <a:off x="1066800" y="42481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315C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5C8B"/>
                </a:solidFill>
                <a:latin typeface="Aptos"/>
                <a:ea typeface="Aptos"/>
                <a:cs typeface="Aptos"/>
              </a:rPr>
              <a:t>Execution-based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C502273-5C22-4EF4-9DD2-C8EFADD5B8EF}"/>
              </a:ext>
            </a:extLst>
          </p:cNvPr>
          <p:cNvSpPr>
            <a:spLocks noGrp="1"/>
          </p:cNvSpPr>
          <p:nvPr/>
        </p:nvSpPr>
        <p:spPr>
          <a:xfrm>
            <a:off x="3695700" y="3609975"/>
            <a:ext cx="209550" cy="209550"/>
          </a:xfrm>
          <a:prstGeom prst="ellipse">
            <a:avLst/>
          </a:prstGeom>
          <a:solidFill>
            <a:srgbClr val="1F6F5B"/>
          </a:solidFill>
          <a:ln w="28575">
            <a:solidFill>
              <a:srgbClr val="F8F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318A1C7-6C27-480D-A1A8-A97E81BA6A56}"/>
              </a:ext>
            </a:extLst>
          </p:cNvPr>
          <p:cNvSpPr>
            <a:spLocks noGrp="1"/>
          </p:cNvSpPr>
          <p:nvPr/>
        </p:nvSpPr>
        <p:spPr>
          <a:xfrm>
            <a:off x="2933700" y="2895600"/>
            <a:ext cx="1733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Ochiai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FE6323F-8B81-4262-819F-0105B3B08F79}"/>
              </a:ext>
            </a:extLst>
          </p:cNvPr>
          <p:cNvSpPr>
            <a:spLocks noGrp="1"/>
          </p:cNvSpPr>
          <p:nvPr/>
        </p:nvSpPr>
        <p:spPr>
          <a:xfrm>
            <a:off x="2933700" y="3181350"/>
            <a:ext cx="1733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&gt;80% code exonerated</a:t>
            </a:r>
          </a:p>
          <a:p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on average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218185B-A583-4A7F-A106-4E04A52982F5}"/>
              </a:ext>
            </a:extLst>
          </p:cNvPr>
          <p:cNvSpPr>
            <a:spLocks noGrp="1"/>
          </p:cNvSpPr>
          <p:nvPr/>
        </p:nvSpPr>
        <p:spPr>
          <a:xfrm>
            <a:off x="3124200" y="4048125"/>
            <a:ext cx="13525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DCAA881-3204-42C7-9211-6CA02E9F9321}"/>
              </a:ext>
            </a:extLst>
          </p:cNvPr>
          <p:cNvSpPr>
            <a:spLocks noGrp="1"/>
          </p:cNvSpPr>
          <p:nvPr/>
        </p:nvSpPr>
        <p:spPr>
          <a:xfrm>
            <a:off x="3276600" y="42481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F6F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5B"/>
                </a:solidFill>
                <a:latin typeface="Aptos"/>
                <a:ea typeface="Aptos"/>
                <a:cs typeface="Aptos"/>
              </a:rPr>
              <a:t>Execution-based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BE85326F-A467-482F-A414-58FED17EDC91}"/>
              </a:ext>
            </a:extLst>
          </p:cNvPr>
          <p:cNvSpPr>
            <a:spLocks noGrp="1"/>
          </p:cNvSpPr>
          <p:nvPr/>
        </p:nvSpPr>
        <p:spPr>
          <a:xfrm>
            <a:off x="5905500" y="3609975"/>
            <a:ext cx="209550" cy="209550"/>
          </a:xfrm>
          <a:prstGeom prst="ellipse">
            <a:avLst/>
          </a:prstGeom>
          <a:solidFill>
            <a:srgbClr val="C07A2D"/>
          </a:solidFill>
          <a:ln w="28575">
            <a:solidFill>
              <a:srgbClr val="F8F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DB8FD14-C279-4885-A998-A826B5A6EB56}"/>
              </a:ext>
            </a:extLst>
          </p:cNvPr>
          <p:cNvSpPr>
            <a:spLocks noGrp="1"/>
          </p:cNvSpPr>
          <p:nvPr/>
        </p:nvSpPr>
        <p:spPr>
          <a:xfrm>
            <a:off x="5143500" y="2895600"/>
            <a:ext cx="1733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Compiler filters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77DF7AE-C172-4832-A15C-5B5941A314CB}"/>
              </a:ext>
            </a:extLst>
          </p:cNvPr>
          <p:cNvSpPr>
            <a:spLocks noGrp="1"/>
          </p:cNvSpPr>
          <p:nvPr/>
        </p:nvSpPr>
        <p:spPr>
          <a:xfrm>
            <a:off x="5143500" y="3181350"/>
            <a:ext cx="1733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TOP50 +67.4%</a:t>
            </a:r>
          </a:p>
          <a:p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for DStar2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31CCC92-7F59-4626-B4BC-9C3441C62FE4}"/>
              </a:ext>
            </a:extLst>
          </p:cNvPr>
          <p:cNvSpPr>
            <a:spLocks noGrp="1"/>
          </p:cNvSpPr>
          <p:nvPr/>
        </p:nvSpPr>
        <p:spPr>
          <a:xfrm>
            <a:off x="5334000" y="4048125"/>
            <a:ext cx="13525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15C47D0-57DF-468A-AC35-3230C17C7E2E}"/>
              </a:ext>
            </a:extLst>
          </p:cNvPr>
          <p:cNvSpPr>
            <a:spLocks noGrp="1"/>
          </p:cNvSpPr>
          <p:nvPr/>
        </p:nvSpPr>
        <p:spPr>
          <a:xfrm>
            <a:off x="5486400" y="42481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C07A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07A2D"/>
                </a:solidFill>
                <a:latin typeface="Aptos"/>
                <a:ea typeface="Aptos"/>
                <a:cs typeface="Aptos"/>
              </a:rPr>
              <a:t>Execution-based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8E2998E1-F23B-41A9-B33C-453B2C5EE0DF}"/>
              </a:ext>
            </a:extLst>
          </p:cNvPr>
          <p:cNvSpPr>
            <a:spLocks noGrp="1"/>
          </p:cNvSpPr>
          <p:nvPr/>
        </p:nvSpPr>
        <p:spPr>
          <a:xfrm>
            <a:off x="8115300" y="3609975"/>
            <a:ext cx="209550" cy="209550"/>
          </a:xfrm>
          <a:prstGeom prst="ellipse">
            <a:avLst/>
          </a:prstGeom>
          <a:solidFill>
            <a:srgbClr val="6C5B7B"/>
          </a:solidFill>
          <a:ln w="28575">
            <a:solidFill>
              <a:srgbClr val="F8F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99BD6EA-77B2-4867-8FED-5D1EAE3C6340}"/>
              </a:ext>
            </a:extLst>
          </p:cNvPr>
          <p:cNvSpPr>
            <a:spLocks noGrp="1"/>
          </p:cNvSpPr>
          <p:nvPr/>
        </p:nvSpPr>
        <p:spPr>
          <a:xfrm>
            <a:off x="7353300" y="2895600"/>
            <a:ext cx="1733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LLM FL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113AC1-B32C-4E31-8E04-3A370ADD4D3D}"/>
              </a:ext>
            </a:extLst>
          </p:cNvPr>
          <p:cNvSpPr>
            <a:spLocks noGrp="1"/>
          </p:cNvSpPr>
          <p:nvPr/>
        </p:nvSpPr>
        <p:spPr>
          <a:xfrm>
            <a:off x="7353300" y="3181350"/>
            <a:ext cx="1733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UniXcoder Top-1</a:t>
            </a:r>
          </a:p>
          <a:p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50.6%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718489E-37E9-4C4C-81AB-275AFD7390D8}"/>
              </a:ext>
            </a:extLst>
          </p:cNvPr>
          <p:cNvSpPr>
            <a:spLocks noGrp="1"/>
          </p:cNvSpPr>
          <p:nvPr/>
        </p:nvSpPr>
        <p:spPr>
          <a:xfrm>
            <a:off x="7543800" y="4048125"/>
            <a:ext cx="13525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617DF41-6DFC-42B9-AD2A-56010798D431}"/>
              </a:ext>
            </a:extLst>
          </p:cNvPr>
          <p:cNvSpPr>
            <a:spLocks noGrp="1"/>
          </p:cNvSpPr>
          <p:nvPr/>
        </p:nvSpPr>
        <p:spPr>
          <a:xfrm>
            <a:off x="7696200" y="42481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C5B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5B7B"/>
                </a:solidFill>
                <a:latin typeface="Aptos"/>
                <a:ea typeface="Aptos"/>
                <a:cs typeface="Aptos"/>
              </a:rPr>
              <a:t>Model-based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BAC68CE8-D4E8-419E-8DF9-E278D639E114}"/>
              </a:ext>
            </a:extLst>
          </p:cNvPr>
          <p:cNvSpPr>
            <a:spLocks noGrp="1"/>
          </p:cNvSpPr>
          <p:nvPr/>
        </p:nvSpPr>
        <p:spPr>
          <a:xfrm>
            <a:off x="10325100" y="3609975"/>
            <a:ext cx="209550" cy="209550"/>
          </a:xfrm>
          <a:prstGeom prst="ellipse">
            <a:avLst/>
          </a:prstGeom>
          <a:solidFill>
            <a:srgbClr val="A44A3F"/>
          </a:solidFill>
          <a:ln w="28575">
            <a:solidFill>
              <a:srgbClr val="F8F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696F3B4-87C9-4C23-AB13-D1BB46277761}"/>
              </a:ext>
            </a:extLst>
          </p:cNvPr>
          <p:cNvSpPr>
            <a:spLocks noGrp="1"/>
          </p:cNvSpPr>
          <p:nvPr/>
        </p:nvSpPr>
        <p:spPr>
          <a:xfrm>
            <a:off x="9563100" y="2895600"/>
            <a:ext cx="1733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Test-free FL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A975402-32C2-4AC3-9B08-D465714FC328}"/>
              </a:ext>
            </a:extLst>
          </p:cNvPr>
          <p:cNvSpPr>
            <a:spLocks noGrp="1"/>
          </p:cNvSpPr>
          <p:nvPr/>
        </p:nvSpPr>
        <p:spPr>
          <a:xfrm>
            <a:off x="9563100" y="3181350"/>
            <a:ext cx="1733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source-only</a:t>
            </a:r>
          </a:p>
          <a:p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suspiciousness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3F0B124-68AF-42C3-8853-BACCDBD0439C}"/>
              </a:ext>
            </a:extLst>
          </p:cNvPr>
          <p:cNvSpPr>
            <a:spLocks noGrp="1"/>
          </p:cNvSpPr>
          <p:nvPr/>
        </p:nvSpPr>
        <p:spPr>
          <a:xfrm>
            <a:off x="9753600" y="4048125"/>
            <a:ext cx="13525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18DDFB0-FD2C-4ACB-A061-0E8E8C547059}"/>
              </a:ext>
            </a:extLst>
          </p:cNvPr>
          <p:cNvSpPr>
            <a:spLocks noGrp="1"/>
          </p:cNvSpPr>
          <p:nvPr/>
        </p:nvSpPr>
        <p:spPr>
          <a:xfrm>
            <a:off x="9906000" y="42481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44A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44A3F"/>
                </a:solidFill>
                <a:latin typeface="Aptos"/>
                <a:ea typeface="Aptos"/>
                <a:cs typeface="Aptos"/>
              </a:rPr>
              <a:t>Model-based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CFF8EDC-D2CF-40F4-A127-B061D0066194}"/>
              </a:ext>
            </a:extLst>
          </p:cNvPr>
          <p:cNvSpPr>
            <a:spLocks noGrp="1"/>
          </p:cNvSpPr>
          <p:nvPr/>
        </p:nvSpPr>
        <p:spPr>
          <a:xfrm>
            <a:off x="2381250" y="5410200"/>
            <a:ext cx="7429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Methodological takeaway: less execution evidence means context design becomes more important.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3CF8391-E34F-47A1-88B8-996FA68C6478}"/>
              </a:ext>
            </a:extLst>
          </p:cNvPr>
          <p:cNvSpPr>
            <a:spLocks noGrp="1"/>
          </p:cNvSpPr>
          <p:nvPr/>
        </p:nvSpPr>
        <p:spPr>
          <a:xfrm>
            <a:off x="514350" y="64293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C981DA7-006E-4F7E-BCA3-07D1C2C28768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33939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97B5B3F5-4643-4200-AD9F-F43B64DD8C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09-marker">
            <a:extLst>
              <a:ext uri="{FF2B5EF4-FFF2-40B4-BE49-F238E27FC236}">
                <a16:creationId xmlns:a16="http://schemas.microsoft.com/office/drawing/2014/main" id="{726CFF1F-9195-4232-83A3-96248D2A75F2}"/>
              </a:ext>
            </a:extLst>
          </p:cNvPr>
          <p:cNvSpPr>
            <a:spLocks noGrp="1"/>
          </p:cNvSpPr>
          <p:nvPr/>
        </p:nvSpPr>
        <p:spPr>
          <a:xfrm>
            <a:off x="533400" y="485775"/>
            <a:ext cx="323850" cy="38100"/>
          </a:xfrm>
          <a:prstGeom prst="rect">
            <a:avLst/>
          </a:prstGeom>
          <a:solidFill>
            <a:srgbClr val="C07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09-label">
            <a:extLst>
              <a:ext uri="{FF2B5EF4-FFF2-40B4-BE49-F238E27FC236}">
                <a16:creationId xmlns:a16="http://schemas.microsoft.com/office/drawing/2014/main" id="{08247C8C-B959-4C9A-A36F-71B2C57E6674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RQ3 FINDINGS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6BD4B45-1B6C-494E-932C-502B527DBD67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98107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LLM design choices trade data cost against workflow autonomy.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D3E593-5C19-4391-A04E-066C2CBCDC58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The corpus uses fine-tuning, few-shot learning, prompt engineering, and agents; each has a different practical burden.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D68FBF-FF89-4484-9899-5373FB5DCB37}"/>
              </a:ext>
            </a:extLst>
          </p:cNvPr>
          <p:cNvSpPr>
            <a:spLocks noGrp="1"/>
          </p:cNvSpPr>
          <p:nvPr/>
        </p:nvSpPr>
        <p:spPr>
          <a:xfrm>
            <a:off x="2000250" y="3905250"/>
            <a:ext cx="7810500" cy="19050"/>
          </a:xfrm>
          <a:prstGeom prst="rect">
            <a:avLst/>
          </a:prstGeom>
          <a:solidFill>
            <a:srgbClr val="D8D0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277875-2E27-439F-A982-46069AE9B23D}"/>
              </a:ext>
            </a:extLst>
          </p:cNvPr>
          <p:cNvSpPr>
            <a:spLocks noGrp="1"/>
          </p:cNvSpPr>
          <p:nvPr/>
        </p:nvSpPr>
        <p:spPr>
          <a:xfrm>
            <a:off x="5905500" y="2724150"/>
            <a:ext cx="19050" cy="2362200"/>
          </a:xfrm>
          <a:prstGeom prst="rect">
            <a:avLst/>
          </a:prstGeom>
          <a:solidFill>
            <a:srgbClr val="D8D0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CBC160-5715-4F88-A7C7-E6D71A694618}"/>
              </a:ext>
            </a:extLst>
          </p:cNvPr>
          <p:cNvSpPr>
            <a:spLocks noGrp="1"/>
          </p:cNvSpPr>
          <p:nvPr/>
        </p:nvSpPr>
        <p:spPr>
          <a:xfrm>
            <a:off x="2000250" y="52006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Lower data cost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4D3F87D-619C-4BF4-B45E-43F0B7859B64}"/>
              </a:ext>
            </a:extLst>
          </p:cNvPr>
          <p:cNvSpPr>
            <a:spLocks noGrp="1"/>
          </p:cNvSpPr>
          <p:nvPr/>
        </p:nvSpPr>
        <p:spPr>
          <a:xfrm>
            <a:off x="8096250" y="52006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Higher data cost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AA91D4-937B-4EB0-A979-1813B04CA9BB}"/>
              </a:ext>
            </a:extLst>
          </p:cNvPr>
          <p:cNvSpPr>
            <a:spLocks noGrp="1"/>
          </p:cNvSpPr>
          <p:nvPr/>
        </p:nvSpPr>
        <p:spPr>
          <a:xfrm>
            <a:off x="571500" y="2800350"/>
            <a:ext cx="1238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Higher workflow</a:t>
            </a:r>
          </a:p>
          <a:p>
            <a:pPr algn="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autonomy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1D4A57-D804-4813-881B-D8EBCC20DF8D}"/>
              </a:ext>
            </a:extLst>
          </p:cNvPr>
          <p:cNvSpPr>
            <a:spLocks noGrp="1"/>
          </p:cNvSpPr>
          <p:nvPr/>
        </p:nvSpPr>
        <p:spPr>
          <a:xfrm>
            <a:off x="571500" y="4705350"/>
            <a:ext cx="1238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Lower workflow</a:t>
            </a:r>
          </a:p>
          <a:p>
            <a:pPr algn="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autonomy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D038967-7E9A-40AE-B703-14C4D53240D6}"/>
              </a:ext>
            </a:extLst>
          </p:cNvPr>
          <p:cNvSpPr>
            <a:spLocks noGrp="1"/>
          </p:cNvSpPr>
          <p:nvPr/>
        </p:nvSpPr>
        <p:spPr>
          <a:xfrm>
            <a:off x="2647950" y="3048000"/>
            <a:ext cx="2571750" cy="819150"/>
          </a:xfrm>
          <a:prstGeom prst="rect">
            <a:avLst/>
          </a:prstGeom>
          <a:solidFill>
            <a:srgbClr val="F1E1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1185104-AE69-4D71-B007-386098DBC138}"/>
              </a:ext>
            </a:extLst>
          </p:cNvPr>
          <p:cNvSpPr>
            <a:spLocks noGrp="1"/>
          </p:cNvSpPr>
          <p:nvPr/>
        </p:nvSpPr>
        <p:spPr>
          <a:xfrm>
            <a:off x="2647950" y="3048000"/>
            <a:ext cx="2571750" cy="47625"/>
          </a:xfrm>
          <a:prstGeom prst="rect">
            <a:avLst/>
          </a:prstGeom>
          <a:solidFill>
            <a:srgbClr val="C07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37EFCE7-8D2E-4BC1-87C4-82237B172D45}"/>
              </a:ext>
            </a:extLst>
          </p:cNvPr>
          <p:cNvSpPr>
            <a:spLocks noGrp="1"/>
          </p:cNvSpPr>
          <p:nvPr/>
        </p:nvSpPr>
        <p:spPr>
          <a:xfrm>
            <a:off x="2800350" y="3181350"/>
            <a:ext cx="2209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Testing agents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5E26120-C344-4439-AE2E-5615CD5FFAEF}"/>
              </a:ext>
            </a:extLst>
          </p:cNvPr>
          <p:cNvSpPr>
            <a:spLocks noGrp="1"/>
          </p:cNvSpPr>
          <p:nvPr/>
        </p:nvSpPr>
        <p:spPr>
          <a:xfrm>
            <a:off x="2800350" y="3448050"/>
            <a:ext cx="2209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plan, run, observe, revise</a:t>
            </a:r>
          </a:p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needs tool integration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551AE7A-8258-4291-A785-A84C6B2EE431}"/>
              </a:ext>
            </a:extLst>
          </p:cNvPr>
          <p:cNvSpPr>
            <a:spLocks noGrp="1"/>
          </p:cNvSpPr>
          <p:nvPr/>
        </p:nvSpPr>
        <p:spPr>
          <a:xfrm>
            <a:off x="6572250" y="3048000"/>
            <a:ext cx="2571750" cy="819150"/>
          </a:xfrm>
          <a:prstGeom prst="rect">
            <a:avLst/>
          </a:prstGeom>
          <a:solidFill>
            <a:srgbClr val="E5DD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E42F877-7F16-446C-A2A3-3C2C1691B6DB}"/>
              </a:ext>
            </a:extLst>
          </p:cNvPr>
          <p:cNvSpPr>
            <a:spLocks noGrp="1"/>
          </p:cNvSpPr>
          <p:nvPr/>
        </p:nvSpPr>
        <p:spPr>
          <a:xfrm>
            <a:off x="6572250" y="3048000"/>
            <a:ext cx="2571750" cy="47625"/>
          </a:xfrm>
          <a:prstGeom prst="rect">
            <a:avLst/>
          </a:prstGeom>
          <a:solidFill>
            <a:srgbClr val="6C5B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E01FB61-3D75-4D8A-B1E8-F162F14DBCE8}"/>
              </a:ext>
            </a:extLst>
          </p:cNvPr>
          <p:cNvSpPr>
            <a:spLocks noGrp="1"/>
          </p:cNvSpPr>
          <p:nvPr/>
        </p:nvSpPr>
        <p:spPr>
          <a:xfrm>
            <a:off x="6724650" y="3181350"/>
            <a:ext cx="2209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Fine-tuning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36A201D-AF7F-4219-85F3-F339D81C775B}"/>
              </a:ext>
            </a:extLst>
          </p:cNvPr>
          <p:cNvSpPr>
            <a:spLocks noGrp="1"/>
          </p:cNvSpPr>
          <p:nvPr/>
        </p:nvSpPr>
        <p:spPr>
          <a:xfrm>
            <a:off x="6724650" y="3448050"/>
            <a:ext cx="2209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best when task data exists</a:t>
            </a:r>
          </a:p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benchmark-heavy evidence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86F5BA-7CB2-4DD6-B941-728CF68D3C03}"/>
              </a:ext>
            </a:extLst>
          </p:cNvPr>
          <p:cNvSpPr>
            <a:spLocks noGrp="1"/>
          </p:cNvSpPr>
          <p:nvPr/>
        </p:nvSpPr>
        <p:spPr>
          <a:xfrm>
            <a:off x="2647950" y="4191000"/>
            <a:ext cx="2571750" cy="819150"/>
          </a:xfrm>
          <a:prstGeom prst="rect">
            <a:avLst/>
          </a:prstGeom>
          <a:solidFill>
            <a:srgbClr val="DEE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103ADC1-54EE-4DFB-8D3D-A16166580FE6}"/>
              </a:ext>
            </a:extLst>
          </p:cNvPr>
          <p:cNvSpPr>
            <a:spLocks noGrp="1"/>
          </p:cNvSpPr>
          <p:nvPr/>
        </p:nvSpPr>
        <p:spPr>
          <a:xfrm>
            <a:off x="2647950" y="4191000"/>
            <a:ext cx="2571750" cy="47625"/>
          </a:xfrm>
          <a:prstGeom prst="rect">
            <a:avLst/>
          </a:prstGeom>
          <a:solidFill>
            <a:srgbClr val="315C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49C2A02-1CDE-4C7B-AC0E-2C7F90D81EAC}"/>
              </a:ext>
            </a:extLst>
          </p:cNvPr>
          <p:cNvSpPr>
            <a:spLocks noGrp="1"/>
          </p:cNvSpPr>
          <p:nvPr/>
        </p:nvSpPr>
        <p:spPr>
          <a:xfrm>
            <a:off x="2800350" y="4324350"/>
            <a:ext cx="2209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Prompt engineering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3F39A80-3408-4AE1-B6C7-F5F4A11BF30A}"/>
              </a:ext>
            </a:extLst>
          </p:cNvPr>
          <p:cNvSpPr>
            <a:spLocks noGrp="1"/>
          </p:cNvSpPr>
          <p:nvPr/>
        </p:nvSpPr>
        <p:spPr>
          <a:xfrm>
            <a:off x="2800350" y="4591050"/>
            <a:ext cx="2209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fast adaptation</a:t>
            </a:r>
          </a:p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sensitive to prompt/context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B326683-9120-48EB-8549-75EC51710C19}"/>
              </a:ext>
            </a:extLst>
          </p:cNvPr>
          <p:cNvSpPr>
            <a:spLocks noGrp="1"/>
          </p:cNvSpPr>
          <p:nvPr/>
        </p:nvSpPr>
        <p:spPr>
          <a:xfrm>
            <a:off x="6572250" y="4191000"/>
            <a:ext cx="2571750" cy="819150"/>
          </a:xfrm>
          <a:prstGeom prst="rect">
            <a:avLst/>
          </a:prstGeom>
          <a:solidFill>
            <a:srgbClr val="DDEA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72C69F2-207F-435C-A7D7-3BDAC2DEAE58}"/>
              </a:ext>
            </a:extLst>
          </p:cNvPr>
          <p:cNvSpPr>
            <a:spLocks noGrp="1"/>
          </p:cNvSpPr>
          <p:nvPr/>
        </p:nvSpPr>
        <p:spPr>
          <a:xfrm>
            <a:off x="6572250" y="4191000"/>
            <a:ext cx="2571750" cy="47625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5D4C639-AC1C-4557-AD0D-9D0BE55846E1}"/>
              </a:ext>
            </a:extLst>
          </p:cNvPr>
          <p:cNvSpPr>
            <a:spLocks noGrp="1"/>
          </p:cNvSpPr>
          <p:nvPr/>
        </p:nvSpPr>
        <p:spPr>
          <a:xfrm>
            <a:off x="6724650" y="4324350"/>
            <a:ext cx="2209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Few-shot learning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A9E8067-9DC9-4C61-9C2D-F36CA723C887}"/>
              </a:ext>
            </a:extLst>
          </p:cNvPr>
          <p:cNvSpPr>
            <a:spLocks noGrp="1"/>
          </p:cNvSpPr>
          <p:nvPr/>
        </p:nvSpPr>
        <p:spPr>
          <a:xfrm>
            <a:off x="6724650" y="4591050"/>
            <a:ext cx="2209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useful when labels are scarce</a:t>
            </a:r>
          </a:p>
          <a:p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competitive at lower cost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4747CA3-C92B-4787-9111-0E8EB57B8371}"/>
              </a:ext>
            </a:extLst>
          </p:cNvPr>
          <p:cNvSpPr>
            <a:spLocks noGrp="1"/>
          </p:cNvSpPr>
          <p:nvPr/>
        </p:nvSpPr>
        <p:spPr>
          <a:xfrm>
            <a:off x="2095500" y="5772150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For thesis work, model choice is less important than controlling context, repository state, and validation mode.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C81427B-CA3D-420A-A888-298E8A0D9CC5}"/>
              </a:ext>
            </a:extLst>
          </p:cNvPr>
          <p:cNvSpPr>
            <a:spLocks noGrp="1"/>
          </p:cNvSpPr>
          <p:nvPr/>
        </p:nvSpPr>
        <p:spPr>
          <a:xfrm>
            <a:off x="514350" y="64293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B9087AE-8058-47C4-8CB8-19F00426827D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71830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644BDFF0-5F40-4C53-9B94-8169303235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10-marker">
            <a:extLst>
              <a:ext uri="{FF2B5EF4-FFF2-40B4-BE49-F238E27FC236}">
                <a16:creationId xmlns:a16="http://schemas.microsoft.com/office/drawing/2014/main" id="{0C37507C-81A1-4515-89C6-0801DFFF592B}"/>
              </a:ext>
            </a:extLst>
          </p:cNvPr>
          <p:cNvSpPr>
            <a:spLocks noGrp="1"/>
          </p:cNvSpPr>
          <p:nvPr/>
        </p:nvSpPr>
        <p:spPr>
          <a:xfrm>
            <a:off x="533400" y="485775"/>
            <a:ext cx="323850" cy="38100"/>
          </a:xfrm>
          <a:prstGeom prst="rect">
            <a:avLst/>
          </a:prstGeom>
          <a:solidFill>
            <a:srgbClr val="6C5B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10-label">
            <a:extLst>
              <a:ext uri="{FF2B5EF4-FFF2-40B4-BE49-F238E27FC236}">
                <a16:creationId xmlns:a16="http://schemas.microsoft.com/office/drawing/2014/main" id="{09AACDD1-082C-4BC3-8530-09E1C25DBDA6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RQ4 FINDINGS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8BD216-25F3-4EE0-B652-51C2E72B51E2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Evaluation remains concentrated in benchmarks and isolated tasks.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0B33215-4F46-448B-A925-DD5CEBCD233E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Benchmarks are useful for comparison, but they do not fully capture real repository workflows.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F17D8D-BB64-48F8-B5BC-04129F02ED3D}"/>
              </a:ext>
            </a:extLst>
          </p:cNvPr>
          <p:cNvSpPr>
            <a:spLocks noGrp="1"/>
          </p:cNvSpPr>
          <p:nvPr/>
        </p:nvSpPr>
        <p:spPr>
          <a:xfrm>
            <a:off x="609600" y="28956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Fault localization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2B7A88-63BE-4D5C-9CB4-4D5F08B8B5B2}"/>
              </a:ext>
            </a:extLst>
          </p:cNvPr>
          <p:cNvSpPr>
            <a:spLocks noGrp="1"/>
          </p:cNvSpPr>
          <p:nvPr/>
        </p:nvSpPr>
        <p:spPr>
          <a:xfrm>
            <a:off x="2724150" y="28956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Defects4J, Space, Siemens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BA7898-67DA-47E6-BCDB-911D090D3C9C}"/>
              </a:ext>
            </a:extLst>
          </p:cNvPr>
          <p:cNvSpPr>
            <a:spLocks noGrp="1"/>
          </p:cNvSpPr>
          <p:nvPr/>
        </p:nvSpPr>
        <p:spPr>
          <a:xfrm>
            <a:off x="5886450" y="2924175"/>
            <a:ext cx="3067050" cy="133350"/>
          </a:xfrm>
          <a:prstGeom prst="rect">
            <a:avLst/>
          </a:prstGeom>
          <a:solidFill>
            <a:srgbClr val="ECE5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A20B27-FD08-468F-B911-34EF3B578A3B}"/>
              </a:ext>
            </a:extLst>
          </p:cNvPr>
          <p:cNvSpPr>
            <a:spLocks noGrp="1"/>
          </p:cNvSpPr>
          <p:nvPr/>
        </p:nvSpPr>
        <p:spPr>
          <a:xfrm>
            <a:off x="5886450" y="2924175"/>
            <a:ext cx="2576322" cy="133350"/>
          </a:xfrm>
          <a:prstGeom prst="rect">
            <a:avLst/>
          </a:prstGeom>
          <a:solidFill>
            <a:srgbClr val="315C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B37F42-11F7-4EB7-92FA-47017BD0675B}"/>
              </a:ext>
            </a:extLst>
          </p:cNvPr>
          <p:cNvSpPr>
            <a:spLocks noGrp="1"/>
          </p:cNvSpPr>
          <p:nvPr/>
        </p:nvSpPr>
        <p:spPr>
          <a:xfrm>
            <a:off x="9201150" y="28956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Top-k, diagnostic accuracy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BF5134-491C-406B-9967-E99CE1EF772D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Flaky tests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4B4AA49-017D-4567-85D6-6FFFC18DD66D}"/>
              </a:ext>
            </a:extLst>
          </p:cNvPr>
          <p:cNvSpPr>
            <a:spLocks noGrp="1"/>
          </p:cNvSpPr>
          <p:nvPr/>
        </p:nvSpPr>
        <p:spPr>
          <a:xfrm>
            <a:off x="2724150" y="35433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IDoFT, FlakyCat, GitHub projects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FE1E929-7FE2-465B-A211-FE6CBDE39815}"/>
              </a:ext>
            </a:extLst>
          </p:cNvPr>
          <p:cNvSpPr>
            <a:spLocks noGrp="1"/>
          </p:cNvSpPr>
          <p:nvPr/>
        </p:nvSpPr>
        <p:spPr>
          <a:xfrm>
            <a:off x="5886450" y="3571875"/>
            <a:ext cx="3067050" cy="133350"/>
          </a:xfrm>
          <a:prstGeom prst="rect">
            <a:avLst/>
          </a:prstGeom>
          <a:solidFill>
            <a:srgbClr val="ECE5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54E4DBA-EC9C-4B3F-829F-E3BF4ABE5C51}"/>
              </a:ext>
            </a:extLst>
          </p:cNvPr>
          <p:cNvSpPr>
            <a:spLocks noGrp="1"/>
          </p:cNvSpPr>
          <p:nvPr/>
        </p:nvSpPr>
        <p:spPr>
          <a:xfrm>
            <a:off x="5886450" y="3571875"/>
            <a:ext cx="2085594" cy="133350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0432EEB-0FF5-4645-83B8-B4547FA6363C}"/>
              </a:ext>
            </a:extLst>
          </p:cNvPr>
          <p:cNvSpPr>
            <a:spLocks noGrp="1"/>
          </p:cNvSpPr>
          <p:nvPr/>
        </p:nvSpPr>
        <p:spPr>
          <a:xfrm>
            <a:off x="9201150" y="35433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F1, repair quality, detected tests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A8B7967-9479-421C-B09E-432B5B0D32FF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Vulnerability detection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E29FC98-A5A1-44FB-805A-09D554FF23D9}"/>
              </a:ext>
            </a:extLst>
          </p:cNvPr>
          <p:cNvSpPr>
            <a:spLocks noGrp="1"/>
          </p:cNvSpPr>
          <p:nvPr/>
        </p:nvSpPr>
        <p:spPr>
          <a:xfrm>
            <a:off x="2724150" y="41910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OWASP, Juliet, CVEFixes, PrimeVul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6BA533D-4696-4A7E-AABE-B331FBCD57D2}"/>
              </a:ext>
            </a:extLst>
          </p:cNvPr>
          <p:cNvSpPr>
            <a:spLocks noGrp="1"/>
          </p:cNvSpPr>
          <p:nvPr/>
        </p:nvSpPr>
        <p:spPr>
          <a:xfrm>
            <a:off x="5886450" y="4219575"/>
            <a:ext cx="3067050" cy="133350"/>
          </a:xfrm>
          <a:prstGeom prst="rect">
            <a:avLst/>
          </a:prstGeom>
          <a:solidFill>
            <a:srgbClr val="ECE5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1816049-2219-4708-8DDB-4FC3E00B106B}"/>
              </a:ext>
            </a:extLst>
          </p:cNvPr>
          <p:cNvSpPr>
            <a:spLocks noGrp="1"/>
          </p:cNvSpPr>
          <p:nvPr/>
        </p:nvSpPr>
        <p:spPr>
          <a:xfrm>
            <a:off x="5886450" y="4219575"/>
            <a:ext cx="2208276" cy="133350"/>
          </a:xfrm>
          <a:prstGeom prst="rect">
            <a:avLst/>
          </a:prstGeom>
          <a:solidFill>
            <a:srgbClr val="A44A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433864B-2B05-4EF8-B137-66EE5B2723E1}"/>
              </a:ext>
            </a:extLst>
          </p:cNvPr>
          <p:cNvSpPr>
            <a:spLocks noGrp="1"/>
          </p:cNvSpPr>
          <p:nvPr/>
        </p:nvSpPr>
        <p:spPr>
          <a:xfrm>
            <a:off x="9201150" y="41910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Accuracy, F1, class-wise results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2DC1F8F-4EA2-4F16-816E-912073D01102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UI test repair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C20B7BC-C353-41CF-9C9F-4A2489E3C3AA}"/>
              </a:ext>
            </a:extLst>
          </p:cNvPr>
          <p:cNvSpPr>
            <a:spLocks noGrp="1"/>
          </p:cNvSpPr>
          <p:nvPr/>
        </p:nvSpPr>
        <p:spPr>
          <a:xfrm>
            <a:off x="2724150" y="48387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139 broken Selenium statements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473464C-7D8F-4A5B-8F7B-32CEC5381E8F}"/>
              </a:ext>
            </a:extLst>
          </p:cNvPr>
          <p:cNvSpPr>
            <a:spLocks noGrp="1"/>
          </p:cNvSpPr>
          <p:nvPr/>
        </p:nvSpPr>
        <p:spPr>
          <a:xfrm>
            <a:off x="5886450" y="4867275"/>
            <a:ext cx="3067050" cy="133350"/>
          </a:xfrm>
          <a:prstGeom prst="rect">
            <a:avLst/>
          </a:prstGeom>
          <a:solidFill>
            <a:srgbClr val="ECE5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985FBE3-5588-415A-A3E9-9FEA29F5174D}"/>
              </a:ext>
            </a:extLst>
          </p:cNvPr>
          <p:cNvSpPr>
            <a:spLocks noGrp="1"/>
          </p:cNvSpPr>
          <p:nvPr/>
        </p:nvSpPr>
        <p:spPr>
          <a:xfrm>
            <a:off x="5886450" y="4867275"/>
            <a:ext cx="1656207" cy="133350"/>
          </a:xfrm>
          <a:prstGeom prst="rect">
            <a:avLst/>
          </a:prstGeom>
          <a:solidFill>
            <a:srgbClr val="C07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C28DF4C-E27E-4799-B2FE-833B8E521B58}"/>
              </a:ext>
            </a:extLst>
          </p:cNvPr>
          <p:cNvSpPr>
            <a:spLocks noGrp="1"/>
          </p:cNvSpPr>
          <p:nvPr/>
        </p:nvSpPr>
        <p:spPr>
          <a:xfrm>
            <a:off x="9201150" y="48387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matching accuracy, repair success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67D182E-CFEF-45CE-9FF8-641DB37FAA4A}"/>
              </a:ext>
            </a:extLst>
          </p:cNvPr>
          <p:cNvSpPr>
            <a:spLocks noGrp="1"/>
          </p:cNvSpPr>
          <p:nvPr/>
        </p:nvSpPr>
        <p:spPr>
          <a:xfrm>
            <a:off x="6705600" y="5219700"/>
            <a:ext cx="4057650" cy="685800"/>
          </a:xfrm>
          <a:prstGeom prst="rect">
            <a:avLst/>
          </a:prstGeom>
          <a:solidFill>
            <a:srgbClr val="1F23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9AB283B-441E-4738-BCC9-44A2063D50F9}"/>
              </a:ext>
            </a:extLst>
          </p:cNvPr>
          <p:cNvSpPr>
            <a:spLocks noGrp="1"/>
          </p:cNvSpPr>
          <p:nvPr/>
        </p:nvSpPr>
        <p:spPr>
          <a:xfrm>
            <a:off x="6934200" y="53911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Missing evidence layer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B13BF29-F6BD-4645-9647-D96A524F21C0}"/>
              </a:ext>
            </a:extLst>
          </p:cNvPr>
          <p:cNvSpPr>
            <a:spLocks noGrp="1"/>
          </p:cNvSpPr>
          <p:nvPr/>
        </p:nvSpPr>
        <p:spPr>
          <a:xfrm>
            <a:off x="6934200" y="56578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DE5E0"/>
                </a:solidFill>
                <a:latin typeface="Aptos"/>
                <a:ea typeface="Aptos"/>
                <a:cs typeface="Aptos"/>
              </a:rPr>
              <a:t>real bug reports + source context + repo history + verified fixing commits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C015224-F78B-46FA-B5DA-85BAE48F239B}"/>
              </a:ext>
            </a:extLst>
          </p:cNvPr>
          <p:cNvSpPr>
            <a:spLocks noGrp="1"/>
          </p:cNvSpPr>
          <p:nvPr/>
        </p:nvSpPr>
        <p:spPr>
          <a:xfrm>
            <a:off x="514350" y="64293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5E06555-5F14-4381-BF02-D6D488ADDEC9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34417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4327036A-FC05-44BF-B9DE-87408D554D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11-marker">
            <a:extLst>
              <a:ext uri="{FF2B5EF4-FFF2-40B4-BE49-F238E27FC236}">
                <a16:creationId xmlns:a16="http://schemas.microsoft.com/office/drawing/2014/main" id="{C929EC72-8C53-477C-8F9E-D988E53629FC}"/>
              </a:ext>
            </a:extLst>
          </p:cNvPr>
          <p:cNvSpPr>
            <a:spLocks noGrp="1"/>
          </p:cNvSpPr>
          <p:nvPr/>
        </p:nvSpPr>
        <p:spPr>
          <a:xfrm>
            <a:off x="533400" y="485775"/>
            <a:ext cx="323850" cy="38100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11-label">
            <a:extLst>
              <a:ext uri="{FF2B5EF4-FFF2-40B4-BE49-F238E27FC236}">
                <a16:creationId xmlns:a16="http://schemas.microsoft.com/office/drawing/2014/main" id="{72FCBC28-7C0D-46D0-9F45-C33A84B81936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RQ5 FINDINGS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477C96-D195-42FE-A586-0476DE02E062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103822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Practical deployment depends on repository workflow, not just model reasoning.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C16337-232D-456F-8415-A78E616C0250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In real projects, the method must collect context, run or understand tests, and validate the result.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9B2D00-BEA1-4076-9EEE-E34CD8D10C03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8058150" cy="400050"/>
          </a:xfrm>
          <a:prstGeom prst="rect">
            <a:avLst/>
          </a:prstGeom>
          <a:solidFill>
            <a:srgbClr val="DEE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2A2D53-3C90-4524-BA89-F97953BB7B0B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8058150" cy="38100"/>
          </a:xfrm>
          <a:prstGeom prst="rect">
            <a:avLst/>
          </a:prstGeom>
          <a:solidFill>
            <a:srgbClr val="315C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A01EB3-C6B6-4040-814B-5BBF93DF7C87}"/>
              </a:ext>
            </a:extLst>
          </p:cNvPr>
          <p:cNvSpPr>
            <a:spLocks noGrp="1"/>
          </p:cNvSpPr>
          <p:nvPr/>
        </p:nvSpPr>
        <p:spPr>
          <a:xfrm>
            <a:off x="1581150" y="29337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Bug report / failure signal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1567C56-F567-4D5E-836E-D6B796A205BA}"/>
              </a:ext>
            </a:extLst>
          </p:cNvPr>
          <p:cNvSpPr>
            <a:spLocks noGrp="1"/>
          </p:cNvSpPr>
          <p:nvPr/>
        </p:nvSpPr>
        <p:spPr>
          <a:xfrm>
            <a:off x="5010150" y="2933700"/>
            <a:ext cx="2781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natural language, logs, failing behavior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E74A629-2B13-400B-A7CA-ED570B3B0781}"/>
              </a:ext>
            </a:extLst>
          </p:cNvPr>
          <p:cNvSpPr>
            <a:spLocks noGrp="1"/>
          </p:cNvSpPr>
          <p:nvPr/>
        </p:nvSpPr>
        <p:spPr>
          <a:xfrm>
            <a:off x="1714500" y="3390900"/>
            <a:ext cx="7410450" cy="400050"/>
          </a:xfrm>
          <a:prstGeom prst="rect">
            <a:avLst/>
          </a:prstGeom>
          <a:solidFill>
            <a:srgbClr val="DDEA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9F7965-E761-46C8-890D-2105FDB13022}"/>
              </a:ext>
            </a:extLst>
          </p:cNvPr>
          <p:cNvSpPr>
            <a:spLocks noGrp="1"/>
          </p:cNvSpPr>
          <p:nvPr/>
        </p:nvSpPr>
        <p:spPr>
          <a:xfrm>
            <a:off x="1714500" y="3390900"/>
            <a:ext cx="7410450" cy="38100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BD0C07-0379-4D90-B6A3-C0A9A450DF94}"/>
              </a:ext>
            </a:extLst>
          </p:cNvPr>
          <p:cNvSpPr>
            <a:spLocks noGrp="1"/>
          </p:cNvSpPr>
          <p:nvPr/>
        </p:nvSpPr>
        <p:spPr>
          <a:xfrm>
            <a:off x="1905000" y="34861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Repository checkout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E9CD89B-A204-4525-84F2-69660FF5EED3}"/>
              </a:ext>
            </a:extLst>
          </p:cNvPr>
          <p:cNvSpPr>
            <a:spLocks noGrp="1"/>
          </p:cNvSpPr>
          <p:nvPr/>
        </p:nvSpPr>
        <p:spPr>
          <a:xfrm>
            <a:off x="5010150" y="3486150"/>
            <a:ext cx="2781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correct commit, dependencies, local config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EE8836E-3DFD-45B8-86A5-0EFBCC878633}"/>
              </a:ext>
            </a:extLst>
          </p:cNvPr>
          <p:cNvSpPr>
            <a:spLocks noGrp="1"/>
          </p:cNvSpPr>
          <p:nvPr/>
        </p:nvSpPr>
        <p:spPr>
          <a:xfrm>
            <a:off x="2038350" y="3943350"/>
            <a:ext cx="6762750" cy="400050"/>
          </a:xfrm>
          <a:prstGeom prst="rect">
            <a:avLst/>
          </a:prstGeom>
          <a:solidFill>
            <a:srgbClr val="F1E1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102EE3D-E5D1-4F13-BB31-3333D8D19EFF}"/>
              </a:ext>
            </a:extLst>
          </p:cNvPr>
          <p:cNvSpPr>
            <a:spLocks noGrp="1"/>
          </p:cNvSpPr>
          <p:nvPr/>
        </p:nvSpPr>
        <p:spPr>
          <a:xfrm>
            <a:off x="2038350" y="3943350"/>
            <a:ext cx="6762750" cy="38100"/>
          </a:xfrm>
          <a:prstGeom prst="rect">
            <a:avLst/>
          </a:prstGeom>
          <a:solidFill>
            <a:srgbClr val="C07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8A0EF43-EFB2-49D4-88E2-CEC8F8C4FF0A}"/>
              </a:ext>
            </a:extLst>
          </p:cNvPr>
          <p:cNvSpPr>
            <a:spLocks noGrp="1"/>
          </p:cNvSpPr>
          <p:nvPr/>
        </p:nvSpPr>
        <p:spPr>
          <a:xfrm>
            <a:off x="2228850" y="40386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Build and test execution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A20C56E-D65E-4000-8B37-FD5789655B2E}"/>
              </a:ext>
            </a:extLst>
          </p:cNvPr>
          <p:cNvSpPr>
            <a:spLocks noGrp="1"/>
          </p:cNvSpPr>
          <p:nvPr/>
        </p:nvSpPr>
        <p:spPr>
          <a:xfrm>
            <a:off x="5010150" y="4038600"/>
            <a:ext cx="2781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install, compile, run, observe failures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D88D6BB-6AC5-4BB5-B903-59D054627E08}"/>
              </a:ext>
            </a:extLst>
          </p:cNvPr>
          <p:cNvSpPr>
            <a:spLocks noGrp="1"/>
          </p:cNvSpPr>
          <p:nvPr/>
        </p:nvSpPr>
        <p:spPr>
          <a:xfrm>
            <a:off x="2362200" y="4495800"/>
            <a:ext cx="6115050" cy="400050"/>
          </a:xfrm>
          <a:prstGeom prst="rect">
            <a:avLst/>
          </a:prstGeom>
          <a:solidFill>
            <a:srgbClr val="E5DD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83CCCDE-6870-4871-85FE-5E0187B3DEBC}"/>
              </a:ext>
            </a:extLst>
          </p:cNvPr>
          <p:cNvSpPr>
            <a:spLocks noGrp="1"/>
          </p:cNvSpPr>
          <p:nvPr/>
        </p:nvSpPr>
        <p:spPr>
          <a:xfrm>
            <a:off x="2362200" y="4495800"/>
            <a:ext cx="6115050" cy="38100"/>
          </a:xfrm>
          <a:prstGeom prst="rect">
            <a:avLst/>
          </a:prstGeom>
          <a:solidFill>
            <a:srgbClr val="6C5B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E47D782-60BF-40E3-85F5-0B3073450538}"/>
              </a:ext>
            </a:extLst>
          </p:cNvPr>
          <p:cNvSpPr>
            <a:spLocks noGrp="1"/>
          </p:cNvSpPr>
          <p:nvPr/>
        </p:nvSpPr>
        <p:spPr>
          <a:xfrm>
            <a:off x="2552700" y="45910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Context selection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BBF4B0F-ED44-48BA-9B1D-A78527BE3540}"/>
              </a:ext>
            </a:extLst>
          </p:cNvPr>
          <p:cNvSpPr>
            <a:spLocks noGrp="1"/>
          </p:cNvSpPr>
          <p:nvPr/>
        </p:nvSpPr>
        <p:spPr>
          <a:xfrm>
            <a:off x="5010150" y="4591050"/>
            <a:ext cx="2781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files, stack traces, issue history, prior fixes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245A119-A42D-4D3F-8E13-F899110D3E72}"/>
              </a:ext>
            </a:extLst>
          </p:cNvPr>
          <p:cNvSpPr>
            <a:spLocks noGrp="1"/>
          </p:cNvSpPr>
          <p:nvPr/>
        </p:nvSpPr>
        <p:spPr>
          <a:xfrm>
            <a:off x="2686050" y="5048250"/>
            <a:ext cx="5467350" cy="400050"/>
          </a:xfrm>
          <a:prstGeom prst="rect">
            <a:avLst/>
          </a:prstGeom>
          <a:solidFill>
            <a:srgbClr val="EAD6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2598C14-FF0E-41B0-942E-88550F4656B9}"/>
              </a:ext>
            </a:extLst>
          </p:cNvPr>
          <p:cNvSpPr>
            <a:spLocks noGrp="1"/>
          </p:cNvSpPr>
          <p:nvPr/>
        </p:nvSpPr>
        <p:spPr>
          <a:xfrm>
            <a:off x="2686050" y="5048250"/>
            <a:ext cx="5467350" cy="38100"/>
          </a:xfrm>
          <a:prstGeom prst="rect">
            <a:avLst/>
          </a:prstGeom>
          <a:solidFill>
            <a:srgbClr val="A44A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D1F9CE8-48E2-46A9-8AFC-22AD0F2C3FF8}"/>
              </a:ext>
            </a:extLst>
          </p:cNvPr>
          <p:cNvSpPr>
            <a:spLocks noGrp="1"/>
          </p:cNvSpPr>
          <p:nvPr/>
        </p:nvSpPr>
        <p:spPr>
          <a:xfrm>
            <a:off x="2876550" y="51435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Localization and validation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5C30036-61B1-4D3B-BA3C-A9A5F56E4061}"/>
              </a:ext>
            </a:extLst>
          </p:cNvPr>
          <p:cNvSpPr>
            <a:spLocks noGrp="1"/>
          </p:cNvSpPr>
          <p:nvPr/>
        </p:nvSpPr>
        <p:spPr>
          <a:xfrm>
            <a:off x="5010150" y="5143500"/>
            <a:ext cx="2781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rank suspicious files/methods, verify by fix commit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4133AFB-B1F0-478D-889B-BC3B6E051E9A}"/>
              </a:ext>
            </a:extLst>
          </p:cNvPr>
          <p:cNvSpPr>
            <a:spLocks noGrp="1"/>
          </p:cNvSpPr>
          <p:nvPr/>
        </p:nvSpPr>
        <p:spPr>
          <a:xfrm>
            <a:off x="9620250" y="2876550"/>
            <a:ext cx="1657350" cy="2209800"/>
          </a:xfrm>
          <a:prstGeom prst="rect">
            <a:avLst/>
          </a:prstGeom>
          <a:solidFill>
            <a:srgbClr val="1F23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2D0B42-9EA6-4CD1-81D2-2861D63EAC47}"/>
              </a:ext>
            </a:extLst>
          </p:cNvPr>
          <p:cNvSpPr>
            <a:spLocks noGrp="1"/>
          </p:cNvSpPr>
          <p:nvPr/>
        </p:nvSpPr>
        <p:spPr>
          <a:xfrm>
            <a:off x="9810750" y="30861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Key shift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51798C7-17DC-4F1D-B619-A51254F06DD5}"/>
              </a:ext>
            </a:extLst>
          </p:cNvPr>
          <p:cNvSpPr>
            <a:spLocks noGrp="1"/>
          </p:cNvSpPr>
          <p:nvPr/>
        </p:nvSpPr>
        <p:spPr>
          <a:xfrm>
            <a:off x="9810750" y="3429000"/>
            <a:ext cx="12192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5E0"/>
                </a:solidFill>
                <a:latin typeface="Aptos"/>
                <a:ea typeface="Aptos"/>
                <a:cs typeface="Aptos"/>
              </a:rPr>
              <a:t>from code-only prediction to repository-level workflow evaluation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40AD31A-5E33-4C3C-97E4-8698B33C3A37}"/>
              </a:ext>
            </a:extLst>
          </p:cNvPr>
          <p:cNvSpPr>
            <a:spLocks noGrp="1"/>
          </p:cNvSpPr>
          <p:nvPr/>
        </p:nvSpPr>
        <p:spPr>
          <a:xfrm>
            <a:off x="9810750" y="4514850"/>
            <a:ext cx="1238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9C7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7C2"/>
                </a:solidFill>
                <a:latin typeface="Aptos"/>
                <a:ea typeface="Aptos"/>
                <a:cs typeface="Aptos"/>
              </a:rPr>
              <a:t>This makes the thesis contribution testable.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219D96B-430A-447B-AC6F-E10768245336}"/>
              </a:ext>
            </a:extLst>
          </p:cNvPr>
          <p:cNvSpPr>
            <a:spLocks noGrp="1"/>
          </p:cNvSpPr>
          <p:nvPr/>
        </p:nvSpPr>
        <p:spPr>
          <a:xfrm>
            <a:off x="514350" y="64293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CF23E90-D3D0-4F08-B56B-CB7752138A26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89805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16BC97C9-14AB-4EE1-9C9A-A6C4EE6719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0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12-marker">
            <a:extLst>
              <a:ext uri="{FF2B5EF4-FFF2-40B4-BE49-F238E27FC236}">
                <a16:creationId xmlns:a16="http://schemas.microsoft.com/office/drawing/2014/main" id="{B52C914E-A624-41E5-88C2-A41690CCA0ED}"/>
              </a:ext>
            </a:extLst>
          </p:cNvPr>
          <p:cNvSpPr>
            <a:spLocks noGrp="1"/>
          </p:cNvSpPr>
          <p:nvPr/>
        </p:nvSpPr>
        <p:spPr>
          <a:xfrm>
            <a:off x="533400" y="485775"/>
            <a:ext cx="323850" cy="38100"/>
          </a:xfrm>
          <a:prstGeom prst="rect">
            <a:avLst/>
          </a:prstGeom>
          <a:solidFill>
            <a:srgbClr val="C07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12-label">
            <a:extLst>
              <a:ext uri="{FF2B5EF4-FFF2-40B4-BE49-F238E27FC236}">
                <a16:creationId xmlns:a16="http://schemas.microsoft.com/office/drawing/2014/main" id="{6F575F39-2650-444F-B0E3-518608CCF928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8E2D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E2DD"/>
                </a:solidFill>
                <a:latin typeface="Aptos"/>
                <a:ea typeface="Aptos"/>
                <a:cs typeface="Aptos"/>
              </a:rPr>
              <a:t>PRACTICAL REFERENCE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142C1B-B0B1-463A-A17B-16A09123674F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10287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Glasswing suggests an agent-plus-verifier pattern, but not yet for ordinary bugs.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93F5FFA-D7DA-40E2-9C04-4DBDADD1635B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8572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9C7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C7C2"/>
                </a:solidFill>
                <a:latin typeface="Aptos"/>
                <a:ea typeface="Aptos"/>
                <a:cs typeface="Aptos"/>
              </a:rPr>
              <a:t>I treat Glasswing/Mythos as grey literature: useful for practical framing, but not counted as a peer-reviewed primary study.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8E967E-FA10-4833-9DE6-F7AC529B52B6}"/>
              </a:ext>
            </a:extLst>
          </p:cNvPr>
          <p:cNvSpPr>
            <a:spLocks noGrp="1"/>
          </p:cNvSpPr>
          <p:nvPr/>
        </p:nvSpPr>
        <p:spPr>
          <a:xfrm>
            <a:off x="800100" y="3276600"/>
            <a:ext cx="2419350" cy="914400"/>
          </a:xfrm>
          <a:prstGeom prst="rect">
            <a:avLst/>
          </a:prstGeom>
          <a:solidFill>
            <a:srgbClr val="26313A"/>
          </a:solidFill>
          <a:ln w="9525">
            <a:solidFill>
              <a:srgbClr val="5664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22DBE8-A522-46D2-80AE-8983657C4804}"/>
              </a:ext>
            </a:extLst>
          </p:cNvPr>
          <p:cNvSpPr>
            <a:spLocks noGrp="1"/>
          </p:cNvSpPr>
          <p:nvPr/>
        </p:nvSpPr>
        <p:spPr>
          <a:xfrm>
            <a:off x="1028700" y="354330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Target repository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7BA1598-6266-43D7-8685-B91D5B393F34}"/>
              </a:ext>
            </a:extLst>
          </p:cNvPr>
          <p:cNvSpPr>
            <a:spLocks noGrp="1"/>
          </p:cNvSpPr>
          <p:nvPr/>
        </p:nvSpPr>
        <p:spPr>
          <a:xfrm>
            <a:off x="1028700" y="3848100"/>
            <a:ext cx="1962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9C7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7C2"/>
                </a:solidFill>
                <a:latin typeface="Aptos"/>
                <a:ea typeface="Aptos"/>
                <a:cs typeface="Aptos"/>
              </a:rPr>
              <a:t>source code + runtime container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5FEDEB7-69C6-4E3F-97AB-F7FDB7DE728E}"/>
              </a:ext>
            </a:extLst>
          </p:cNvPr>
          <p:cNvSpPr>
            <a:spLocks noGrp="1"/>
          </p:cNvSpPr>
          <p:nvPr/>
        </p:nvSpPr>
        <p:spPr>
          <a:xfrm>
            <a:off x="3486150" y="3609975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FCE6BE2-6322-4D09-9D04-9D5E47C6EB80}"/>
              </a:ext>
            </a:extLst>
          </p:cNvPr>
          <p:cNvSpPr>
            <a:spLocks noGrp="1"/>
          </p:cNvSpPr>
          <p:nvPr/>
        </p:nvSpPr>
        <p:spPr>
          <a:xfrm>
            <a:off x="3981450" y="3276600"/>
            <a:ext cx="2514600" cy="914400"/>
          </a:xfrm>
          <a:prstGeom prst="rect">
            <a:avLst/>
          </a:prstGeom>
          <a:solidFill>
            <a:srgbClr val="26313A"/>
          </a:solidFill>
          <a:ln w="9525">
            <a:solidFill>
              <a:srgbClr val="5664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1486F30-E130-40F2-A5D4-2746A44E3273}"/>
              </a:ext>
            </a:extLst>
          </p:cNvPr>
          <p:cNvSpPr>
            <a:spLocks noGrp="1"/>
          </p:cNvSpPr>
          <p:nvPr/>
        </p:nvSpPr>
        <p:spPr>
          <a:xfrm>
            <a:off x="4210050" y="354330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Discovery agent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A81AB8-0FD9-4FB3-8718-6115DD7D8246}"/>
              </a:ext>
            </a:extLst>
          </p:cNvPr>
          <p:cNvSpPr>
            <a:spLocks noGrp="1"/>
          </p:cNvSpPr>
          <p:nvPr/>
        </p:nvSpPr>
        <p:spPr>
          <a:xfrm>
            <a:off x="4210050" y="3848100"/>
            <a:ext cx="2057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9C7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7C2"/>
                </a:solidFill>
                <a:latin typeface="Aptos"/>
                <a:ea typeface="Aptos"/>
                <a:cs typeface="Aptos"/>
              </a:rPr>
              <a:t>read, hypothesize, run, report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BB27926-CFE7-49AE-B5D4-B5619137C9B8}"/>
              </a:ext>
            </a:extLst>
          </p:cNvPr>
          <p:cNvSpPr>
            <a:spLocks noGrp="1"/>
          </p:cNvSpPr>
          <p:nvPr/>
        </p:nvSpPr>
        <p:spPr>
          <a:xfrm>
            <a:off x="6762750" y="3609975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67477A-8C3E-4701-A450-82612F92D2DE}"/>
              </a:ext>
            </a:extLst>
          </p:cNvPr>
          <p:cNvSpPr>
            <a:spLocks noGrp="1"/>
          </p:cNvSpPr>
          <p:nvPr/>
        </p:nvSpPr>
        <p:spPr>
          <a:xfrm>
            <a:off x="7258050" y="3276600"/>
            <a:ext cx="2514600" cy="914400"/>
          </a:xfrm>
          <a:prstGeom prst="rect">
            <a:avLst/>
          </a:prstGeom>
          <a:solidFill>
            <a:srgbClr val="26313A"/>
          </a:solidFill>
          <a:ln w="9525">
            <a:solidFill>
              <a:srgbClr val="5664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39D0F3B-4EBE-471E-96CF-26297333F2A3}"/>
              </a:ext>
            </a:extLst>
          </p:cNvPr>
          <p:cNvSpPr>
            <a:spLocks noGrp="1"/>
          </p:cNvSpPr>
          <p:nvPr/>
        </p:nvSpPr>
        <p:spPr>
          <a:xfrm>
            <a:off x="7486650" y="354330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Independent verifier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C710D66-DBAD-4157-8962-F12083FBDEBB}"/>
              </a:ext>
            </a:extLst>
          </p:cNvPr>
          <p:cNvSpPr>
            <a:spLocks noGrp="1"/>
          </p:cNvSpPr>
          <p:nvPr/>
        </p:nvSpPr>
        <p:spPr>
          <a:xfrm>
            <a:off x="7486650" y="3848100"/>
            <a:ext cx="2057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9C7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7C2"/>
                </a:solidFill>
                <a:latin typeface="Aptos"/>
                <a:ea typeface="Aptos"/>
                <a:cs typeface="Aptos"/>
              </a:rPr>
              <a:t>check impact and reproducibility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0664D9D-AF3D-41B4-A0BC-8F816E40B9A5}"/>
              </a:ext>
            </a:extLst>
          </p:cNvPr>
          <p:cNvSpPr>
            <a:spLocks noGrp="1"/>
          </p:cNvSpPr>
          <p:nvPr/>
        </p:nvSpPr>
        <p:spPr>
          <a:xfrm>
            <a:off x="10039350" y="3609975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B3EAA8F-F537-437B-ACF2-BA260FC1EF25}"/>
              </a:ext>
            </a:extLst>
          </p:cNvPr>
          <p:cNvSpPr>
            <a:spLocks noGrp="1"/>
          </p:cNvSpPr>
          <p:nvPr/>
        </p:nvSpPr>
        <p:spPr>
          <a:xfrm>
            <a:off x="10534650" y="3276600"/>
            <a:ext cx="1123950" cy="914400"/>
          </a:xfrm>
          <a:prstGeom prst="rect">
            <a:avLst/>
          </a:prstGeom>
          <a:solidFill>
            <a:srgbClr val="3A2F25"/>
          </a:solidFill>
          <a:ln w="9525">
            <a:solidFill>
              <a:srgbClr val="C07A2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2600F11-5711-4E96-B636-5006C585EB5A}"/>
              </a:ext>
            </a:extLst>
          </p:cNvPr>
          <p:cNvSpPr>
            <a:spLocks noGrp="1"/>
          </p:cNvSpPr>
          <p:nvPr/>
        </p:nvSpPr>
        <p:spPr>
          <a:xfrm>
            <a:off x="10763250" y="35433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0D6F737-C122-4DFD-96F9-F49EA8479F65}"/>
              </a:ext>
            </a:extLst>
          </p:cNvPr>
          <p:cNvSpPr>
            <a:spLocks noGrp="1"/>
          </p:cNvSpPr>
          <p:nvPr/>
        </p:nvSpPr>
        <p:spPr>
          <a:xfrm>
            <a:off x="10763250" y="384810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EBD8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EBD8B8"/>
                </a:solidFill>
                <a:latin typeface="Aptos"/>
                <a:ea typeface="Aptos"/>
                <a:cs typeface="Aptos"/>
              </a:rPr>
              <a:t>PoC + steps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C9DCA94-E37A-4E55-9F7B-297688DD8CEA}"/>
              </a:ext>
            </a:extLst>
          </p:cNvPr>
          <p:cNvSpPr>
            <a:spLocks noGrp="1"/>
          </p:cNvSpPr>
          <p:nvPr/>
        </p:nvSpPr>
        <p:spPr>
          <a:xfrm>
            <a:off x="1123950" y="4972050"/>
            <a:ext cx="9810750" cy="9525"/>
          </a:xfrm>
          <a:prstGeom prst="rect">
            <a:avLst/>
          </a:prstGeom>
          <a:solidFill>
            <a:srgbClr val="5664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EE592BC-730B-4A4A-AA8D-F53E9BFA6DD0}"/>
              </a:ext>
            </a:extLst>
          </p:cNvPr>
          <p:cNvSpPr>
            <a:spLocks noGrp="1"/>
          </p:cNvSpPr>
          <p:nvPr/>
        </p:nvSpPr>
        <p:spPr>
          <a:xfrm>
            <a:off x="1123950" y="52197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translation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735D49C-D98B-49FA-ABBB-A20FBD976F09}"/>
              </a:ext>
            </a:extLst>
          </p:cNvPr>
          <p:cNvSpPr>
            <a:spLocks noGrp="1"/>
          </p:cNvSpPr>
          <p:nvPr/>
        </p:nvSpPr>
        <p:spPr>
          <a:xfrm>
            <a:off x="2933700" y="5181600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5E0"/>
                </a:solidFill>
                <a:latin typeface="Aptos"/>
                <a:ea typeface="Aptos"/>
                <a:cs typeface="Aptos"/>
              </a:rPr>
              <a:t>Apply the pattern to application-level fault localization: business logic errors, state bugs, API misuse, and data processing failures.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980E3EE-033A-4405-9BEC-684D83E8F763}"/>
              </a:ext>
            </a:extLst>
          </p:cNvPr>
          <p:cNvSpPr>
            <a:spLocks noGrp="1"/>
          </p:cNvSpPr>
          <p:nvPr/>
        </p:nvSpPr>
        <p:spPr>
          <a:xfrm>
            <a:off x="514350" y="64293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Industry reference: Anthropic Glasswing/Mythos, discussed as grey literature in the PDF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7D2DF21-AB55-40DD-AD3E-5C81972E6313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7904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2021FD14-AA8B-42EB-AB6B-25A8B999E2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13-marker">
            <a:extLst>
              <a:ext uri="{FF2B5EF4-FFF2-40B4-BE49-F238E27FC236}">
                <a16:creationId xmlns:a16="http://schemas.microsoft.com/office/drawing/2014/main" id="{09D29398-DE9D-464E-B9CC-A64AE9E75409}"/>
              </a:ext>
            </a:extLst>
          </p:cNvPr>
          <p:cNvSpPr>
            <a:spLocks noGrp="1"/>
          </p:cNvSpPr>
          <p:nvPr/>
        </p:nvSpPr>
        <p:spPr>
          <a:xfrm>
            <a:off x="533400" y="485775"/>
            <a:ext cx="323850" cy="38100"/>
          </a:xfrm>
          <a:prstGeom prst="rect">
            <a:avLst/>
          </a:prstGeom>
          <a:solidFill>
            <a:srgbClr val="A44A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13-label">
            <a:extLst>
              <a:ext uri="{FF2B5EF4-FFF2-40B4-BE49-F238E27FC236}">
                <a16:creationId xmlns:a16="http://schemas.microsoft.com/office/drawing/2014/main" id="{6A88EE2C-8806-4AAC-A579-3CE4664C87F2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33BD17-1E4E-4A21-B880-FF4DF3429A25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990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Three gaps converge on real-repository LLM fault localization.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C80830-A719-4D2F-A5DA-28D8C5784A8C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The search method matters because these gaps are synthesized across different literature streams.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6E8714-FC01-4E7E-8931-A105C45FB0AC}"/>
              </a:ext>
            </a:extLst>
          </p:cNvPr>
          <p:cNvSpPr>
            <a:spLocks noGrp="1"/>
          </p:cNvSpPr>
          <p:nvPr/>
        </p:nvSpPr>
        <p:spPr>
          <a:xfrm>
            <a:off x="704850" y="2914650"/>
            <a:ext cx="10763250" cy="419100"/>
          </a:xfrm>
          <a:prstGeom prst="rect">
            <a:avLst/>
          </a:prstGeom>
          <a:solidFill>
            <a:srgbClr val="1F23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1976C94-100E-4856-BEB0-CA026D02C889}"/>
              </a:ext>
            </a:extLst>
          </p:cNvPr>
          <p:cNvSpPr>
            <a:spLocks noGrp="1"/>
          </p:cNvSpPr>
          <p:nvPr/>
        </p:nvSpPr>
        <p:spPr>
          <a:xfrm>
            <a:off x="895350" y="304800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Gap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7B17BC8-BFAA-4CE4-A1E5-748A558B4B26}"/>
              </a:ext>
            </a:extLst>
          </p:cNvPr>
          <p:cNvSpPr>
            <a:spLocks noGrp="1"/>
          </p:cNvSpPr>
          <p:nvPr/>
        </p:nvSpPr>
        <p:spPr>
          <a:xfrm>
            <a:off x="2324100" y="30480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Description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B4C7861-C4C7-4180-BC91-D94ABF25C1F5}"/>
              </a:ext>
            </a:extLst>
          </p:cNvPr>
          <p:cNvSpPr>
            <a:spLocks noGrp="1"/>
          </p:cNvSpPr>
          <p:nvPr/>
        </p:nvSpPr>
        <p:spPr>
          <a:xfrm>
            <a:off x="7277100" y="3048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 for thesis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B7406C-344A-4591-9424-D37B62988E10}"/>
              </a:ext>
            </a:extLst>
          </p:cNvPr>
          <p:cNvSpPr>
            <a:spLocks noGrp="1"/>
          </p:cNvSpPr>
          <p:nvPr/>
        </p:nvSpPr>
        <p:spPr>
          <a:xfrm>
            <a:off x="704850" y="3333750"/>
            <a:ext cx="107632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685B1C-944F-479E-9F20-F524E3CC636C}"/>
              </a:ext>
            </a:extLst>
          </p:cNvPr>
          <p:cNvSpPr>
            <a:spLocks noGrp="1"/>
          </p:cNvSpPr>
          <p:nvPr/>
        </p:nvSpPr>
        <p:spPr>
          <a:xfrm>
            <a:off x="704850" y="3333750"/>
            <a:ext cx="76200" cy="781050"/>
          </a:xfrm>
          <a:prstGeom prst="rect">
            <a:avLst/>
          </a:prstGeom>
          <a:solidFill>
            <a:srgbClr val="315C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CCD479A-CB22-4123-8E99-8636ACF782AB}"/>
              </a:ext>
            </a:extLst>
          </p:cNvPr>
          <p:cNvSpPr>
            <a:spLocks noGrp="1"/>
          </p:cNvSpPr>
          <p:nvPr/>
        </p:nvSpPr>
        <p:spPr>
          <a:xfrm>
            <a:off x="971550" y="3562350"/>
            <a:ext cx="57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315C8B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315C8B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3FE0F51-0106-4D83-B709-843AA6E2C790}"/>
              </a:ext>
            </a:extLst>
          </p:cNvPr>
          <p:cNvSpPr>
            <a:spLocks noGrp="1"/>
          </p:cNvSpPr>
          <p:nvPr/>
        </p:nvSpPr>
        <p:spPr>
          <a:xfrm>
            <a:off x="2324100" y="3524250"/>
            <a:ext cx="4095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LLM-based fault localization lacks real repository-level validation.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8911E6F-8DC9-4206-A7CF-7D1F4E4F8C9D}"/>
              </a:ext>
            </a:extLst>
          </p:cNvPr>
          <p:cNvSpPr>
            <a:spLocks noGrp="1"/>
          </p:cNvSpPr>
          <p:nvPr/>
        </p:nvSpPr>
        <p:spPr>
          <a:xfrm>
            <a:off x="7277100" y="3524250"/>
            <a:ext cx="342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Build evidence beyond Defects4J-style benchmark settings.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FFDC7EA-E130-4972-A488-A2A4D739BC37}"/>
              </a:ext>
            </a:extLst>
          </p:cNvPr>
          <p:cNvSpPr>
            <a:spLocks noGrp="1"/>
          </p:cNvSpPr>
          <p:nvPr/>
        </p:nvSpPr>
        <p:spPr>
          <a:xfrm>
            <a:off x="704850" y="4114800"/>
            <a:ext cx="10763250" cy="781050"/>
          </a:xfrm>
          <a:prstGeom prst="rect">
            <a:avLst/>
          </a:prstGeom>
          <a:solidFill>
            <a:srgbClr val="ECE5D7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D126A2D-0F93-45FF-95D5-1465F9C8D5AA}"/>
              </a:ext>
            </a:extLst>
          </p:cNvPr>
          <p:cNvSpPr>
            <a:spLocks noGrp="1"/>
          </p:cNvSpPr>
          <p:nvPr/>
        </p:nvSpPr>
        <p:spPr>
          <a:xfrm>
            <a:off x="704850" y="4114800"/>
            <a:ext cx="76200" cy="781050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6385D0-CD25-4E39-91BF-49E3DC8C218B}"/>
              </a:ext>
            </a:extLst>
          </p:cNvPr>
          <p:cNvSpPr>
            <a:spLocks noGrp="1"/>
          </p:cNvSpPr>
          <p:nvPr/>
        </p:nvSpPr>
        <p:spPr>
          <a:xfrm>
            <a:off x="971550" y="4343400"/>
            <a:ext cx="57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F6F5B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1F6F5B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99681F6-F79C-4DAF-B44A-4F39B5DB022F}"/>
              </a:ext>
            </a:extLst>
          </p:cNvPr>
          <p:cNvSpPr>
            <a:spLocks noGrp="1"/>
          </p:cNvSpPr>
          <p:nvPr/>
        </p:nvSpPr>
        <p:spPr>
          <a:xfrm>
            <a:off x="2324100" y="4305300"/>
            <a:ext cx="4095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Agentic scaffolds have not been sufficiently applied to ordinary application-level bugs.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663045B-8972-40D7-823C-D5887FCC5C69}"/>
              </a:ext>
            </a:extLst>
          </p:cNvPr>
          <p:cNvSpPr>
            <a:spLocks noGrp="1"/>
          </p:cNvSpPr>
          <p:nvPr/>
        </p:nvSpPr>
        <p:spPr>
          <a:xfrm>
            <a:off x="7277100" y="4305300"/>
            <a:ext cx="342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Test whether agent workflows transfer beyond security vulnerabilities.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DA2A860-5E6C-4EE3-9C43-6C49E7C3CAC8}"/>
              </a:ext>
            </a:extLst>
          </p:cNvPr>
          <p:cNvSpPr>
            <a:spLocks noGrp="1"/>
          </p:cNvSpPr>
          <p:nvPr/>
        </p:nvSpPr>
        <p:spPr>
          <a:xfrm>
            <a:off x="704850" y="4895850"/>
            <a:ext cx="107632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BE0142D-E5A0-40CB-82FA-118AC6145A2C}"/>
              </a:ext>
            </a:extLst>
          </p:cNvPr>
          <p:cNvSpPr>
            <a:spLocks noGrp="1"/>
          </p:cNvSpPr>
          <p:nvPr/>
        </p:nvSpPr>
        <p:spPr>
          <a:xfrm>
            <a:off x="704850" y="4895850"/>
            <a:ext cx="76200" cy="781050"/>
          </a:xfrm>
          <a:prstGeom prst="rect">
            <a:avLst/>
          </a:prstGeom>
          <a:solidFill>
            <a:srgbClr val="C07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C70282D-A5D7-4D14-8D85-A91A22546FF0}"/>
              </a:ext>
            </a:extLst>
          </p:cNvPr>
          <p:cNvSpPr>
            <a:spLocks noGrp="1"/>
          </p:cNvSpPr>
          <p:nvPr/>
        </p:nvSpPr>
        <p:spPr>
          <a:xfrm>
            <a:off x="971550" y="5124450"/>
            <a:ext cx="57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FC8C3EF-2C8B-4645-B10E-1F3CEE8B0246}"/>
              </a:ext>
            </a:extLst>
          </p:cNvPr>
          <p:cNvSpPr>
            <a:spLocks noGrp="1"/>
          </p:cNvSpPr>
          <p:nvPr/>
        </p:nvSpPr>
        <p:spPr>
          <a:xfrm>
            <a:off x="2324100" y="5086350"/>
            <a:ext cx="4095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Effects of context level and independent verification remain unclear.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7F4465A-FDBD-4080-9757-3745D54AFE98}"/>
              </a:ext>
            </a:extLst>
          </p:cNvPr>
          <p:cNvSpPr>
            <a:spLocks noGrp="1"/>
          </p:cNvSpPr>
          <p:nvPr/>
        </p:nvSpPr>
        <p:spPr>
          <a:xfrm>
            <a:off x="7277100" y="5086350"/>
            <a:ext cx="342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Compare prompts and verification modes under controlled conditions.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5AD5A4D-9CCC-48E6-BC3D-62C93062C637}"/>
              </a:ext>
            </a:extLst>
          </p:cNvPr>
          <p:cNvSpPr>
            <a:spLocks noGrp="1"/>
          </p:cNvSpPr>
          <p:nvPr/>
        </p:nvSpPr>
        <p:spPr>
          <a:xfrm>
            <a:off x="514350" y="64293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1960B44-7914-493E-AF6F-FEE88CBA6979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27042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CE3EE1DB-9661-41C4-B15C-BC978F3AD3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kicker-14-marker">
            <a:extLst>
              <a:ext uri="{FF2B5EF4-FFF2-40B4-BE49-F238E27FC236}">
                <a16:creationId xmlns:a16="http://schemas.microsoft.com/office/drawing/2014/main" id="{36D6161A-2C12-4A4C-85FB-484175CBDB25}"/>
              </a:ext>
            </a:extLst>
          </p:cNvPr>
          <p:cNvSpPr>
            <a:spLocks noGrp="1"/>
          </p:cNvSpPr>
          <p:nvPr/>
        </p:nvSpPr>
        <p:spPr>
          <a:xfrm>
            <a:off x="533400" y="485775"/>
            <a:ext cx="323850" cy="38100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kicker-14-label">
            <a:extLst>
              <a:ext uri="{FF2B5EF4-FFF2-40B4-BE49-F238E27FC236}">
                <a16:creationId xmlns:a16="http://schemas.microsoft.com/office/drawing/2014/main" id="{202E68AA-1B59-46F5-9E58-8D096D604601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533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446FAA-97DD-4A81-AF47-085DF3834497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A focused thesis can test context and verification in real repositories.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78110F-0834-4E57-834C-ECABD16BB673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The literature search leads to a concrete experiment, not only a general research interest.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798A4B7-C544-4EA6-A2C5-99CC44CE61AC}"/>
              </a:ext>
            </a:extLst>
          </p:cNvPr>
          <p:cNvSpPr>
            <a:spLocks noGrp="1"/>
          </p:cNvSpPr>
          <p:nvPr/>
        </p:nvSpPr>
        <p:spPr>
          <a:xfrm>
            <a:off x="628650" y="3105150"/>
            <a:ext cx="17526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B21E168-F411-42B8-9210-24398E29B195}"/>
              </a:ext>
            </a:extLst>
          </p:cNvPr>
          <p:cNvSpPr>
            <a:spLocks noGrp="1"/>
          </p:cNvSpPr>
          <p:nvPr/>
        </p:nvSpPr>
        <p:spPr>
          <a:xfrm>
            <a:off x="628650" y="3105150"/>
            <a:ext cx="1752600" cy="57150"/>
          </a:xfrm>
          <a:prstGeom prst="rect">
            <a:avLst/>
          </a:prstGeom>
          <a:solidFill>
            <a:srgbClr val="315C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FEA87A3-2AF1-4676-833D-3939F1A9C7D6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BCE8FED-C849-4812-9072-33EC6E564282}"/>
              </a:ext>
            </a:extLst>
          </p:cNvPr>
          <p:cNvSpPr>
            <a:spLocks noGrp="1"/>
          </p:cNvSpPr>
          <p:nvPr/>
        </p:nvSpPr>
        <p:spPr>
          <a:xfrm>
            <a:off x="781050" y="3657600"/>
            <a:ext cx="140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real bug reports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buggy snapshots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fixing commits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0D3DFD-355D-4C9E-AC12-ACB58D80C19A}"/>
              </a:ext>
            </a:extLst>
          </p:cNvPr>
          <p:cNvSpPr>
            <a:spLocks noGrp="1"/>
          </p:cNvSpPr>
          <p:nvPr/>
        </p:nvSpPr>
        <p:spPr>
          <a:xfrm>
            <a:off x="2438400" y="3581400"/>
            <a:ext cx="361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E1A05D-B68A-4B7A-8E41-C84BB94D4941}"/>
              </a:ext>
            </a:extLst>
          </p:cNvPr>
          <p:cNvSpPr>
            <a:spLocks noGrp="1"/>
          </p:cNvSpPr>
          <p:nvPr/>
        </p:nvSpPr>
        <p:spPr>
          <a:xfrm>
            <a:off x="2867025" y="3105150"/>
            <a:ext cx="17526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2F4464-54F3-4606-A927-F64C2E072283}"/>
              </a:ext>
            </a:extLst>
          </p:cNvPr>
          <p:cNvSpPr>
            <a:spLocks noGrp="1"/>
          </p:cNvSpPr>
          <p:nvPr/>
        </p:nvSpPr>
        <p:spPr>
          <a:xfrm>
            <a:off x="2867025" y="3105150"/>
            <a:ext cx="1752600" cy="57150"/>
          </a:xfrm>
          <a:prstGeom prst="rect">
            <a:avLst/>
          </a:prstGeom>
          <a:solidFill>
            <a:srgbClr val="1F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555C426-1132-48CE-BE17-51D875C7AC1F}"/>
              </a:ext>
            </a:extLst>
          </p:cNvPr>
          <p:cNvSpPr>
            <a:spLocks noGrp="1"/>
          </p:cNvSpPr>
          <p:nvPr/>
        </p:nvSpPr>
        <p:spPr>
          <a:xfrm>
            <a:off x="3019425" y="33337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50B1855-A037-4298-B0B8-1D2FF0C727DC}"/>
              </a:ext>
            </a:extLst>
          </p:cNvPr>
          <p:cNvSpPr>
            <a:spLocks noGrp="1"/>
          </p:cNvSpPr>
          <p:nvPr/>
        </p:nvSpPr>
        <p:spPr>
          <a:xfrm>
            <a:off x="3019425" y="3657600"/>
            <a:ext cx="140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report only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+ stack/logs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+ code snippets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+ history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E72B2DC-0DBB-43B4-91C3-F85CEB4D6484}"/>
              </a:ext>
            </a:extLst>
          </p:cNvPr>
          <p:cNvSpPr>
            <a:spLocks noGrp="1"/>
          </p:cNvSpPr>
          <p:nvPr/>
        </p:nvSpPr>
        <p:spPr>
          <a:xfrm>
            <a:off x="4676775" y="3581400"/>
            <a:ext cx="361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4E9B049-3298-4EE0-AA03-6715216EE2B9}"/>
              </a:ext>
            </a:extLst>
          </p:cNvPr>
          <p:cNvSpPr>
            <a:spLocks noGrp="1"/>
          </p:cNvSpPr>
          <p:nvPr/>
        </p:nvSpPr>
        <p:spPr>
          <a:xfrm>
            <a:off x="5105400" y="3105150"/>
            <a:ext cx="17526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91AE802-A757-410E-A09E-F1BD38C633AA}"/>
              </a:ext>
            </a:extLst>
          </p:cNvPr>
          <p:cNvSpPr>
            <a:spLocks noGrp="1"/>
          </p:cNvSpPr>
          <p:nvPr/>
        </p:nvSpPr>
        <p:spPr>
          <a:xfrm>
            <a:off x="5105400" y="3105150"/>
            <a:ext cx="1752600" cy="57150"/>
          </a:xfrm>
          <a:prstGeom prst="rect">
            <a:avLst/>
          </a:prstGeom>
          <a:solidFill>
            <a:srgbClr val="C07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2381097-1E6C-4FAF-AED4-BDDD6CD5AE8E}"/>
              </a:ext>
            </a:extLst>
          </p:cNvPr>
          <p:cNvSpPr>
            <a:spLocks noGrp="1"/>
          </p:cNvSpPr>
          <p:nvPr/>
        </p:nvSpPr>
        <p:spPr>
          <a:xfrm>
            <a:off x="5257800" y="33337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LLM / agent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270938E-BEAC-400F-91D1-FC1F1091D4C8}"/>
              </a:ext>
            </a:extLst>
          </p:cNvPr>
          <p:cNvSpPr>
            <a:spLocks noGrp="1"/>
          </p:cNvSpPr>
          <p:nvPr/>
        </p:nvSpPr>
        <p:spPr>
          <a:xfrm>
            <a:off x="5257800" y="3657600"/>
            <a:ext cx="140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rank files or methods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explain evidence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optionally verify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6A598CE-16D7-4E47-AAA2-335FC592605C}"/>
              </a:ext>
            </a:extLst>
          </p:cNvPr>
          <p:cNvSpPr>
            <a:spLocks noGrp="1"/>
          </p:cNvSpPr>
          <p:nvPr/>
        </p:nvSpPr>
        <p:spPr>
          <a:xfrm>
            <a:off x="6915150" y="3581400"/>
            <a:ext cx="361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5C330AD-245E-46C6-8F7D-4582563CC27B}"/>
              </a:ext>
            </a:extLst>
          </p:cNvPr>
          <p:cNvSpPr>
            <a:spLocks noGrp="1"/>
          </p:cNvSpPr>
          <p:nvPr/>
        </p:nvSpPr>
        <p:spPr>
          <a:xfrm>
            <a:off x="7343775" y="3105150"/>
            <a:ext cx="17526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141F9B8-975F-4CBF-88F1-AABB19E4F5D7}"/>
              </a:ext>
            </a:extLst>
          </p:cNvPr>
          <p:cNvSpPr>
            <a:spLocks noGrp="1"/>
          </p:cNvSpPr>
          <p:nvPr/>
        </p:nvSpPr>
        <p:spPr>
          <a:xfrm>
            <a:off x="7343775" y="3105150"/>
            <a:ext cx="1752600" cy="57150"/>
          </a:xfrm>
          <a:prstGeom prst="rect">
            <a:avLst/>
          </a:prstGeom>
          <a:solidFill>
            <a:srgbClr val="6C5B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D97D25-FB45-4A52-8973-56C278486C83}"/>
              </a:ext>
            </a:extLst>
          </p:cNvPr>
          <p:cNvSpPr>
            <a:spLocks noGrp="1"/>
          </p:cNvSpPr>
          <p:nvPr/>
        </p:nvSpPr>
        <p:spPr>
          <a:xfrm>
            <a:off x="7496175" y="33337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81C3475-4D42-4C70-9378-E340332113FB}"/>
              </a:ext>
            </a:extLst>
          </p:cNvPr>
          <p:cNvSpPr>
            <a:spLocks noGrp="1"/>
          </p:cNvSpPr>
          <p:nvPr/>
        </p:nvSpPr>
        <p:spPr>
          <a:xfrm>
            <a:off x="7496175" y="3657600"/>
            <a:ext cx="140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Top-k hit rate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MRR / recall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ablation by context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F888BA-F73F-4DAC-A252-299548FC6311}"/>
              </a:ext>
            </a:extLst>
          </p:cNvPr>
          <p:cNvSpPr>
            <a:spLocks noGrp="1"/>
          </p:cNvSpPr>
          <p:nvPr/>
        </p:nvSpPr>
        <p:spPr>
          <a:xfrm>
            <a:off x="9153525" y="3581400"/>
            <a:ext cx="361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F72053B-7C66-4B0F-8E7D-43B50E14F1B3}"/>
              </a:ext>
            </a:extLst>
          </p:cNvPr>
          <p:cNvSpPr>
            <a:spLocks noGrp="1"/>
          </p:cNvSpPr>
          <p:nvPr/>
        </p:nvSpPr>
        <p:spPr>
          <a:xfrm>
            <a:off x="9582150" y="3105150"/>
            <a:ext cx="17526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B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F086B6A-51B8-48C9-9FB0-71FC42BDDC3F}"/>
              </a:ext>
            </a:extLst>
          </p:cNvPr>
          <p:cNvSpPr>
            <a:spLocks noGrp="1"/>
          </p:cNvSpPr>
          <p:nvPr/>
        </p:nvSpPr>
        <p:spPr>
          <a:xfrm>
            <a:off x="9582150" y="3105150"/>
            <a:ext cx="1752600" cy="57150"/>
          </a:xfrm>
          <a:prstGeom prst="rect">
            <a:avLst/>
          </a:prstGeom>
          <a:solidFill>
            <a:srgbClr val="A44A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E3FD10F-D533-497C-97F0-385BD28C36FB}"/>
              </a:ext>
            </a:extLst>
          </p:cNvPr>
          <p:cNvSpPr>
            <a:spLocks noGrp="1"/>
          </p:cNvSpPr>
          <p:nvPr/>
        </p:nvSpPr>
        <p:spPr>
          <a:xfrm>
            <a:off x="9734550" y="33337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801968D-5BD6-4F89-B754-42A453001AD3}"/>
              </a:ext>
            </a:extLst>
          </p:cNvPr>
          <p:cNvSpPr>
            <a:spLocks noGrp="1"/>
          </p:cNvSpPr>
          <p:nvPr/>
        </p:nvSpPr>
        <p:spPr>
          <a:xfrm>
            <a:off x="9734550" y="3657600"/>
            <a:ext cx="140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which context works</a:t>
            </a:r>
          </a:p>
          <a:p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when verification helps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ACA88E8-3E46-4DC2-A0DB-5FAE9E9D2AC7}"/>
              </a:ext>
            </a:extLst>
          </p:cNvPr>
          <p:cNvSpPr>
            <a:spLocks noGrp="1"/>
          </p:cNvSpPr>
          <p:nvPr/>
        </p:nvSpPr>
        <p:spPr>
          <a:xfrm>
            <a:off x="1752600" y="5105400"/>
            <a:ext cx="8686800" cy="552450"/>
          </a:xfrm>
          <a:prstGeom prst="rect">
            <a:avLst/>
          </a:prstGeom>
          <a:solidFill>
            <a:srgbClr val="1F23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0C4FC1A-E848-4C9A-8169-8EB130CE4586}"/>
              </a:ext>
            </a:extLst>
          </p:cNvPr>
          <p:cNvSpPr>
            <a:spLocks noGrp="1"/>
          </p:cNvSpPr>
          <p:nvPr/>
        </p:nvSpPr>
        <p:spPr>
          <a:xfrm>
            <a:off x="2000250" y="529590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Closing claim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961590B-5F67-4CBD-A92D-969DE8CF7527}"/>
              </a:ext>
            </a:extLst>
          </p:cNvPr>
          <p:cNvSpPr>
            <a:spLocks noGrp="1"/>
          </p:cNvSpPr>
          <p:nvPr/>
        </p:nvSpPr>
        <p:spPr>
          <a:xfrm>
            <a:off x="3429000" y="525780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DE5E0"/>
                </a:solidFill>
                <a:latin typeface="Aptos"/>
                <a:ea typeface="Aptos"/>
                <a:cs typeface="Aptos"/>
              </a:rPr>
              <a:t>The literature supports the thesis problem: LLM testing needs repository-grounded evaluation, not only stronger prompts.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EF540A4-18C9-4399-827F-247C1B3241E5}"/>
              </a:ext>
            </a:extLst>
          </p:cNvPr>
          <p:cNvSpPr>
            <a:spLocks noGrp="1"/>
          </p:cNvSpPr>
          <p:nvPr/>
        </p:nvSpPr>
        <p:spPr>
          <a:xfrm>
            <a:off x="9906000" y="6057900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800" b="1">
                <a:solidFill>
                  <a:srgbClr val="1F6F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F5B"/>
                </a:solidFill>
                <a:latin typeface="Aptos"/>
                <a:ea typeface="Aptos"/>
                <a:cs typeface="Aptos"/>
              </a:rPr>
              <a:t>Questions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01D971E-7537-48B1-B0BD-6822C781709D}"/>
              </a:ext>
            </a:extLst>
          </p:cNvPr>
          <p:cNvSpPr>
            <a:spLocks noGrp="1"/>
          </p:cNvSpPr>
          <p:nvPr/>
        </p:nvSpPr>
        <p:spPr>
          <a:xfrm>
            <a:off x="514350" y="6429375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50A3C05-FE37-4745-A89A-DF27624D256E}"/>
              </a:ext>
            </a:extLst>
          </p:cNvPr>
          <p:cNvSpPr>
            <a:spLocks noGrp="1"/>
          </p:cNvSpPr>
          <p:nvPr/>
        </p:nvSpPr>
        <p:spPr>
          <a:xfrm>
            <a:off x="11201400" y="64008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7255943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841</TotalTime>
  <Words>3987</Words>
  <Application>Microsoft Macintosh PowerPoint</Application>
  <DocSecurity>0</DocSecurity>
  <PresentationFormat>宽屏</PresentationFormat>
  <Paragraphs>454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Aptos Mono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Jin, Z. (Ziniu)</cp:lastModifiedBy>
  <cp:revision>3</cp:revision>
  <dcterms:created xsi:type="dcterms:W3CDTF">2026-05-29T21:23:50Z</dcterms:created>
  <dcterms:modified xsi:type="dcterms:W3CDTF">2026-06-04T22:04:49Z</dcterms:modified>
</cp:coreProperties>
</file>