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5f8b8e38c4d24" /><Relationship Type="http://schemas.openxmlformats.org/officeDocument/2006/relationships/extended-properties" Target="/docProps/app.xml" Id="R3bee022fed4646f9" /><Relationship Type="http://schemas.openxmlformats.org/officeDocument/2006/relationships/officeDocument" Target="/ppt/presentation.xml" Id="R7fa6b1c28abe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2dd6177c74f87"/>
  </p:sldMasterIdLst>
  <p:notesMasterIdLst>
    <p:notesMasterId xmlns:r="http://schemas.openxmlformats.org/officeDocument/2006/relationships" r:id="Ra0fae3014ea24d73"/>
  </p:notesMasterIdLst>
  <p:sldIdLst>
    <p:sldId xmlns:r="http://schemas.openxmlformats.org/officeDocument/2006/relationships" id="256" r:id="Rdfbca674f9d543ce"/>
    <p:sldId xmlns:r="http://schemas.openxmlformats.org/officeDocument/2006/relationships" id="257" r:id="R93da5f738b914da4"/>
    <p:sldId xmlns:r="http://schemas.openxmlformats.org/officeDocument/2006/relationships" id="258" r:id="R01d4e32c1ba24072"/>
    <p:sldId xmlns:r="http://schemas.openxmlformats.org/officeDocument/2006/relationships" id="259" r:id="Rcdb8fd24e979481c"/>
    <p:sldId xmlns:r="http://schemas.openxmlformats.org/officeDocument/2006/relationships" id="260" r:id="R9bd8566c511d45e8"/>
    <p:sldId xmlns:r="http://schemas.openxmlformats.org/officeDocument/2006/relationships" id="261" r:id="Rd0784e8a15014128"/>
    <p:sldId xmlns:r="http://schemas.openxmlformats.org/officeDocument/2006/relationships" id="262" r:id="R6951d2980e5947f6"/>
    <p:sldId xmlns:r="http://schemas.openxmlformats.org/officeDocument/2006/relationships" id="263" r:id="R6f0cc2bb36d74e94"/>
    <p:sldId xmlns:r="http://schemas.openxmlformats.org/officeDocument/2006/relationships" id="264" r:id="R271cb7319a6149c4"/>
    <p:sldId xmlns:r="http://schemas.openxmlformats.org/officeDocument/2006/relationships" id="265" r:id="Rc91a96f9c113490d"/>
    <p:sldId xmlns:r="http://schemas.openxmlformats.org/officeDocument/2006/relationships" id="266" r:id="R2722655c50a74d03"/>
    <p:sldId xmlns:r="http://schemas.openxmlformats.org/officeDocument/2006/relationships" id="267" r:id="R9ae1b97a48b74ccd"/>
    <p:sldId xmlns:r="http://schemas.openxmlformats.org/officeDocument/2006/relationships" id="268" r:id="R479fc1a4a3704657"/>
    <p:sldId xmlns:r="http://schemas.openxmlformats.org/officeDocument/2006/relationships" id="269" r:id="R1b4e68090450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2dd6177c74f87" /><Relationship Type="http://schemas.openxmlformats.org/officeDocument/2006/relationships/theme" Target="/ppt/theme/theme1.xml" Id="R57a176a081444e40" /><Relationship Type="http://schemas.openxmlformats.org/officeDocument/2006/relationships/notesMaster" Target="/ppt/notesMasters/notesMaster1.xml" Id="Ra0fae3014ea24d73" /><Relationship Type="http://schemas.openxmlformats.org/officeDocument/2006/relationships/presProps" Target="/ppt/presProps.xml" Id="R951a88a7e00846ff" /><Relationship Type="http://schemas.openxmlformats.org/officeDocument/2006/relationships/viewProps" Target="/ppt/viewProps.xml" Id="Rde12fa836c0c40d6" /><Relationship Type="http://schemas.openxmlformats.org/officeDocument/2006/relationships/tableStyles" Target="/ppt/tableStyles.xml" Id="R4058aa09cb824d76" /><Relationship Type="http://schemas.openxmlformats.org/officeDocument/2006/relationships/slide" Target="/ppt/slides/slide1.xml" Id="Rdfbca674f9d543ce" /><Relationship Type="http://schemas.openxmlformats.org/officeDocument/2006/relationships/slide" Target="/ppt/slides/slide2.xml" Id="R93da5f738b914da4" /><Relationship Type="http://schemas.openxmlformats.org/officeDocument/2006/relationships/slide" Target="/ppt/slides/slide3.xml" Id="R01d4e32c1ba24072" /><Relationship Type="http://schemas.openxmlformats.org/officeDocument/2006/relationships/slide" Target="/ppt/slides/slide4.xml" Id="Rcdb8fd24e979481c" /><Relationship Type="http://schemas.openxmlformats.org/officeDocument/2006/relationships/slide" Target="/ppt/slides/slide5.xml" Id="R9bd8566c511d45e8" /><Relationship Type="http://schemas.openxmlformats.org/officeDocument/2006/relationships/slide" Target="/ppt/slides/slide6.xml" Id="Rd0784e8a15014128" /><Relationship Type="http://schemas.openxmlformats.org/officeDocument/2006/relationships/slide" Target="/ppt/slides/slide7.xml" Id="R6951d2980e5947f6" /><Relationship Type="http://schemas.openxmlformats.org/officeDocument/2006/relationships/slide" Target="/ppt/slides/slide8.xml" Id="R6f0cc2bb36d74e94" /><Relationship Type="http://schemas.openxmlformats.org/officeDocument/2006/relationships/slide" Target="/ppt/slides/slide9.xml" Id="R271cb7319a6149c4" /><Relationship Type="http://schemas.openxmlformats.org/officeDocument/2006/relationships/slide" Target="/ppt/slides/slide10.xml" Id="Rc91a96f9c113490d" /><Relationship Type="http://schemas.openxmlformats.org/officeDocument/2006/relationships/slide" Target="/ppt/slides/slide11.xml" Id="R2722655c50a74d03" /><Relationship Type="http://schemas.openxmlformats.org/officeDocument/2006/relationships/slide" Target="/ppt/slides/slide12.xml" Id="R9ae1b97a48b74ccd" /><Relationship Type="http://schemas.openxmlformats.org/officeDocument/2006/relationships/slide" Target="/ppt/slides/slide13.xml" Id="R479fc1a4a3704657" /><Relationship Type="http://schemas.openxmlformats.org/officeDocument/2006/relationships/slide" Target="/ppt/slides/slide14.xml" Id="R1b4e68090450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83c86aa6fd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843bc6d564be8" /><Relationship Type="http://schemas.openxmlformats.org/officeDocument/2006/relationships/notesMaster" Target="/ppt/notesMasters/notesMaster1.xml" Id="Rc353c06b6756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52fe072bf4071" /><Relationship Type="http://schemas.openxmlformats.org/officeDocument/2006/relationships/notesMaster" Target="/ppt/notesMasters/notesMaster1.xml" Id="Rd7cef1aeff47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fb65a1ca046b5" /><Relationship Type="http://schemas.openxmlformats.org/officeDocument/2006/relationships/notesMaster" Target="/ppt/notesMasters/notesMaster1.xml" Id="R8260d67887a5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6c6aa1ed74c5c" /><Relationship Type="http://schemas.openxmlformats.org/officeDocument/2006/relationships/notesMaster" Target="/ppt/notesMasters/notesMaster1.xml" Id="R007e627d87d5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e8bfc07544134" /><Relationship Type="http://schemas.openxmlformats.org/officeDocument/2006/relationships/notesMaster" Target="/ppt/notesMasters/notesMaster1.xml" Id="R4a136b04ba8f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526ab8b5b4ca2" /><Relationship Type="http://schemas.openxmlformats.org/officeDocument/2006/relationships/notesMaster" Target="/ppt/notesMasters/notesMaster1.xml" Id="R2080a3a66f5c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0ee0d80e04228" /><Relationship Type="http://schemas.openxmlformats.org/officeDocument/2006/relationships/notesMaster" Target="/ppt/notesMasters/notesMaster1.xml" Id="Ref984d8644f0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ad2baec9ca4182" /><Relationship Type="http://schemas.openxmlformats.org/officeDocument/2006/relationships/notesMaster" Target="/ppt/notesMasters/notesMaster1.xml" Id="R3d6399bce551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d0f3a80270436b" /><Relationship Type="http://schemas.openxmlformats.org/officeDocument/2006/relationships/notesMaster" Target="/ppt/notesMasters/notesMaster1.xml" Id="Rce7cd8b775774f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8dbc57b7d54c43" /><Relationship Type="http://schemas.openxmlformats.org/officeDocument/2006/relationships/notesMaster" Target="/ppt/notesMasters/notesMaster1.xml" Id="R80618e17158545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5b20cff4e4e41" /><Relationship Type="http://schemas.openxmlformats.org/officeDocument/2006/relationships/notesMaster" Target="/ppt/notesMasters/notesMaster1.xml" Id="Rb6f90395802c44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f1e83afe54c00" /><Relationship Type="http://schemas.openxmlformats.org/officeDocument/2006/relationships/notesMaster" Target="/ppt/notesMasters/notesMaster1.xml" Id="R14ba2dba6e6645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ad60dec4e24d77" /><Relationship Type="http://schemas.openxmlformats.org/officeDocument/2006/relationships/notesMaster" Target="/ppt/notesMasters/notesMaster1.xml" Id="R1314e5fa570b4a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de235c82bd4b58" /><Relationship Type="http://schemas.openxmlformats.org/officeDocument/2006/relationships/notesMaster" Target="/ppt/notesMasters/notesMaster1.xml" Id="R7b31dbd4860645f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Good morning everyone. My name is Ziniu Jin, and today I’m going to present my literature study.</a:t>
            </a:r>
          </a:p>
          <a:p>
            <a:r>
              <a:rPr lang="en-US" sz="1200"/>
              <a:t>The topic is large language models for software testing and fault localization.</a:t>
            </a:r>
          </a:p>
          <a:p>
            <a:r>
              <a:rPr lang="en-US" sz="1200"/>
              <a:t>In this review, I’m mainly trying to answer two questions.</a:t>
            </a:r>
          </a:p>
          <a:p>
            <a:r>
              <a:rPr lang="en-US" sz="1200"/>
              <a:t>The first one is: what kinds of testing problems are discussed in recent software engineering research?</a:t>
            </a:r>
          </a:p>
          <a:p>
            <a:r>
              <a:rPr lang="en-US" sz="1200"/>
              <a:t>And the second one is: how are LLMs being used to help with these problems?</a:t>
            </a:r>
          </a:p>
          <a:p>
            <a:r>
              <a:rPr lang="en-US" sz="1200"/>
              <a:t>So I’m looking at tasks like detecting test problems, analyzing failures, localizing faults, repairing tests, and even using LLM agents for testing workflows.</a:t>
            </a:r>
          </a:p>
          <a:p>
            <a:r>
              <a:rPr lang="en-US" sz="1200"/>
              <a:t>Today, I will focus not only on the findings, but also on the methodology. So I will explain how I searched the literature, how I screened the papers, and how I synthesized the final results.</a:t>
            </a:r>
          </a:p>
          <a:p>
            <a:r>
              <a:rPr lang="en-US" sz="1200"/>
              <a:t>In total, I reviewed 25 primary studies, organized them with 5 research questions, and finally identified 3 main research gaps.</a:t>
            </a:r>
          </a:p>
          <a:p>
            <a:r>
              <a:rPr lang="en-US" sz="1200"/>
              <a:t>These gaps lead to my next thesis direction, which is LLM-based fault localization in real repository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The motivation for this study is that modern software testing is becoming more complex.</a:t>
            </a:r>
          </a:p>
          <a:p>
            <a:r>
              <a:rPr lang="en-US" sz="1200"/>
              <a:t>A testing failure is often not just a simple pass or fail signal.</a:t>
            </a:r>
          </a:p>
          <a:p>
            <a:r>
              <a:rPr lang="en-US" sz="1200"/>
              <a:t>In real projects, failures can depend on many things: the execution environment, shared state, system architecture, CI/CD pipelines, or the testing framework.</a:t>
            </a:r>
          </a:p>
          <a:p>
            <a:r>
              <a:rPr lang="en-US" sz="1200"/>
              <a:t>For example, flaky tests may fail because of asynchronous behavior, concurrency, or test order dependency.</a:t>
            </a:r>
          </a:p>
          <a:p>
            <a:r>
              <a:rPr lang="en-US" sz="1200"/>
              <a:t>UI tests may break because the DOM changes, a locator becomes invalid, or the page loads slightly differently.</a:t>
            </a:r>
          </a:p>
          <a:p>
            <a:r>
              <a:rPr lang="en-US" sz="1200"/>
              <a:t>And in microservice or IoT systems, the situation becomes even more complex, because testing may involve distributed services, devices, protocols, or even team coordination.</a:t>
            </a:r>
          </a:p>
          <a:p>
            <a:r>
              <a:rPr lang="en-US" sz="1200"/>
              <a:t>So the literature is quite fragmented. Some papers study flaky tests. Some study UI repair. Some study fault localization. Some study vulnerability detection. And some study testing agents.</a:t>
            </a:r>
          </a:p>
          <a:p>
            <a:r>
              <a:rPr lang="en-US" sz="1200"/>
              <a:t>That is why I wanted to bring these directions together.</a:t>
            </a:r>
          </a:p>
          <a:p>
            <a:r>
              <a:rPr lang="en-US" sz="1200"/>
              <a:t>The key idea is: if we want to use LLMs for software testing, we should not only ask whether the model understands code. We also need to ask whether it can work with real project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To make the review more systematic, I started with a search protocol.</a:t>
            </a:r>
          </a:p>
          <a:p>
            <a:r>
              <a:rPr lang="en-US" sz="1200"/>
              <a:t>I used academic sources such as IEEE Xplore and ACM Digital Library, and I also used Google Scholar as a supplement.</a:t>
            </a:r>
          </a:p>
          <a:p>
            <a:r>
              <a:rPr lang="en-US" sz="1200"/>
              <a:t>The search terms covered two sides of the topic.</a:t>
            </a:r>
          </a:p>
          <a:p>
            <a:r>
              <a:rPr lang="en-US" sz="1200"/>
              <a:t>On one side, I used software testing terms, such as software testing, flaky test, fault localization, vulnerability detection, UI testing, and automation.</a:t>
            </a:r>
          </a:p>
          <a:p>
            <a:r>
              <a:rPr lang="en-US" sz="1200"/>
              <a:t>On the other side, I used LLM-related terms, such as large language model and LLM.</a:t>
            </a:r>
          </a:p>
          <a:p>
            <a:r>
              <a:rPr lang="en-US" sz="1200"/>
              <a:t>Then I combined these terms using Boolean search.</a:t>
            </a:r>
          </a:p>
          <a:p>
            <a:r>
              <a:rPr lang="en-US" sz="1200"/>
              <a:t>For example, I searched for combinations like “flaky test and LLM”, “fault localization and LLM”, and “security testing and LLM”.</a:t>
            </a:r>
          </a:p>
          <a:p>
            <a:r>
              <a:rPr lang="en-US" sz="1200"/>
              <a:t>The main point here is that the corpus was not chosen randomly.</a:t>
            </a:r>
          </a:p>
          <a:p>
            <a:r>
              <a:rPr lang="en-US" sz="1200"/>
              <a:t>I started broad, and then I refined the papers based on relevance, method detail, and evaluation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After collecting candidate papers, I applied inclusion and exclusion criteria.</a:t>
            </a:r>
          </a:p>
          <a:p>
            <a:r>
              <a:rPr lang="en-US" sz="1200"/>
              <a:t>A paper was included if it was peer-reviewed, directly related to software testing or fault localization, and proposed a method for detection, analysis, localization, or repair.</a:t>
            </a:r>
          </a:p>
          <a:p>
            <a:r>
              <a:rPr lang="en-US" sz="1200"/>
              <a:t>For LLM-based papers, I also checked whether the paper clearly explained how the model was used, and how the method was evaluated.</a:t>
            </a:r>
          </a:p>
          <a:p>
            <a:r>
              <a:rPr lang="en-US" sz="1200"/>
              <a:t>I excluded papers if they were not peer-reviewed, only indirectly related, purely conceptual without empirical evaluation, or duplicated by a more complete version.</a:t>
            </a:r>
          </a:p>
          <a:p>
            <a:r>
              <a:rPr lang="en-US" sz="1200"/>
              <a:t>One important detail is about Glasswing and Mythos.</a:t>
            </a:r>
          </a:p>
          <a:p>
            <a:r>
              <a:rPr lang="en-US" sz="1200"/>
              <a:t>I discuss them later in the presentation, but they are not part of the 25 primary studies.</a:t>
            </a:r>
          </a:p>
          <a:p>
            <a:r>
              <a:rPr lang="en-US" sz="1200"/>
              <a:t>I treat them as grey literature, or industry reference, because they are useful for practical framing, but they are not peer-reviewed academic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The final corpus contains 25 primary studies.</a:t>
            </a:r>
          </a:p>
          <a:p>
            <a:r>
              <a:rPr lang="en-US" sz="1200"/>
              <a:t>The process started with 9 seed papers.</a:t>
            </a:r>
          </a:p>
          <a:p>
            <a:r>
              <a:rPr lang="en-US" sz="1200"/>
              <a:t>Then I used backward snowballing. This means I checked the references of the seed papers to find earlier relevant work.</a:t>
            </a:r>
          </a:p>
          <a:p>
            <a:r>
              <a:rPr lang="en-US" sz="1200"/>
              <a:t>From backward snowballing, I found 18 candidate studies, and 8 of them were included.</a:t>
            </a:r>
          </a:p>
          <a:p>
            <a:r>
              <a:rPr lang="en-US" sz="1200"/>
              <a:t>I also used forward snowballing. This means I looked for newer papers that cited the seed studies.</a:t>
            </a:r>
          </a:p>
          <a:p>
            <a:r>
              <a:rPr lang="en-US" sz="1200"/>
              <a:t>This step gave 7 candidate papers, and 3 were included.</a:t>
            </a:r>
          </a:p>
          <a:p>
            <a:r>
              <a:rPr lang="en-US" sz="1200"/>
              <a:t>Finally, I used an extended venue search, which added 5 more studies.</a:t>
            </a:r>
          </a:p>
          <a:p>
            <a:r>
              <a:rPr lang="en-US" sz="1200"/>
              <a:t>So in the end, the review is based on 25 studies.</a:t>
            </a:r>
          </a:p>
          <a:p>
            <a:r>
              <a:rPr lang="en-US" sz="1200"/>
              <a:t>One limitation I want to mention is that the current written version should report the initial candidate count more clearly.</a:t>
            </a:r>
          </a:p>
          <a:p>
            <a:r>
              <a:rPr lang="en-US" sz="1200"/>
              <a:t>The final corpus is clear, but for better reproducibility, the candidate count in the initial search should be clarified in the final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After selecting the papers, I did not simply summarize them one by one.</a:t>
            </a:r>
          </a:p>
          <a:p>
            <a:r>
              <a:rPr lang="en-US" sz="1200"/>
              <a:t>Instead, I used the same five research questions to extract information from each paper.</a:t>
            </a:r>
          </a:p>
          <a:p>
            <a:r>
              <a:rPr lang="en-US" sz="1200"/>
              <a:t>RQ1 looks at the testing challenge, the root cause, and the system context.</a:t>
            </a:r>
          </a:p>
          <a:p>
            <a:r>
              <a:rPr lang="en-US" sz="1200"/>
              <a:t>RQ2 looks at the proposed approach, for example detection, localization, or repair.</a:t>
            </a:r>
          </a:p>
          <a:p>
            <a:r>
              <a:rPr lang="en-US" sz="1200"/>
              <a:t>RQ3 looks at how LLMs are used, such as fine-tuning, few-shot learning, prompting, or agents.</a:t>
            </a:r>
          </a:p>
          <a:p>
            <a:r>
              <a:rPr lang="en-US" sz="1200"/>
              <a:t>RQ4 looks at evaluation, including datasets, metrics, and baselines.</a:t>
            </a:r>
          </a:p>
          <a:p>
            <a:r>
              <a:rPr lang="en-US" sz="1200"/>
              <a:t>And RQ5 looks at practical context, such as CI/CD, IoT, microservices, and real repositories.</a:t>
            </a:r>
          </a:p>
          <a:p>
            <a:r>
              <a:rPr lang="en-US" sz="1200"/>
              <a:t>So the five research questions are not just labels. They are the structure I used to compare the papers.</a:t>
            </a:r>
          </a:p>
          <a:p>
            <a:r>
              <a:rPr lang="en-US" sz="1200"/>
              <a:t>This helped me move from a list of papers to a thematic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For RQ1, the main finding is that testing challenges are very context-specific.</a:t>
            </a:r>
          </a:p>
          <a:p>
            <a:r>
              <a:rPr lang="en-US" sz="1200"/>
              <a:t>The same term, like flaky test, can mean different things in different ecosystems.</a:t>
            </a:r>
          </a:p>
          <a:p>
            <a:r>
              <a:rPr lang="en-US" sz="1200"/>
              <a:t>For example, one JavaScript study found 55 order-dependent tests. And 42 of them were caused by shared mocking state.</a:t>
            </a:r>
          </a:p>
          <a:p>
            <a:r>
              <a:rPr lang="en-US" sz="1200"/>
              <a:t>This is interesting because this cause is very specific to the JavaScript and Jest ecosystem.</a:t>
            </a:r>
          </a:p>
          <a:p>
            <a:r>
              <a:rPr lang="en-US" sz="1200"/>
              <a:t>For UI testing, the main issues are DOM changes, locator failures, timing problems, and session-related problems.</a:t>
            </a:r>
          </a:p>
          <a:p>
            <a:r>
              <a:rPr lang="en-US" sz="1200"/>
              <a:t>For IoT platforms, the problems are different again. They involve device compatibility, firmware updates, physical devices, and low-power behavior.</a:t>
            </a:r>
          </a:p>
          <a:p>
            <a:r>
              <a:rPr lang="en-US" sz="1200"/>
              <a:t>For microservices, the causes are both technical and organizational. There can be API mismatches and message format problems, but also unclear service ownership or weak team coordination.</a:t>
            </a:r>
          </a:p>
          <a:p>
            <a:r>
              <a:rPr lang="en-US" sz="1200"/>
              <a:t>So the takeaway is that testing problems cannot be fully understood without context.</a:t>
            </a:r>
          </a:p>
          <a:p>
            <a:r>
              <a:rPr lang="en-US" sz="1200"/>
              <a:t>And this is important for my thesis, because it suggests that fault localization also needs repository context, not only isolated code snippets.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RQ2 looks at the approaches used to detect, analyze, or localize testing problems.</a:t>
            </a:r>
          </a:p>
          <a:p>
            <a:r>
              <a:rPr lang="en-US" sz="1200"/>
              <a:t>A traditional line of work is spectrum-based fault localization, or SBFL.</a:t>
            </a:r>
          </a:p>
          <a:p>
            <a:r>
              <a:rPr lang="en-US" sz="1200"/>
              <a:t>Methods like Tarantula and Ochiai use test coverage and pass/fail results to rank suspicious code locations.</a:t>
            </a:r>
          </a:p>
          <a:p>
            <a:r>
              <a:rPr lang="en-US" sz="1200"/>
              <a:t>The good thing is that these methods are quite interpretable. The suspiciousness score is connected to how the tests executed the code.</a:t>
            </a:r>
          </a:p>
          <a:p>
            <a:r>
              <a:rPr lang="en-US" sz="1200"/>
              <a:t>But the limitation is also clear. They need reliable test execution and useful coverage information.</a:t>
            </a:r>
          </a:p>
          <a:p>
            <a:r>
              <a:rPr lang="en-US" sz="1200"/>
              <a:t>Some later work improves SBFL by adding compiler information, type information, or structural filters.</a:t>
            </a:r>
          </a:p>
          <a:p>
            <a:r>
              <a:rPr lang="en-US" sz="1200"/>
              <a:t>More recent LLM-based approaches try to localize faults using source code, bug reports, or code representations.</a:t>
            </a:r>
          </a:p>
          <a:p>
            <a:r>
              <a:rPr lang="en-US" sz="1200"/>
              <a:t>This can reduce the dependency on test execution signals.</a:t>
            </a:r>
          </a:p>
          <a:p>
            <a:r>
              <a:rPr lang="en-US" sz="1200"/>
              <a:t>But there is a trade-off.</a:t>
            </a:r>
          </a:p>
          <a:p>
            <a:r>
              <a:rPr lang="en-US" sz="1200"/>
              <a:t>If we use less execution evidence, then the model depends more on the context we give it, and on how we validate its answer.</a:t>
            </a:r>
          </a:p>
          <a:p>
            <a:r>
              <a:rPr lang="en-US" sz="1200"/>
              <a:t>So my takeaway from RQ2 is: LLM-based fault localization is promising, but context design and validation become much more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RQ3 focuses on how LLMs are used in the reviewed papers.</a:t>
            </a:r>
          </a:p>
          <a:p>
            <a:r>
              <a:rPr lang="en-US" sz="1200"/>
              <a:t>I found four main strategies.</a:t>
            </a:r>
          </a:p>
          <a:p>
            <a:r>
              <a:rPr lang="en-US" sz="1200"/>
              <a:t>The first one is fine-tuning.</a:t>
            </a:r>
          </a:p>
          <a:p>
            <a:r>
              <a:rPr lang="en-US" sz="1200"/>
              <a:t>Fine-tuning can work well when there is enough task-specific data, but it is more expensive and usually needs labeled datasets.</a:t>
            </a:r>
          </a:p>
          <a:p>
            <a:r>
              <a:rPr lang="en-US" sz="1200"/>
              <a:t>The second one is few-shot learning.</a:t>
            </a:r>
          </a:p>
          <a:p>
            <a:r>
              <a:rPr lang="en-US" sz="1200"/>
              <a:t>This is useful when labeled data is limited, because the model can work with only a small number of examples.</a:t>
            </a:r>
          </a:p>
          <a:p>
            <a:r>
              <a:rPr lang="en-US" sz="1200"/>
              <a:t>The third one is prompt engineering.</a:t>
            </a:r>
          </a:p>
          <a:p>
            <a:r>
              <a:rPr lang="en-US" sz="1200"/>
              <a:t>This is flexible, because we do not need to train the model. But the result can change a lot depending on the prompt and the context.</a:t>
            </a:r>
          </a:p>
          <a:p>
            <a:r>
              <a:rPr lang="en-US" sz="1200"/>
              <a:t>The fourth one is testing agents.</a:t>
            </a:r>
          </a:p>
          <a:p>
            <a:r>
              <a:rPr lang="en-US" sz="1200"/>
              <a:t>Agents are closer to real development workflows, because they can do more than answer one question. They can install dependencies, run tests, observe errors, revise commands, and continue the process.</a:t>
            </a:r>
          </a:p>
          <a:p>
            <a:r>
              <a:rPr lang="en-US" sz="1200"/>
              <a:t>For my thesis, the important lesson is that model choice is not the only factor.</a:t>
            </a:r>
          </a:p>
          <a:p>
            <a:r>
              <a:rPr lang="en-US" sz="1200"/>
              <a:t>The context, the repository state, and the validation setup may be just as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RQ4 looks at evaluation and benchmarking.</a:t>
            </a:r>
          </a:p>
          <a:p>
            <a:r>
              <a:rPr lang="en-US" sz="1200"/>
              <a:t>A lot of studies use well-known benchmarks.</a:t>
            </a:r>
          </a:p>
          <a:p>
            <a:r>
              <a:rPr lang="en-US" sz="1200"/>
              <a:t>For fault localization, common datasets include Defects4J, Siemens, and the Space program.</a:t>
            </a:r>
          </a:p>
          <a:p>
            <a:r>
              <a:rPr lang="en-US" sz="1200"/>
              <a:t>For flaky tests, studies often use IDoFT and FlakyCat.</a:t>
            </a:r>
          </a:p>
          <a:p>
            <a:r>
              <a:rPr lang="en-US" sz="1200"/>
              <a:t>For vulnerability detection, datasets include OWASP, Juliet, CVEFixes, and PrimeVul.</a:t>
            </a:r>
          </a:p>
          <a:p>
            <a:r>
              <a:rPr lang="en-US" sz="1200"/>
              <a:t>And for UI test repair, some studies use broken Selenium statements.</a:t>
            </a:r>
          </a:p>
          <a:p>
            <a:r>
              <a:rPr lang="en-US" sz="1200"/>
              <a:t>These benchmarks are useful. They make controlled comparison possible.</a:t>
            </a:r>
          </a:p>
          <a:p>
            <a:r>
              <a:rPr lang="en-US" sz="1200"/>
              <a:t>But they also have a limitation.</a:t>
            </a:r>
          </a:p>
          <a:p>
            <a:r>
              <a:rPr lang="en-US" sz="1200"/>
              <a:t>They often evaluate one isolated task.</a:t>
            </a:r>
          </a:p>
          <a:p>
            <a:r>
              <a:rPr lang="en-US" sz="1200"/>
              <a:t>In real repositories, the workflow is more complicated. We may have bug reports, incomplete logs, dependency problems, build failures, changing code history, and CI/CD constraints.</a:t>
            </a:r>
          </a:p>
          <a:p>
            <a:r>
              <a:rPr lang="en-US" sz="1200"/>
              <a:t>So the evidence is quite strong for controlled benchmark tasks, but weaker for real repository-level fault localization.</a:t>
            </a:r>
          </a:p>
          <a:p>
            <a:r>
              <a:rPr lang="en-US" sz="1200"/>
              <a:t>This is one of the main reasons why my thesis direction focuses on real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RQ5 looks at practical system context.</a:t>
            </a:r>
          </a:p>
          <a:p>
            <a:r>
              <a:rPr lang="en-US" sz="1200"/>
              <a:t>This is where the review becomes very relevant to my thesis.</a:t>
            </a:r>
          </a:p>
          <a:p>
            <a:r>
              <a:rPr lang="en-US" sz="1200"/>
              <a:t>In real projects, the hard part is not only asking the model: where is the bug?</a:t>
            </a:r>
          </a:p>
          <a:p>
            <a:r>
              <a:rPr lang="en-US" sz="1200"/>
              <a:t>Before we can even ask that question, we need the correct repository, the correct commit, the dependencies, the build command, the test command, and the relevant logs or error messages.</a:t>
            </a:r>
          </a:p>
          <a:p>
            <a:r>
              <a:rPr lang="en-US" sz="1200"/>
              <a:t>Some work, such as ExecutionAgent, shows that even running tests in arbitrary open-source projects can be difficult.</a:t>
            </a:r>
          </a:p>
          <a:p>
            <a:r>
              <a:rPr lang="en-US" sz="1200"/>
              <a:t>The agent may need to install dependencies, build the project, run tests, observe failures, and revise commands.</a:t>
            </a:r>
          </a:p>
          <a:p>
            <a:r>
              <a:rPr lang="en-US" sz="1200"/>
              <a:t>So this changes how I think about fault localization.</a:t>
            </a:r>
          </a:p>
          <a:p>
            <a:r>
              <a:rPr lang="en-US" sz="1200"/>
              <a:t>It should not be treated only as a code prediction task.</a:t>
            </a:r>
          </a:p>
          <a:p>
            <a:r>
              <a:rPr lang="en-US" sz="1200"/>
              <a:t>It should be treated as a repository-level workflow.</a:t>
            </a:r>
          </a:p>
          <a:p>
            <a:r>
              <a:rPr lang="en-US" sz="1200"/>
              <a:t>That means context collection and validation are part of the research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The review also discusses Glasswing and Mythos.</a:t>
            </a:r>
          </a:p>
          <a:p>
            <a:r>
              <a:rPr lang="en-US" sz="1200"/>
              <a:t>Again, I want to be careful here.</a:t>
            </a:r>
          </a:p>
          <a:p>
            <a:r>
              <a:rPr lang="en-US" sz="1200"/>
              <a:t>They are not peer-reviewed primary studies. I treat them as grey literature, or industry reference.</a:t>
            </a:r>
          </a:p>
          <a:p>
            <a:r>
              <a:rPr lang="en-US" sz="1200"/>
              <a:t>So I do not use them as proof that LLMs can solve ordinary fault localization.</a:t>
            </a:r>
          </a:p>
          <a:p>
            <a:r>
              <a:rPr lang="en-US" sz="1200"/>
              <a:t>Instead, I use them to motivate a useful workflow pattern.</a:t>
            </a:r>
          </a:p>
          <a:p>
            <a:r>
              <a:rPr lang="en-US" sz="1200"/>
              <a:t>The pattern is agent plus verifier.</a:t>
            </a:r>
          </a:p>
          <a:p>
            <a:r>
              <a:rPr lang="en-US" sz="1200"/>
              <a:t>One agent reads the code, forms a hypothesis, runs experiments, and produces a report.</a:t>
            </a:r>
          </a:p>
          <a:p>
            <a:r>
              <a:rPr lang="en-US" sz="1200"/>
              <a:t>Then another agent independently checks whether the issue is reproducible and whether it has real impact.</a:t>
            </a:r>
          </a:p>
          <a:p>
            <a:r>
              <a:rPr lang="en-US" sz="1200"/>
              <a:t>Glasswing mainly focuses on security vulnerability discovery.</a:t>
            </a:r>
          </a:p>
          <a:p>
            <a:r>
              <a:rPr lang="en-US" sz="1200"/>
              <a:t>But this pattern is interesting for my thesis, because ordinary application bugs may also benefit from a similar process.</a:t>
            </a:r>
          </a:p>
          <a:p>
            <a:r>
              <a:rPr lang="en-US" sz="1200"/>
              <a:t>For example, the bug could be a business logic error, a state bug, API misuse, or a data processing failure.</a:t>
            </a:r>
          </a:p>
          <a:p>
            <a:r>
              <a:rPr lang="en-US" sz="1200"/>
              <a:t>So the question is not: does Glasswing directly solve my problem?</a:t>
            </a:r>
          </a:p>
          <a:p>
            <a:r>
              <a:rPr lang="en-US" sz="1200"/>
              <a:t>The question is: can this agent-plus-verifier pattern be adapted and evaluated for repository-level fault localization?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Based on the review, I identify three main research gaps.</a:t>
            </a:r>
          </a:p>
          <a:p>
            <a:r>
              <a:rPr lang="en-US" sz="1200"/>
              <a:t>The first gap is that LLM-based fault localization still lacks validation in real repository environments.</a:t>
            </a:r>
          </a:p>
          <a:p>
            <a:r>
              <a:rPr lang="en-US" sz="1200"/>
              <a:t>Many existing studies are still evaluated on academic benchmarks, such as Defects4J-style settings.</a:t>
            </a:r>
          </a:p>
          <a:p>
            <a:r>
              <a:rPr lang="en-US" sz="1200"/>
              <a:t>The second gap is that agentic scaffolds have not been sufficiently applied to ordinary application-level bugs.</a:t>
            </a:r>
          </a:p>
          <a:p>
            <a:r>
              <a:rPr lang="en-US" sz="1200"/>
              <a:t>Most agentic examples focus on security vulnerabilities, but ordinary bugs can be different. They may involve business logic, state synchronization, API usage, or data processing.</a:t>
            </a:r>
          </a:p>
          <a:p>
            <a:r>
              <a:rPr lang="en-US" sz="1200"/>
              <a:t>The third gap is that we still do not clearly know the effect of context level and independent verification.</a:t>
            </a:r>
          </a:p>
          <a:p>
            <a:r>
              <a:rPr lang="en-US" sz="1200"/>
              <a:t>For example, how much context should we give to the model?</a:t>
            </a:r>
          </a:p>
          <a:p>
            <a:r>
              <a:rPr lang="en-US" sz="1200"/>
              <a:t>Should we give only the bug report?</a:t>
            </a:r>
          </a:p>
          <a:p>
            <a:r>
              <a:rPr lang="en-US" sz="1200"/>
              <a:t>Should we add logs, stack traces, code snippets, or repository history?</a:t>
            </a:r>
          </a:p>
          <a:p>
            <a:r>
              <a:rPr lang="en-US" sz="1200"/>
              <a:t>And does an independent verifier actually improve the result?</a:t>
            </a:r>
          </a:p>
          <a:p>
            <a:r>
              <a:rPr lang="en-US" sz="1200"/>
              <a:t>These gaps all point to the same central problem.</a:t>
            </a:r>
          </a:p>
          <a:p>
            <a:r>
              <a:rPr lang="en-US" sz="1200"/>
              <a:t>LLM-based fault localization needs to be evaluated in a more realistic, repository-grounded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Based on this literature study, my next step is to design a more focused thesis experiment.</a:t>
            </a:r>
          </a:p>
          <a:p>
            <a:r>
              <a:rPr lang="en-US" sz="1200"/>
              <a:t>The idea is to use real bug reports, buggy repository snapshots, source-code context, repository history, and verified bug-fixing commits.</a:t>
            </a:r>
          </a:p>
          <a:p>
            <a:r>
              <a:rPr lang="en-US" sz="1200"/>
              <a:t>Then I can compare different context settings.</a:t>
            </a:r>
          </a:p>
          <a:p>
            <a:r>
              <a:rPr lang="en-US" sz="1200"/>
              <a:t>For example, one setting may use only the bug report.</a:t>
            </a:r>
          </a:p>
          <a:p>
            <a:r>
              <a:rPr lang="en-US" sz="1200"/>
              <a:t>Another setting may add logs or stack traces.</a:t>
            </a:r>
          </a:p>
          <a:p>
            <a:r>
              <a:rPr lang="en-US" sz="1200"/>
              <a:t>Another one may add related code snippets.</a:t>
            </a:r>
          </a:p>
          <a:p>
            <a:r>
              <a:rPr lang="en-US" sz="1200"/>
              <a:t>And another one may include repository history or previous fixing commits.</a:t>
            </a:r>
          </a:p>
          <a:p>
            <a:r>
              <a:rPr lang="en-US" sz="1200"/>
              <a:t>The model or agent can then be asked to rank suspicious files or methods.</a:t>
            </a:r>
          </a:p>
          <a:p>
            <a:r>
              <a:rPr lang="en-US" sz="1200"/>
              <a:t>I can evaluate the result using metrics such as Top-k accuracy, MRR, and recall, with the verified fixing commit as ground truth.</a:t>
            </a:r>
          </a:p>
          <a:p>
            <a:r>
              <a:rPr lang="en-US" sz="1200"/>
              <a:t>This experiment would help answer two practical questions.</a:t>
            </a:r>
          </a:p>
          <a:p>
            <a:r>
              <a:rPr lang="en-US" sz="1200"/>
              <a:t>First, which repository-level context actually helps LLM-based fault localization?</a:t>
            </a:r>
          </a:p>
          <a:p>
            <a:r>
              <a:rPr lang="en-US" sz="1200"/>
              <a:t>Second, does independent verification improve localization accuracy or reduce false positives?</a:t>
            </a:r>
          </a:p>
          <a:p>
            <a:r>
              <a:rPr lang="en-US" sz="1200"/>
              <a:t>So to conclude, this literature study shows that LLMs have strong potential in software testing.</a:t>
            </a:r>
          </a:p>
          <a:p>
            <a:r>
              <a:rPr lang="en-US" sz="1200"/>
              <a:t>But much of the current evidence is still based on benchmarks and isolated tasks.</a:t>
            </a:r>
          </a:p>
          <a:p>
            <a:r>
              <a:rPr lang="en-US" sz="1200"/>
              <a:t>My thesis will try to move this direction toward real repository-level fault localization, with controlled context and validation.</a:t>
            </a:r>
          </a:p>
          <a:p>
            <a:r>
              <a:rPr lang="en-US" sz="1200"/>
              <a:t>Thank you. I’m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d8fc2b48f4e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6febec958941bc" /><Relationship Type="http://schemas.openxmlformats.org/officeDocument/2006/relationships/slideLayout" Target="/ppt/slideLayouts/slideLayout2.xml" Id="R5f574a4c291b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74a4c291b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acf447f774725" /><Relationship Type="http://schemas.openxmlformats.org/officeDocument/2006/relationships/notesSlide" Target="/ppt/notesSlides/notesSlide1.xml" Id="R7a39666e339c48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f7ceb2bf364241" /><Relationship Type="http://schemas.openxmlformats.org/officeDocument/2006/relationships/notesSlide" Target="/ppt/notesSlides/notesSlide2.xml" Id="R10379b43f6f7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cac8b811e64cad" /><Relationship Type="http://schemas.openxmlformats.org/officeDocument/2006/relationships/notesSlide" Target="/ppt/notesSlides/notesSlide3.xml" Id="Rf63881b71e77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76f1cb6c9499a" /><Relationship Type="http://schemas.openxmlformats.org/officeDocument/2006/relationships/notesSlide" Target="/ppt/notesSlides/notesSlide4.xml" Id="R776b580f313040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4aeed7aca42b2" /><Relationship Type="http://schemas.openxmlformats.org/officeDocument/2006/relationships/notesSlide" Target="/ppt/notesSlides/notesSlide5.xml" Id="R84cad020ebbf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bca31bac74290" /><Relationship Type="http://schemas.openxmlformats.org/officeDocument/2006/relationships/notesSlide" Target="/ppt/notesSlides/notesSlide6.xml" Id="Rba284c64d6eb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7b6916b3414b9c" /><Relationship Type="http://schemas.openxmlformats.org/officeDocument/2006/relationships/notesSlide" Target="/ppt/notesSlides/notesSlide7.xml" Id="Rc124e61eecf9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ad010602534d3d" /><Relationship Type="http://schemas.openxmlformats.org/officeDocument/2006/relationships/notesSlide" Target="/ppt/notesSlides/notesSlide8.xml" Id="R796a247ad0fb4a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ff12f07d349f1" /><Relationship Type="http://schemas.openxmlformats.org/officeDocument/2006/relationships/notesSlide" Target="/ppt/notesSlides/notesSlide9.xml" Id="R8bee65f9518a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4a2cde8d945aa" /><Relationship Type="http://schemas.openxmlformats.org/officeDocument/2006/relationships/notesSlide" Target="/ppt/notesSlides/notesSlide10.xml" Id="R9329971c5a884f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2a881b1084628" /><Relationship Type="http://schemas.openxmlformats.org/officeDocument/2006/relationships/notesSlide" Target="/ppt/notesSlides/notesSlide11.xml" Id="R5e1544d3eb0f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1ddbdc05e4448" /><Relationship Type="http://schemas.openxmlformats.org/officeDocument/2006/relationships/notesSlide" Target="/ppt/notesSlides/notesSlide12.xml" Id="R478e39483957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bb427351a4398" /><Relationship Type="http://schemas.openxmlformats.org/officeDocument/2006/relationships/notesSlide" Target="/ppt/notesSlides/notesSlide13.xml" Id="R1152ff4c48124b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2853f1b384a8c" /><Relationship Type="http://schemas.openxmlformats.org/officeDocument/2006/relationships/notesSlide" Target="/ppt/notesSlides/notesSlide14.xml" Id="Rf53d5c69f51148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66D31-2B95-4C9B-B899-FAC11FA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572E1D4-EA74-4A1C-B26C-B4630D5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4A22091A-2CEE-4C2E-B97E-B57FCE9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15-MINUTE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B5CB8-1689-4326-A3E4-CB70D44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A Literature Study on Large Language Models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ECD2D-02CE-433A-8C92-A514149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Testing and Fault Localization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45A7D-670F-48CA-972A-FF34600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Ziniu Jin | VU-UvA MSc Computer Science | Literature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853D8-F063-45DB-A17A-C244AEB1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2F701-C22D-4953-89EF-8F3D432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CE8"/>
                </a:solidFill>
                <a:latin typeface="Aptos"/>
                <a:ea typeface="Aptos"/>
                <a:cs typeface="Aptos"/>
              </a:rPr>
              <a:t>Main focus today: not only what the papers say, but how the literature was searched, screened, and synthesized.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5C495-C441-4132-85AB-BAEA1C8C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04115-9197-406C-8D63-5C4E69B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primary studies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1088-562D-4EE1-9258-1A6A8A4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Selected through search, criteria, and snowballing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68C97-48EA-4CE8-BF4A-E213EBED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B910-2717-4623-8AC3-BC7015A2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063BB-DBAD-4B04-A3F2-FC35B61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Used to structure extraction and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5559-F4A2-4F17-993D-B7CEC7A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F5434-2EB6-4263-926F-A554723A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4E38E-A0A4-4FF5-A15F-ECDA5D1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Leading to a real-repository thesis direction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09BC5-EF0D-4D58-860B-90E4262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43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1A8AC-C995-406F-96BB-073110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literature study PDF, /Users/jin/llm_location/ls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6DEB4-AE63-44C7-AA09-882D190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8932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D54C4-9D0C-437F-96F0-9E18D891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09E293F-0F4A-46BC-90A6-DCE1398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28DCF47-98AE-4AFD-9BC9-3DD4265A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0FF45-AA11-475C-8820-2C892BFE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Modern testing failures are context-dependent, so the review needs a systematic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69108-D601-4B51-B2F9-E1750A0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is spread across flaky tests, UI repair, fault localization, vulnerability detection, and testing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148E1-4EF8-44E1-849E-A7CF566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C5855-4A19-41B3-91B1-84DBBE0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F5A4A-023B-4264-8B53-EFC72262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24086-E9A3-4314-BEDF-02F2684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async, concurrency, shared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26A8-495B-4ED2-AA4B-F8CE30A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D2A2-3BC1-464B-86DF-71D5440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EBEF3-B32B-466F-95EA-1AE4540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24D2-B6AD-431A-948E-2D8DBF3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DOM, locators, timing,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7F9E8-FB62-47F3-97A3-F61D997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71CEB-4B15-4557-93E0-A42C597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345ED-65EB-4F66-A659-928D47B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methods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7E6A2-08A1-4E78-9D41-EC830C9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fine-tuning, prompting,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61A3C-B6B1-44E0-8C2F-A4E7350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E5DB3-47C2-46B1-AE68-C9527B7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E3E43-0D4E-4808-B622-EB2DD168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Real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66423-8FC4-4494-AEB3-849DE68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CI/CD, IoT, microservices, repos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7BD5A-7DD3-4557-9287-0E0ABBA1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66584-884E-48B4-BB2D-4B4C8D4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81043-C2F7-49F6-A0D3-9F27788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F1D39-6769-4B93-BE82-C321B5F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from coverage ranking to context 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27037-AF46-49CB-8653-A7E541DB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The search process had to cover both testing problems and LLM-based solutions.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26A40-FAAB-49A5-93AE-213CC8E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B7B14-1A19-4B5B-9862-E5AE7C94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43188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0F30B-6ED9-469C-AC19-D15A4B9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71BC7E5-240D-497F-A77D-F47D5A2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CB3CC51-035D-4CDB-BCBB-95F32CA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SEARCH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E990B-E92D-4527-ABC0-959B6422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38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search was built from databases, keyword families, and Boolean combinations.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7BFA4-F7C7-46C5-850C-3D94787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is the part to emphasize: the corpus was not chosen randomly; it followed an explicit search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3D453-AC98-4563-BAF4-1B8FDC4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6E6EB-CAF7-42CF-A146-F39BF4B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24789-B1E9-4AB5-BF50-28ABAF51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953C-F85C-488C-A1E5-AAC101B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76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IEEE Xplore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ACM Digital Library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Google Scholar as supplement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FC3F-1D4F-458F-A930-DC2D004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647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018B-AB5C-4239-8E29-617FFD17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AF90F-0DAA-4FF9-BC94-1298CAF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Keyword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0B1E5-8F55-43A8-9FDF-F6BD4AA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86150"/>
            <a:ext cx="2343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vulnerability detection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UI testing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large language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0542B-0D3F-4628-BBD7-115F1414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895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033E3-713A-417D-8BAB-588DE14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895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47C05-529C-4C34-A0A4-B487194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Boolean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72070-4DC4-4DEC-88A6-E6FD8CC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2590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(testing OR automation)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security testing AND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1BCE5-4CD4-4956-874B-CC0D6BF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DE356-A82E-4175-972A-8AE5257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E1464-0F79-43F5-924C-336D819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Scope restriction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8EC0D-446E-4884-966F-EAC6C7C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1504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peer-reviewed papers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journal, conference, workshop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English publications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 relevance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AD9DF-4A38-494A-84C6-3C5170A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FF4C4-4ADA-43FA-B938-D2B4F56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91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Speaking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059AB-410F-477D-BAC1-8F24088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 used broad search terms first, then refined the corpus using relevance, method detail, and evaluation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E54F4-692B-4543-A345-75C44F4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9DBA7-1842-4988-80C2-C8C6452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165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FDBF8-3DB0-4755-85A5-06BCF638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ED7295D-C6D2-4C58-8FAA-FFCDB41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7241F5C-F31C-4D9D-BB41-B71164D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SCREENING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8C59A-C8FC-48B3-B30B-7CDE9D2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Selection criteria made the review reproducible and defensible.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FE7AA-8258-489F-8947-D80EFFF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paper uses explicit inclusion and exclusion rules before synthesizing the final 25 studies.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378CF-BC49-4BAD-AAF7-38E3276A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79BB-41DF-4E72-BF27-4C2F91A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56EE9-1C27-4C9E-B6B0-0F89B92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Included when the study...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EDF32-8AFA-403C-BE45-E3F0B22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peer-reviewed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studies testing, defect analysis, FL, vulnerability detection, UI testing, or automation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proposes detection, analysis, localization, or repair method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describes LLM usage and evaluation when LLM-based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5. has enough method detail for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76A0A-34F4-47F4-8401-F09289F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65AFE-0D0E-4EC0-831A-CF110D4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6BADC-2CC0-4905-99C0-C3EF17F6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Excluded when the study...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2E7FE-8E05-4791-86D0-129102CE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non-peer-reviewed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is only indirectly related to testing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is purely conceptual without empirical validation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duplicates a more complete or recent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E03EC-83D6-43A3-BBB2-32314BDA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72150"/>
            <a:ext cx="868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Important nuance: Glasswing/Mythos is discussed later as grey literature, not counted as one of the 25 primary studies.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5E625-AC13-4CB3-B511-1395B3A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FB86D-E3C6-408C-97DE-BF42DBC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9589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866C10A-0B70-444C-8A34-3C14C832B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>
              <a:ext uri="{FF2B5EF4-FFF2-40B4-BE49-F238E27FC236}">
                <ns2:creationId id="{4017E4E1-56F3-4B23-9696-2B1852442704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ns2:creationId id="{36B0DA04-AA1F-453D-A2A7-BDBF597853F9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SNOWBALLING AND SELECTION RESULTS</a:t>
            </a:r>
          </a:p>
        </p:txBody>
      </p:sp>
      <p:sp>
        <p:nvSpPr>
          <p:cNvPr id="4" name="">
            <a:extLst>
              <a:ext uri="{FF2B5EF4-FFF2-40B4-BE49-F238E27FC236}">
                <ns2:creationId id="{4D76F024-AEC1-410C-BC1E-9A57A8B3C8F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Snowballing expanded the search beyond the initial seed papers.</a:t>
            </a:r>
          </a:p>
        </p:txBody>
      </p:sp>
      <p:sp>
        <p:nvSpPr>
          <p:cNvPr id="5" name="">
            <a:extLst>
              <a:ext uri="{FF2B5EF4-FFF2-40B4-BE49-F238E27FC236}">
                <ns2:creationId id="{BB9E57B1-648B-470F-AC5F-15921A16E49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Backward snowballing checks references; forward snowballing checks newer papers that cite the seed studies.</a:t>
            </a:r>
          </a:p>
        </p:txBody>
      </p:sp>
      <p:sp>
        <p:nvSpPr>
          <p:cNvPr id="6" name="">
            <a:extLst>
              <a:ext uri="{FF2B5EF4-FFF2-40B4-BE49-F238E27FC236}">
                <ns2:creationId id="{6518AF36-8097-4997-982C-63A3892FDA72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7117E4F3-8FE0-4668-A7BE-FCB67171B3D7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180975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6E626B34-73AF-4ADB-BDBD-A37F5AA1E080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Initial search</a:t>
            </a:r>
          </a:p>
        </p:txBody>
      </p:sp>
      <p:sp>
        <p:nvSpPr>
          <p:cNvPr id="9" name="">
            <a:extLst>
              <a:ext uri="{FF2B5EF4-FFF2-40B4-BE49-F238E27FC236}">
                <ns2:creationId id="{42C55EE9-B187-477D-8CFE-3D08B2971405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9 included</a:t>
            </a:r>
          </a:p>
        </p:txBody>
      </p:sp>
      <p:sp>
        <p:nvSpPr>
          <p:cNvPr id="10" name="">
            <a:extLst>
              <a:ext uri="{FF2B5EF4-FFF2-40B4-BE49-F238E27FC236}">
                <ns2:creationId id="{1ABF12A1-23EA-4A5B-980A-4B2A870057F4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candidate count missing in draft</a:t>
            </a:r>
          </a:p>
        </p:txBody>
      </p:sp>
      <p:sp>
        <p:nvSpPr>
          <p:cNvPr id="11" name="">
            <a:extLst>
              <a:ext uri="{FF2B5EF4-FFF2-40B4-BE49-F238E27FC236}">
                <ns2:creationId id="{AE4EAEAF-B965-4C4A-AC9D-4FFD33D71701}"/>
              </a:ext>
            </a:extLst>
          </p:cNvPr>
          <p:cNvSpPr>
            <a:spLocks noGrp="1"/>
          </p:cNvSpPr>
          <p:nvPr/>
        </p:nvSpPr>
        <p:spPr>
          <a:xfrm>
            <a:off x="2438400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>
              <a:ext uri="{FF2B5EF4-FFF2-40B4-BE49-F238E27FC236}">
                <ns2:creationId id="{404A2B8B-83DE-44BF-9271-72DFC080A22C}"/>
              </a:ext>
            </a:extLst>
          </p:cNvPr>
          <p:cNvSpPr>
            <a:spLocks noGrp="1"/>
          </p:cNvSpPr>
          <p:nvPr/>
        </p:nvSpPr>
        <p:spPr>
          <a:xfrm>
            <a:off x="2790825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60F1922F-13F0-4AA4-8890-B0BDFC275E8C}"/>
              </a:ext>
            </a:extLst>
          </p:cNvPr>
          <p:cNvSpPr>
            <a:spLocks noGrp="1"/>
          </p:cNvSpPr>
          <p:nvPr/>
        </p:nvSpPr>
        <p:spPr>
          <a:xfrm>
            <a:off x="2790825" y="3067050"/>
            <a:ext cx="180975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23337BC-9675-425A-ADA1-ADCCB2F716BF}"/>
              </a:ext>
            </a:extLst>
          </p:cNvPr>
          <p:cNvSpPr>
            <a:spLocks noGrp="1"/>
          </p:cNvSpPr>
          <p:nvPr/>
        </p:nvSpPr>
        <p:spPr>
          <a:xfrm>
            <a:off x="2943225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Backward snowballing</a:t>
            </a:r>
          </a:p>
        </p:txBody>
      </p:sp>
      <p:sp>
        <p:nvSpPr>
          <p:cNvPr id="15" name="">
            <a:extLst>
              <a:ext uri="{FF2B5EF4-FFF2-40B4-BE49-F238E27FC236}">
                <ns2:creationId id="{DC11238E-D486-4F2D-BA7D-7BAB19BEF147}"/>
              </a:ext>
            </a:extLst>
          </p:cNvPr>
          <p:cNvSpPr>
            <a:spLocks noGrp="1"/>
          </p:cNvSpPr>
          <p:nvPr/>
        </p:nvSpPr>
        <p:spPr>
          <a:xfrm>
            <a:off x="2943225" y="3720000"/>
            <a:ext cx="150495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5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145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18 candidates</a:t>
            </a:r>
          </a:p>
        </p:txBody>
      </p:sp>
      <p:sp>
        <p:nvSpPr>
          <p:cNvPr id="16" name="">
            <a:extLst>
              <a:ext uri="{FF2B5EF4-FFF2-40B4-BE49-F238E27FC236}">
                <ns2:creationId id="{87B3CE32-F177-4786-8A15-A7F8AE32DADB}"/>
              </a:ext>
            </a:extLst>
          </p:cNvPr>
          <p:cNvSpPr>
            <a:spLocks noGrp="1"/>
          </p:cNvSpPr>
          <p:nvPr/>
        </p:nvSpPr>
        <p:spPr>
          <a:xfrm>
            <a:off x="2943225" y="4280000"/>
            <a:ext cx="1504950" cy="2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8 included</a:t>
            </a:r>
          </a:p>
        </p:txBody>
      </p:sp>
      <p:sp>
        <p:nvSpPr>
          <p:cNvPr id="17" name="">
            <a:extLst>
              <a:ext uri="{FF2B5EF4-FFF2-40B4-BE49-F238E27FC236}">
                <ns2:creationId id="{F4AD92AF-E38C-4FAB-9CE2-A25FC963EB07}"/>
              </a:ext>
            </a:extLst>
          </p:cNvPr>
          <p:cNvSpPr>
            <a:spLocks noGrp="1"/>
          </p:cNvSpPr>
          <p:nvPr/>
        </p:nvSpPr>
        <p:spPr>
          <a:xfrm>
            <a:off x="4676775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>
              <a:ext uri="{FF2B5EF4-FFF2-40B4-BE49-F238E27FC236}">
                <ns2:creationId id="{080C2B02-CD0E-4A09-A833-4FBDA6434AC1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591202E0-FF3F-48E9-A429-D78FC4610B95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180975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8F8BD338-C6A7-4FCB-812F-3E741D803518}"/>
              </a:ext>
            </a:extLst>
          </p:cNvPr>
          <p:cNvSpPr>
            <a:spLocks noGrp="1"/>
          </p:cNvSpPr>
          <p:nvPr/>
        </p:nvSpPr>
        <p:spPr>
          <a:xfrm>
            <a:off x="518160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Forward snowballing</a:t>
            </a:r>
          </a:p>
        </p:txBody>
      </p:sp>
      <p:sp>
        <p:nvSpPr>
          <p:cNvPr id="21" name="">
            <a:extLst>
              <a:ext uri="{FF2B5EF4-FFF2-40B4-BE49-F238E27FC236}">
                <ns2:creationId id="{CC055FB9-2664-485D-B0B9-1136395955FD}"/>
              </a:ext>
            </a:extLst>
          </p:cNvPr>
          <p:cNvSpPr>
            <a:spLocks noGrp="1"/>
          </p:cNvSpPr>
          <p:nvPr/>
        </p:nvSpPr>
        <p:spPr>
          <a:xfrm>
            <a:off x="5181600" y="3720000"/>
            <a:ext cx="150495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50" b="1">
                <a:solidFill>
                  <a:srgbClr val="C07A2D"/>
                </a:solidFill>
                <a:latin typeface="Aptos"/>
                <a:ea typeface="Aptos"/>
                <a:cs typeface="Aptos"/>
              </a:defRPr>
            </a:pPr>
            <a:r>
              <a:rPr sz="1450" b="1">
                <a:solidFill>
                  <a:srgbClr val="C07A2D"/>
                </a:solidFill>
                <a:latin typeface="Aptos"/>
                <a:ea typeface="Aptos"/>
                <a:cs typeface="Aptos"/>
              </a:rPr>
              <a:t>7 candidates</a:t>
            </a:r>
          </a:p>
        </p:txBody>
      </p:sp>
      <p:sp>
        <p:nvSpPr>
          <p:cNvPr id="22" name="">
            <a:extLst>
              <a:ext uri="{FF2B5EF4-FFF2-40B4-BE49-F238E27FC236}">
                <ns2:creationId id="{DD276BBE-026E-4505-9E49-9787FAA77F69}"/>
              </a:ext>
            </a:extLst>
          </p:cNvPr>
          <p:cNvSpPr>
            <a:spLocks noGrp="1"/>
          </p:cNvSpPr>
          <p:nvPr/>
        </p:nvSpPr>
        <p:spPr>
          <a:xfrm>
            <a:off x="5181600" y="4280000"/>
            <a:ext cx="1504950" cy="2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3 included</a:t>
            </a:r>
          </a:p>
        </p:txBody>
      </p:sp>
      <p:sp>
        <p:nvSpPr>
          <p:cNvPr id="23" name="">
            <a:extLst>
              <a:ext uri="{FF2B5EF4-FFF2-40B4-BE49-F238E27FC236}">
                <ns2:creationId id="{9420A710-256A-44D2-AA56-70E9434556B9}"/>
              </a:ext>
            </a:extLst>
          </p:cNvPr>
          <p:cNvSpPr>
            <a:spLocks noGrp="1"/>
          </p:cNvSpPr>
          <p:nvPr/>
        </p:nvSpPr>
        <p:spPr>
          <a:xfrm>
            <a:off x="6915150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">
            <a:extLst>
              <a:ext uri="{FF2B5EF4-FFF2-40B4-BE49-F238E27FC236}">
                <ns2:creationId id="{03031AE7-6C93-4E3D-8E58-DBBBBCC53295}"/>
              </a:ext>
            </a:extLst>
          </p:cNvPr>
          <p:cNvSpPr>
            <a:spLocks noGrp="1"/>
          </p:cNvSpPr>
          <p:nvPr/>
        </p:nvSpPr>
        <p:spPr>
          <a:xfrm>
            <a:off x="7267575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AECEF4F4-534D-460D-AF2E-D6770F5AF271}"/>
              </a:ext>
            </a:extLst>
          </p:cNvPr>
          <p:cNvSpPr>
            <a:spLocks noGrp="1"/>
          </p:cNvSpPr>
          <p:nvPr/>
        </p:nvSpPr>
        <p:spPr>
          <a:xfrm>
            <a:off x="7267575" y="3067050"/>
            <a:ext cx="180975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38F09268-30F1-4E7A-A142-F93C63C7AFE6}"/>
              </a:ext>
            </a:extLst>
          </p:cNvPr>
          <p:cNvSpPr>
            <a:spLocks noGrp="1"/>
          </p:cNvSpPr>
          <p:nvPr/>
        </p:nvSpPr>
        <p:spPr>
          <a:xfrm>
            <a:off x="7419975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Extended venue search</a:t>
            </a:r>
          </a:p>
        </p:txBody>
      </p:sp>
      <p:sp>
        <p:nvSpPr>
          <p:cNvPr id="27" name="">
            <a:extLst>
              <a:ext uri="{FF2B5EF4-FFF2-40B4-BE49-F238E27FC236}">
                <ns2:creationId id="{3F5B1963-8919-4305-B768-008FCB5F9A4A}"/>
              </a:ext>
            </a:extLst>
          </p:cNvPr>
          <p:cNvSpPr>
            <a:spLocks noGrp="1"/>
          </p:cNvSpPr>
          <p:nvPr/>
        </p:nvSpPr>
        <p:spPr>
          <a:xfrm>
            <a:off x="7419975" y="3720000"/>
            <a:ext cx="150495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50" b="1">
                <a:solidFill>
                  <a:srgbClr val="6C5B7B"/>
                </a:solidFill>
                <a:latin typeface="Aptos"/>
                <a:ea typeface="Aptos"/>
                <a:cs typeface="Aptos"/>
              </a:defRPr>
            </a:pPr>
            <a:r>
              <a:rPr sz="1450" b="1">
                <a:solidFill>
                  <a:srgbClr val="6C5B7B"/>
                </a:solidFill>
                <a:latin typeface="Aptos"/>
                <a:ea typeface="Aptos"/>
                <a:cs typeface="Aptos"/>
              </a:rPr>
              <a:t>5 candidates</a:t>
            </a:r>
          </a:p>
        </p:txBody>
      </p:sp>
      <p:sp>
        <p:nvSpPr>
          <p:cNvPr id="28" name="">
            <a:extLst>
              <a:ext uri="{FF2B5EF4-FFF2-40B4-BE49-F238E27FC236}">
                <ns2:creationId id="{9E568903-82B8-462D-BF4B-05BD60BBFD30}"/>
              </a:ext>
            </a:extLst>
          </p:cNvPr>
          <p:cNvSpPr>
            <a:spLocks noGrp="1"/>
          </p:cNvSpPr>
          <p:nvPr/>
        </p:nvSpPr>
        <p:spPr>
          <a:xfrm>
            <a:off x="7419975" y="4280000"/>
            <a:ext cx="1504950" cy="2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 included</a:t>
            </a:r>
          </a:p>
        </p:txBody>
      </p:sp>
      <p:sp>
        <p:nvSpPr>
          <p:cNvPr id="29" name="">
            <a:extLst>
              <a:ext uri="{FF2B5EF4-FFF2-40B4-BE49-F238E27FC236}">
                <ns2:creationId id="{16D3E8CD-ECCE-49FA-9C60-3A1C26B515A2}"/>
              </a:ext>
            </a:extLst>
          </p:cNvPr>
          <p:cNvSpPr>
            <a:spLocks noGrp="1"/>
          </p:cNvSpPr>
          <p:nvPr/>
        </p:nvSpPr>
        <p:spPr>
          <a:xfrm>
            <a:off x="9153525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>
              <a:ext uri="{FF2B5EF4-FFF2-40B4-BE49-F238E27FC236}">
                <ns2:creationId id="{2790B170-10D9-4A22-9032-85FAE2DF878A}"/>
              </a:ext>
            </a:extLst>
          </p:cNvPr>
          <p:cNvSpPr>
            <a:spLocks noGrp="1"/>
          </p:cNvSpPr>
          <p:nvPr/>
        </p:nvSpPr>
        <p:spPr>
          <a:xfrm>
            <a:off x="950595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9AD9080F-2D4C-4801-A0CA-445D8FF0DF5F}"/>
              </a:ext>
            </a:extLst>
          </p:cNvPr>
          <p:cNvSpPr>
            <a:spLocks noGrp="1"/>
          </p:cNvSpPr>
          <p:nvPr/>
        </p:nvSpPr>
        <p:spPr>
          <a:xfrm>
            <a:off x="9505950" y="3067050"/>
            <a:ext cx="1809750" cy="571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78ED0F90-9997-4D41-A697-6E1010AF3AC9}"/>
              </a:ext>
            </a:extLst>
          </p:cNvPr>
          <p:cNvSpPr>
            <a:spLocks noGrp="1"/>
          </p:cNvSpPr>
          <p:nvPr/>
        </p:nvSpPr>
        <p:spPr>
          <a:xfrm>
            <a:off x="965835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Final corpus</a:t>
            </a:r>
          </a:p>
        </p:txBody>
      </p:sp>
      <p:sp>
        <p:nvSpPr>
          <p:cNvPr id="33" name="">
            <a:extLst>
              <a:ext uri="{FF2B5EF4-FFF2-40B4-BE49-F238E27FC236}">
                <ns2:creationId id="{C4F0364F-C2B0-4A8D-895D-C31D1AF6D76F}"/>
              </a:ext>
            </a:extLst>
          </p:cNvPr>
          <p:cNvSpPr>
            <a:spLocks noGrp="1"/>
          </p:cNvSpPr>
          <p:nvPr/>
        </p:nvSpPr>
        <p:spPr>
          <a:xfrm>
            <a:off x="9658350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25 studies</a:t>
            </a:r>
          </a:p>
        </p:txBody>
      </p:sp>
      <p:sp>
        <p:nvSpPr>
          <p:cNvPr id="34" name="">
            <a:extLst>
              <a:ext uri="{FF2B5EF4-FFF2-40B4-BE49-F238E27FC236}">
                <ns2:creationId id="{BBF5E2F2-B2CE-4C00-A76E-7B557BD924E4}"/>
              </a:ext>
            </a:extLst>
          </p:cNvPr>
          <p:cNvSpPr>
            <a:spLocks noGrp="1"/>
          </p:cNvSpPr>
          <p:nvPr/>
        </p:nvSpPr>
        <p:spPr>
          <a:xfrm>
            <a:off x="9658350" y="4114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used for RQ synthesis</a:t>
            </a:r>
          </a:p>
        </p:txBody>
      </p:sp>
      <p:sp>
        <p:nvSpPr>
          <p:cNvPr id="35" name="">
            <a:extLst>
              <a:ext uri="{FF2B5EF4-FFF2-40B4-BE49-F238E27FC236}">
                <ns2:creationId id="{5275B5A3-240D-43D4-A6DB-80DB28FDC9F1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9715500" cy="57150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C893A8D1-23F8-47F1-ACBC-CF91DEB2DB5B}"/>
              </a:ext>
            </a:extLst>
          </p:cNvPr>
          <p:cNvSpPr>
            <a:spLocks noGrp="1"/>
          </p:cNvSpPr>
          <p:nvPr/>
        </p:nvSpPr>
        <p:spPr>
          <a:xfrm>
            <a:off x="1466850" y="53149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Methodology improvement to mention</a:t>
            </a:r>
          </a:p>
        </p:txBody>
      </p:sp>
      <p:sp>
        <p:nvSpPr>
          <p:cNvPr id="37" name="">
            <a:extLst>
              <a:ext uri="{FF2B5EF4-FFF2-40B4-BE49-F238E27FC236}">
                <ns2:creationId id="{E5277C38-2172-488F-A1E4-5723C1C5F890}"/>
              </a:ext>
            </a:extLst>
          </p:cNvPr>
          <p:cNvSpPr>
            <a:spLocks noGrp="1"/>
          </p:cNvSpPr>
          <p:nvPr/>
        </p:nvSpPr>
        <p:spPr>
          <a:xfrm>
            <a:off x="4038600" y="527685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 the final written version, I should report the initial candidate count to improve reproducibility.</a:t>
            </a:r>
          </a:p>
        </p:txBody>
      </p:sp>
      <p:sp>
        <p:nvSpPr>
          <p:cNvPr id="38" name="">
            <a:extLst>
              <a:ext uri="{FF2B5EF4-FFF2-40B4-BE49-F238E27FC236}">
                <ns2:creationId id="{E38F583D-F904-4AB7-9505-265E7BFB716E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9" name="">
            <a:extLst>
              <a:ext uri="{FF2B5EF4-FFF2-40B4-BE49-F238E27FC236}">
                <ns2:creationId id="{94DF814D-664E-43C9-B1F1-F4CE503E61CF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ns3:creationId val="1731536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D3513-360B-42D5-A577-2864F77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6830388-8C3A-468D-9137-BAE34EA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EAF99F5C-89BE-43A5-B519-89AAC88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 EXTRACTION AND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3B46B-5492-410F-9F3C-7C3999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five research questions guided what was extracted from each study.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A44CC-D4F9-4EF9-AF81-E4B67A3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turns the paper list into a structured comparison, instead of a paper-by-paper summary.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651B2-167C-4E76-B84A-994E10A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BD2CC-67D1-47EF-89DA-E194EF5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CF382-380B-4195-81AC-25DED59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E9644-AC04-4368-8B15-8964491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76AE7-B1F9-4E28-B093-29001C5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root causes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system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42DB7-07E0-4FAA-9500-D5C4F3E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7A249-F4FB-422A-B699-F1ECE341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RQ2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061CE-535F-4873-87F2-47EE692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Approaches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539AA-450B-4245-A7A9-CFAB284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1E0CE-9CFD-4ABD-8312-637E3AC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detection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localization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32380-42FA-4FE6-BEC4-E2E81D8F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0F732-57F8-4917-9B2A-FBC538B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RQ3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C39E8-E2B9-4DC1-8A20-2B3070D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CDD41-FAA8-4DA3-8BEF-F21EDC8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6B797-013E-4B72-A803-5E1FE258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few-shot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prompting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E41EF-5DCD-4723-B824-93AD67BE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5A64C-FBD0-46C3-AA8D-2700E16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RQ4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79A9B-1463-4634-8919-A9BBFAF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B22F9-AAA4-4D6F-8799-A33DBCD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3E88D-DC44-49C2-AFF1-58E4FFD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datasets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metrics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CE691-FEE5-44F9-9F0F-E8A9C9E9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EF3DD-B4AE-4EB3-9F7D-2AE1FE6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RQ5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A3703-C1A7-41D1-B75F-C649276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1A6D9-1CB6-40BB-ACCC-74405636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64F71-0A16-42A0-A13B-F067B83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IoT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microservices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repos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8FD8B-0135-4B3B-A105-3310CEE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This is the bridge from search method to findings: every paper is coded against the same questions.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358D9-0FFB-4451-A3CA-7BBAC9A1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68178-13C9-4333-8E40-EC80088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780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E39F9-6F38-4D8A-95EE-216C2EDB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F411B9D-B51F-4E7E-8E66-02FC328A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00065B3-C096-4FEB-970A-0E51050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RQ1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084C6-5AFA-4A7B-AB5B-9A842D6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Testing challenges are ecosystem-specific rather than universal.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D06A8-1CCF-4DDA-89D7-379FA9D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same testing term can hide different root causes across JavaScript, UI, microservice, and IoT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0BA3-1A07-49C3-85EF-3212240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3282E-8ABB-4EAF-A74C-860CBFC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BB762-3E3A-4DCB-B442-5CDFC3F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78635-3E5D-4282-801C-EE6629E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BD7E7-0624-45FE-94B1-1DF1E1F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order-dependent JS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888FA-CC2A-4BE6-AEFC-76B20DEE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42 caused by shared mocking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7235-F38D-4591-ACB2-7A485695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ED756-FD80-4434-8210-122A85D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B2D2A-6ACC-4655-82EE-DFBAEEE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82E43-F07A-4CF2-B47B-B0ECEFE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1,065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8F117-5EA5-4A79-B63C-7A7288A0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breakages across 8 web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57397-053E-4656-A523-17C9FFBE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 locators and timing dominate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8F2-98CF-4B8A-ACAF-6DC4138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9EFDA-AC84-4064-A919-A0E4286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BAE6E-9AE3-4F4C-AE5A-E29AD23D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IoT platforms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2EBD6-9F08-4BF5-BE47-FEA882A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65%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45C8A-A8BB-4D79-94D0-0883BD8A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HomeAssistant add-ons below 0.5 test ratio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4CCD0-62E5-43E1-8152-25B57DA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device and firmware 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7D20F-21BC-40B2-B848-92FAD69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49978-CEA8-4620-9707-CA8CE43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F69B6-3428-433C-831A-CB58F35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71505-5135-4095-9874-5737006A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2-sided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5D181-EF28-4C00-81B1-DDA71B56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technical and organizational causes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D8417-1E23-49DC-91AC-A24C926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contracts, messages, ownership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E2CDF-A92F-45DB-B592-EA9C656D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Implication: fault localization needs repository context, not only code snippets.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109118-AB9F-484B-80B1-C084940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791DC-B19B-4B58-9DC9-C134457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77566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20C2E-8FB5-47E0-810B-F6513545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E8AC907-6617-4B4C-812C-02691D6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7CDA976-EAD3-407B-B09F-C05CE81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RQ2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ABDE7-5DFF-49E7-A52E-50538A45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Detection approaches move from coverage ranking toward code and context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2B925-6987-4175-A190-3035E1A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Traditional methods are interpretable but test-dependent; LLM methods reduce that dependency but need stronger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6AA1B-F803-4A63-B55F-F9A3377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8081B-2084-4922-9DCC-04DD395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0D13A-0EB3-4FDA-9C72-179C314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Tarantula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5417-9162-424F-B482-5CDD75AA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pass/fail coverage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visual suspiciousness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D2334-70E2-4AFE-A7D4-CB20777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3F5A-C090-4950-A6C1-75C1A7EF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C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8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02273-5C22-4EF4-9DD2-C8EFADD5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8A1C7-6C27-480D-A1A8-A97E81BA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Ochiai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6323F-8B81-4262-819F-0105B3B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&gt;80% code exonerated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on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8185B-A583-4A7F-A106-4E04A52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AA881-3204-42C7-9211-6CA02E9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5326F-A467-482F-A414-58FED17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8FD14-C279-4885-A998-A826B5A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Compiler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DF7AE-C172-4832-A15C-5B5941A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TOP50 +67.4%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for DStar2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CCC92-7F59-4626-B4BC-9C3441C6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C47D0-57DF-468A-AC35-3230C17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0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7A2D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998E1-F23B-41A9-B33C-453B2C5E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BD6EA-77B2-4867-8FED-5D1EAE3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FL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13AC1-B32C-4E31-8E04-3A370AD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UniXcoder Top-1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50.6%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8489E-37E9-4C4C-81AB-275AFD7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7DF41-6DFC-42B9-AD2A-5601079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5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5B7B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68CE8-D4E8-419E-8DF9-E278D63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6F3B4-87C9-4C23-AB13-D1BB4627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Test-free FL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75402-32C2-4AC3-9B08-D465714F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source-only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suspiciousness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0B124-68AF-42C3-8853-BACCDBD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DDFB0-FD2C-4ACB-A061-0E8E8C5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44A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4A3F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FF8EDC-D2CF-40F4-A127-B061D00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Methodological takeaway: less execution evidence means context design becomes more important.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F8391-E34F-47A1-88B8-996FA68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81DA7-006E-4F7E-BCA3-07D1C2C2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39395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5B3F5-4643-4200-AD9F-F43B64DD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726CFF1F-9195-4232-83A3-96248D2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08247C8C-B959-4C9A-A36F-71B2C57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RQ3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D4B45-1B6C-494E-932C-502B527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LLM design choices trade data cost against workflow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3E593-5C19-4391-A04E-066C2CB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corpus uses fine-tuning, few-shot learning, prompt engineering, and agents; each has a different practical burden.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68FBF-FF89-4484-9899-5373FB5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77875-2E27-439F-A982-46069AE9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90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C160-5715-4F88-A7C7-E6D71A69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data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3F87D-619C-4BF4-B45E-43F0B78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0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data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A91D4-937B-4EB0-A979-1813B04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workflow</a:t>
            </a:r>
          </a:p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D4A57-D804-4813-881B-D8EBCC20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workflow</a:t>
            </a:r>
          </a:p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38967-7E9A-40AE-B703-14C4D53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85104-AE69-4D71-B007-386098D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EFCE7-8D2E-4BC1-87C4-82237B1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6120-C344-4439-AE2E-5615CD5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48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plan, run, observe, revise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needs tool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1AE7A-8258-4291-A785-A84C6B2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2F877-7F16-446C-A2A3-3C2C169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1FB61-3D75-4D8A-B1E8-F162F14D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A201D-AF7F-4219-85F3-F339D81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48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best when task data exists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benchmark-heavy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6F5BA-7CB2-4DD6-B941-728CF68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91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3ADC1-54EE-4DFB-8D3D-A161665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91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C2A02-1CDE-4C7B-AC0E-2C7F90D8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Prompt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39A80-3408-4AE1-B6C7-F5F4A11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91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fast adaptation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sensitive to prompt/context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26683-9120-48EB-8549-75EC517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C69F2-207F-435C-A7D7-3BDAC2DE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4C639-AC1C-4557-AD0D-9D0BE55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Few-shot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E8067-9DC9-4C61-9C2D-F36CA72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useful when labels are scarce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competitive at lower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47CA3-C92B-4787-9111-0E8EB57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 thesis work, model choice is less important than controlling context, repository state, and validation mode.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1427B-CA3D-420A-A888-298E8A0D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087AE-8058-47C4-8CB8-19F0042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8308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BDFF0-5F40-4C53-9B94-8169303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C37507C-81A1-4515-89C6-0801DFF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9AACDD1-082C-4BC3-8530-09E1C25D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RQ4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D216-25F3-4EE0-B652-51C2E72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Evaluation remains concentrated in benchmarks and isolated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33215-4F46-448B-A925-DD5CEBC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Benchmarks are useful for comparison, but they do not fully capture real repository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17D8D-BB64-48F8-B5BC-04129F0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B7A88-63BE-4D5C-9CB4-4D5F08B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95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Defects4J, Space, Siemens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A7898-67DA-47E6-BCDB-911D090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20B27-FD08-468F-B911-34EF3B5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2576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37F42-11F7-4EB7-92FA-47017BD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Top-k, diagnostic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F5134-491C-406B-9967-E99CE1E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4AA49-017D-4567-85D6-6FFFC18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IDoFT, FlakyCat, GitHub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1E929-7FE2-465B-A211-FE6CBDE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4DBA-EC9C-4B3F-829F-E3BF4AB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208559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32EEB-0FF5-4645-83B8-B4547FA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F1, repair quality, detected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B7967-9479-421C-B09E-432B5B0D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Vulnerability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9FC98-A5A1-44FB-805A-09D554F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9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OWASP, Juliet, CVEFixes, PrimeVul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A533D-4696-4A7E-AABE-B331FBC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16049-2219-4708-8DDB-4FC3E00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220827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3864B-2B05-4EF8-B137-66EE5B27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Accuracy, F1, class-wise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C1F8F-4EA2-4F16-816E-912073D0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test repair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0B7BC-C353-41CF-9C9F-4A2489E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38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139 broken Selenium statements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3464C-7D8F-4A5B-8F7B-32CEC538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5FBE3-5588-415A-A3E9-9FEA29F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165620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8DF4C-E27E-4799-B2FE-833B8E5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38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matching accuracy, repair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D182E-CFEF-45CE-9FF8-641DB37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57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B283B-441E-4738-BCC9-44A2063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91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evidence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3BF29-F6BD-4645-9647-D96A524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57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real bug reports + source context + repo history + verified fixing commits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15224-F78B-46FA-B5DA-85BAE48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06555-5F14-4381-BF02-D6D488A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44170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7036A-FC05-44BF-B9DE-87408D5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929EC72-8C53-477C-8F9E-D988E53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2FCBC28-7C0D-46D0-9F45-C33A84B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RQ5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77C96-D195-42FE-A586-0476DE0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38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Practical deployment depends on repository workflow, not just model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6337-232D-456F-8415-A78E616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 real projects, the method must collect context, run or understand tests, and validate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B2D00-BEA1-4076-9EEE-E34CD8D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05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2D53-3C90-4524-BA89-F97953BB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05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01EB3-C6B6-4040-814B-5BBF93DF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33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Bug report / failure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67C56-F567-4D5E-836E-D6B796A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337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natural language, logs, failing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4A629-2B13-400B-A7CA-ED570B3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741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F7965-E761-46C8-890D-2105FDB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741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D0C07-0379-4D90-B6A3-C0A9A45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Repository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D89B-A204-4525-84F2-69660FF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correct commit, dependencies, local 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8836E-3DFD-45B8-86A5-0EFBCC8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2EE3D-E5D1-4F13-BB31-3333D8D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0EF43-EFB2-49D4-88E2-CEC8F8C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38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Build and test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0C56E-D65E-4000-8B37-FD578965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install, compile, run, observe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8D6BB-6AC5-4BB5-B903-59D05462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611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CCCDE-6870-4871-85FE-5E0187B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6115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7D782-60BF-40E3-85F5-0B30734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F4B0F-ED44-48BA-9B1D-A78527B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files, stack traces, issue history, prior fixes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5A119-A42D-4D3F-8E13-F899110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48250"/>
            <a:ext cx="546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98C14-FF0E-41B0-942E-88550F4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48250"/>
            <a:ext cx="546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F9CE8-48E2-46A9-8AFC-22AD0F2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435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Localization and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30036-61B1-4D3B-BA3C-A9A5F56E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35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suspicious files/methods, verify by fix 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33AFB-B1F0-478D-889B-BC3B6E0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573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D0B42-9EA6-4CD1-81D2-2861D63E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shift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798C7-17DC-4F1D-B619-A51254F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from code-only prediction to repository-level workflow 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AD31A-5E33-4C3C-97E4-8698B33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14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This makes the thesis contribution testable.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9D96B-430A-447B-AC6F-E107682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23E90-D3D0-4F08-B56B-CB77521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98050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C97C9-14AB-4EE1-9C9A-A6C4EE67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52C914E-A624-41E5-88C2-A41690C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6F575F39-2650-444F-B0E3-518608C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PRACTICAL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42C1B-B0B1-463A-A17B-16A0912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Glasswing suggests an agent-plus-verifier pattern, but not yet for ordinary bugs.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F5FFA-D7DA-40E2-9C04-4DBDADD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I treat Glasswing/Mythos as grey literature: useful for practical framing, but not counted as a peer-reviewed primary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E967E-FA10-4833-9DE6-F7AC529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2DBE8-A522-46D2-80AE-8983657C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1598-6266-43D7-8685-B91D5B3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source code + runtime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EDEB7-69C6-4E3F-97AB-F7FDB7D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E6BE2-6322-4D09-9D04-9D5E47C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86F30-E130-40F2-A5D4-2746A44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81AB8-0FD9-4FB3-8718-6115DD7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481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read, hypothesize, run,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7926-CFE7-49AE-B5D4-B5619137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7477A-8C3E-4701-A450-82612F9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D0F3B-4EBE-471E-96CF-2629733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0D66-DBAD-4157-8962-F12083FB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check impact and reproducibility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64D9D-AF3D-41B4-A0BC-8F816E4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EAA8F-F537-437B-ACF2-BA260F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76600"/>
            <a:ext cx="1123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F25"/>
          </a:solidFill>
          <a:ln xmlns:a="http://schemas.openxmlformats.org/drawingml/2006/main" w="9525">
            <a:solidFill>
              <a:srgbClr val="C07A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00F11-5711-4E96-B636-5006C585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43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6F737-C122-4DFD-96F9-F49EA847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48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BD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BD8B8"/>
                </a:solidFill>
                <a:latin typeface="Aptos"/>
                <a:ea typeface="Aptos"/>
                <a:cs typeface="Aptos"/>
              </a:rPr>
              <a:t>PoC +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DCA94-E37A-4E55-9F7B-297688D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592BC-730B-4A4A-AA8D-F53E9BF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translation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5D49C-D98B-49FA-ABBB-A20FBD97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Apply the pattern to application-level fault localization: business logic errors, state bugs, API misuse, and data processing failures.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0E3EE-033A-4405-9BEC-684D83E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Industry reference: Anthropic Glasswing/Mythos, discussed as grey literature in the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2DF21-AB55-40DD-AD3E-5C81972E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9044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1FD14-AA8B-42EB-AB6B-25A8B99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09D29398-DE9D-464E-B9CC-A64AE9E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A88EE2C-8806-4AAC-A579-3CE4664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3BD17-1E4E-4A21-B880-FF4DF34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Three gaps converge on real-repository LLM fault localization.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0830-A719-4D2F-A5DA-28D8C578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search method matters because these gaps are synthesized across different literature streams.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E8714-FC01-4E7E-8931-A105C45F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76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6C94-100E-4856-BEB0-CA026D0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17BC8-BFAA-4CE4-A1E5-748A558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C7861-C4C7-4180-BC91-D94ABF2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 for 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7406C-344A-4591-9424-D37B629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85B1C-944F-479E-9F20-F524E3C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D479A-CB22-4123-8E99-8636ACF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E0F51-0106-4D83-B709-843AA6E2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242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LLM-based fault localization lacks real repository-level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11E6F-8DC9-4206-A7CF-7D1F4E4F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Build evidence beyond Defects4J-style benchmark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DC7EA-E130-4972-A488-A2A4D73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26A2D-0F93-45FF-95D5-1465F9C8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385D0-CD25-4E39-91BF-49E3DC8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681F6-F79C-4DAF-B44A-4F39B5D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Agentic scaffolds have not been sufficiently applied to ordinary application-level bugs.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3045B-8972-40D7-823C-D5887FC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Test whether agent workflows transfer beyond security vulnerabilities.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2A860-5E6C-4EE3-9C43-6C49E7C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0142D-E5A0-40CB-82FA-118AC614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0282D-A5D7-4D14-8D85-A91A225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8C3EF-2C8B-4645-B10E-1F3CEE8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863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Effects of context level and independent verification remain unclear.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465A-FDBD-4080-9757-3745D54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863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Compare prompts and verification modes under controlled conditions.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D5A4D-9CCC-48E6-BC3D-62C9306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60B44-7914-493E-AF6F-FEE88CB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70425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EE1DB-9661-41C4-B15C-BC978F3A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36D6161A-2C12-4A4C-85FB-484175CB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202E68AA-1B59-46F5-9E58-8D096D6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6FAA-97DD-4A81-AF47-085DF38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A focused thesis can test context and verification in real repositories.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8110F-0834-4E57-834C-ECABD16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search leads to a concrete experiment, not only a general research interest.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8A4B7-C544-4EA6-A2C5-99CC44C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1E168-F411-42B8-9210-24398E2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A87A3-2AF1-4676-833D-3939F1A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E8FED-C849-4812-9072-33EC6E5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bug reports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buggy snapshots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fixing commits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D3DFD-355D-4C9E-AC12-ACB58D8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1A05D-B68A-4B7A-8E41-C84BB94D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F4464-54F3-4606-A927-F64C2E0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5C426-1132-48CE-BE17-51D875C7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B1855-A037-4298-B0B8-1D2FF0C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report only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stack/logs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code snippets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2B2DC-0DBB-43B4-91C3-F85CEB4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9B049-3298-4EE0-AA03-6715216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AE802-A757-410E-A09E-F1BD38C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81097-1E6C-4FAF-AED4-BDDD6CD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/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0938E-BEAC-400F-91D1-FC1F109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files or methods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explain evidence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optionally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598CE-16D7-4E47-AAA2-335FC59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330AD-245E-46C6-8F7D-4582563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1F9B8-975F-4CBF-88F1-AABB19E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97D25-FB45-4A52-8973-56C2784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C3475-4D42-4C70-9378-E340332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 hit rate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MRR / recall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ablation by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888BA-F73F-4DAC-A252-299548F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2053B-7C66-4B0F-8E7D-43B50E1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86B6A-51B8-48C9-9FB0-71FC42BD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FD10F-D533-497C-97F0-385BD28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1968D-5BD6-4F89-B754-42A4530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which context works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when verification helps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A88E8-3E46-4DC2-A0DB-5FAE9E9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68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C4FC1A-E848-4C9A-8169-8EB130C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61590B-5F67-4CBD-A92D-969DE8C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The literature supports the thesis problem: LLM testing needs repository-grounded evaluation, not only stronger prompts.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540A4-18C9-4399-827F-247C1B3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57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1D971E-7537-48B1-B0BD-6822C78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A3C05-FE37-4745-A89A-DF27624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2559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2026-05-29T21:23:50.8240000Z</dcterms:created>
  <dcterms:modified xsi:type="dcterms:W3CDTF">2026-05-29T21:23:50.8240000Z</dcterms:modified>
</coreProperties>
</file>